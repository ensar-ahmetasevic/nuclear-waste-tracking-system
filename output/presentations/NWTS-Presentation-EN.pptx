
<file path=[Content_Types].xml><?xml version="1.0" encoding="utf-8"?>
<Types xmlns="http://schemas.openxmlformats.org/package/2006/content-types">
  <Default Extension="xml" ContentType="application/vnd.openxmlformats-package.core-properties+xml"/>
  <Default Extension="png" ContentType="image/png"/>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b30ab37c60d14b17" /><Relationship Type="http://schemas.openxmlformats.org/officeDocument/2006/relationships/extended-properties" Target="/docProps/app.xml" Id="Rd9377bcaa5404a85" /><Relationship Type="http://schemas.openxmlformats.org/officeDocument/2006/relationships/officeDocument" Target="/ppt/presentation.xml" Id="Rdefc20d5153a432c" /></Relationships>
</file>

<file path=ppt/presentation.xml><?xml version="1.0" encoding="utf-8"?>
<p:presentation xmlns:p="http://schemas.openxmlformats.org/presentationml/2006/main">
  <p:sldMasterIdLst>
    <p:sldMasterId xmlns:r="http://schemas.openxmlformats.org/officeDocument/2006/relationships" id="2147483648" r:id="R352416c7b1c741bc"/>
  </p:sldMasterIdLst>
  <p:notesMasterIdLst>
    <p:notesMasterId xmlns:r="http://schemas.openxmlformats.org/officeDocument/2006/relationships" r:id="Rc3a00e29253f467c"/>
  </p:notesMasterIdLst>
  <p:sldIdLst>
    <p:sldId xmlns:r="http://schemas.openxmlformats.org/officeDocument/2006/relationships" id="256" r:id="R99cad162a55b4319"/>
    <p:sldId xmlns:r="http://schemas.openxmlformats.org/officeDocument/2006/relationships" id="257" r:id="R8b1fd520accd4c40"/>
    <p:sldId xmlns:r="http://schemas.openxmlformats.org/officeDocument/2006/relationships" id="258" r:id="Re9da3e5c13ab43f7"/>
    <p:sldId xmlns:r="http://schemas.openxmlformats.org/officeDocument/2006/relationships" id="259" r:id="R6a740409ad1c4b0c"/>
    <p:sldId xmlns:r="http://schemas.openxmlformats.org/officeDocument/2006/relationships" id="260" r:id="Ra74bf2f06c474b93"/>
    <p:sldId xmlns:r="http://schemas.openxmlformats.org/officeDocument/2006/relationships" id="261" r:id="R1980a6378f064c51"/>
    <p:sldId xmlns:r="http://schemas.openxmlformats.org/officeDocument/2006/relationships" id="262" r:id="R21d2f0464c1845d3"/>
    <p:sldId xmlns:r="http://schemas.openxmlformats.org/officeDocument/2006/relationships" id="263" r:id="R990f2aa45f4948a6"/>
    <p:sldId xmlns:r="http://schemas.openxmlformats.org/officeDocument/2006/relationships" id="264" r:id="R16a8a0ae9ef14287"/>
    <p:sldId xmlns:r="http://schemas.openxmlformats.org/officeDocument/2006/relationships" id="265" r:id="Rbebe8303d97b4675"/>
    <p:sldId xmlns:r="http://schemas.openxmlformats.org/officeDocument/2006/relationships" id="266" r:id="R577f2dd0aa0a4c22"/>
    <p:sldId xmlns:r="http://schemas.openxmlformats.org/officeDocument/2006/relationships" id="267" r:id="R2bc836a5643b4401"/>
    <p:sldId xmlns:r="http://schemas.openxmlformats.org/officeDocument/2006/relationships" id="268" r:id="R1c74e060ef1646b1"/>
    <p:sldId xmlns:r="http://schemas.openxmlformats.org/officeDocument/2006/relationships" id="269" r:id="R8f16ecc48559404a"/>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b6756bd8fd79483a" /><Relationship Type="http://schemas.openxmlformats.org/officeDocument/2006/relationships/slideMaster" Target="/ppt/slideMasters/slideMaster1.xml" Id="R352416c7b1c741bc" /><Relationship Type="http://schemas.openxmlformats.org/officeDocument/2006/relationships/notesMaster" Target="/ppt/notesMasters/notesMaster1.xml" Id="Rc3a00e29253f467c" /><Relationship Type="http://schemas.openxmlformats.org/officeDocument/2006/relationships/presProps" Target="/ppt/presProps.xml" Id="Rf8ea6ba399884590" /><Relationship Type="http://schemas.openxmlformats.org/officeDocument/2006/relationships/tableStyles" Target="/ppt/tableStyles.xml" Id="R83a0313943ed4d8a" /><Relationship Type="http://schemas.openxmlformats.org/officeDocument/2006/relationships/slide" Target="/ppt/slides/slide1.xml" Id="R99cad162a55b4319" /><Relationship Type="http://schemas.openxmlformats.org/officeDocument/2006/relationships/slide" Target="/ppt/slides/slide2.xml" Id="R8b1fd520accd4c40" /><Relationship Type="http://schemas.openxmlformats.org/officeDocument/2006/relationships/slide" Target="/ppt/slides/slide3.xml" Id="Re9da3e5c13ab43f7" /><Relationship Type="http://schemas.openxmlformats.org/officeDocument/2006/relationships/slide" Target="/ppt/slides/slide4.xml" Id="R6a740409ad1c4b0c" /><Relationship Type="http://schemas.openxmlformats.org/officeDocument/2006/relationships/slide" Target="/ppt/slides/slide5.xml" Id="Ra74bf2f06c474b93" /><Relationship Type="http://schemas.openxmlformats.org/officeDocument/2006/relationships/slide" Target="/ppt/slides/slide6.xml" Id="R1980a6378f064c51" /><Relationship Type="http://schemas.openxmlformats.org/officeDocument/2006/relationships/slide" Target="/ppt/slides/slide7.xml" Id="R21d2f0464c1845d3" /><Relationship Type="http://schemas.openxmlformats.org/officeDocument/2006/relationships/slide" Target="/ppt/slides/slide8.xml" Id="R990f2aa45f4948a6" /><Relationship Type="http://schemas.openxmlformats.org/officeDocument/2006/relationships/slide" Target="/ppt/slides/slide9.xml" Id="R16a8a0ae9ef14287" /><Relationship Type="http://schemas.openxmlformats.org/officeDocument/2006/relationships/slide" Target="/ppt/slides/slide10.xml" Id="Rbebe8303d97b4675" /><Relationship Type="http://schemas.openxmlformats.org/officeDocument/2006/relationships/slide" Target="/ppt/slides/slide11.xml" Id="R577f2dd0aa0a4c22" /><Relationship Type="http://schemas.openxmlformats.org/officeDocument/2006/relationships/slide" Target="/ppt/slides/slide12.xml" Id="R2bc836a5643b4401" /><Relationship Type="http://schemas.openxmlformats.org/officeDocument/2006/relationships/slide" Target="/ppt/slides/slide13.xml" Id="R1c74e060ef1646b1" /><Relationship Type="http://schemas.openxmlformats.org/officeDocument/2006/relationships/slide" Target="/ppt/slides/slide14.xml" Id="R8f16ecc48559404a"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6eee3afafc024929"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32b6f6fa991044f8" /><Relationship Type="http://schemas.openxmlformats.org/officeDocument/2006/relationships/notesMaster" Target="/ppt/notesMasters/notesMaster1.xml" Id="R45f7227e1edf45ff" /></Relationships>
</file>

<file path=ppt/notesSlides/_rels/notesSlide2.xml.rels>&#65279;<?xml version="1.0" encoding="utf-8"?><Relationships xmlns="http://schemas.openxmlformats.org/package/2006/relationships"><Relationship Type="http://schemas.openxmlformats.org/officeDocument/2006/relationships/slide" Target="/ppt/slides/slide2.xml" Id="R782aa735c935489a" /><Relationship Type="http://schemas.openxmlformats.org/officeDocument/2006/relationships/notesMaster" Target="/ppt/notesMasters/notesMaster1.xml" Id="Rabd217a4ca914218" /></Relationships>
</file>

<file path=ppt/notesSlides/_rels/notesSlide3.xml.rels>&#65279;<?xml version="1.0" encoding="utf-8"?><Relationships xmlns="http://schemas.openxmlformats.org/package/2006/relationships"><Relationship Type="http://schemas.openxmlformats.org/officeDocument/2006/relationships/slide" Target="/ppt/slides/slide3.xml" Id="R6d23899d09bb4cec" /><Relationship Type="http://schemas.openxmlformats.org/officeDocument/2006/relationships/notesMaster" Target="/ppt/notesMasters/notesMaster1.xml" Id="Rd435a5baaa694a25" /></Relationships>
</file>

<file path=ppt/notesSlides/_rels/notesSlide4.xml.rels>&#65279;<?xml version="1.0" encoding="utf-8"?><Relationships xmlns="http://schemas.openxmlformats.org/package/2006/relationships"><Relationship Type="http://schemas.openxmlformats.org/officeDocument/2006/relationships/slide" Target="/ppt/slides/slide4.xml" Id="R758afe21d60f4146" /><Relationship Type="http://schemas.openxmlformats.org/officeDocument/2006/relationships/notesMaster" Target="/ppt/notesMasters/notesMaster1.xml" Id="R3be6fb6fef9c4a73" /></Relationships>
</file>

<file path=ppt/notesSlides/_rels/notesSlide5.xml.rels>&#65279;<?xml version="1.0" encoding="utf-8"?><Relationships xmlns="http://schemas.openxmlformats.org/package/2006/relationships"><Relationship Type="http://schemas.openxmlformats.org/officeDocument/2006/relationships/slide" Target="/ppt/slides/slide5.xml" Id="R62fc0f63fa7742af" /><Relationship Type="http://schemas.openxmlformats.org/officeDocument/2006/relationships/notesMaster" Target="/ppt/notesMasters/notesMaster1.xml" Id="Rd051ce0d6bbb474a" /></Relationships>
</file>

<file path=ppt/notesSlides/_rels/notesSlide6.xml.rels>&#65279;<?xml version="1.0" encoding="utf-8"?><Relationships xmlns="http://schemas.openxmlformats.org/package/2006/relationships"><Relationship Type="http://schemas.openxmlformats.org/officeDocument/2006/relationships/slide" Target="/ppt/slides/slide6.xml" Id="Rd3678c0111ec4b3f" /><Relationship Type="http://schemas.openxmlformats.org/officeDocument/2006/relationships/notesMaster" Target="/ppt/notesMasters/notesMaster1.xml" Id="R737915a32d3245de" /></Relationships>
</file>

<file path=ppt/notesSlides/_rels/notesSlide7.xml.rels>&#65279;<?xml version="1.0" encoding="utf-8"?><Relationships xmlns="http://schemas.openxmlformats.org/package/2006/relationships"><Relationship Type="http://schemas.openxmlformats.org/officeDocument/2006/relationships/slide" Target="/ppt/slides/slide7.xml" Id="Radcbd37293be4ce5" /><Relationship Type="http://schemas.openxmlformats.org/officeDocument/2006/relationships/notesMaster" Target="/ppt/notesMasters/notesMaster1.xml" Id="R3141d643ea674768" /></Relationships>
</file>

<file path=ppt/notesSlides/_rels/notesSlide8.xml.rels>&#65279;<?xml version="1.0" encoding="utf-8"?><Relationships xmlns="http://schemas.openxmlformats.org/package/2006/relationships"><Relationship Type="http://schemas.openxmlformats.org/officeDocument/2006/relationships/slide" Target="/ppt/slides/slide8.xml" Id="R934b26d9f505419e" /><Relationship Type="http://schemas.openxmlformats.org/officeDocument/2006/relationships/notesMaster" Target="/ppt/notesMasters/notesMaster1.xml" Id="R262e12180c75470f" /></Relationships>
</file>

<file path=ppt/notesSlides/_rels/notesSlide9.xml.rels>&#65279;<?xml version="1.0" encoding="utf-8"?><Relationships xmlns="http://schemas.openxmlformats.org/package/2006/relationships"><Relationship Type="http://schemas.openxmlformats.org/officeDocument/2006/relationships/slide" Target="/ppt/slides/slide9.xml" Id="R6beff4fade2b42f8" /><Relationship Type="http://schemas.openxmlformats.org/officeDocument/2006/relationships/notesMaster" Target="/ppt/notesMasters/notesMaster1.xml" Id="R22af41368f3e4efd"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070191bda58a4853" /><Relationship Type="http://schemas.openxmlformats.org/officeDocument/2006/relationships/notesMaster" Target="/ppt/notesMasters/notesMaster1.xml" Id="R406588ac7fd146ff"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3c74f01fe92b4c96" /><Relationship Type="http://schemas.openxmlformats.org/officeDocument/2006/relationships/notesMaster" Target="/ppt/notesMasters/notesMaster1.xml" Id="Rc0ffe8bc2cf049d5"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80029c2953b948d6" /><Relationship Type="http://schemas.openxmlformats.org/officeDocument/2006/relationships/notesMaster" Target="/ppt/notesMasters/notesMaster1.xml" Id="Rf27567fe0a594b84"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abc657381f544018" /><Relationship Type="http://schemas.openxmlformats.org/officeDocument/2006/relationships/notesMaster" Target="/ppt/notesMasters/notesMaster1.xml" Id="R2f0056dec316420c"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f5a083a8e57541cb" /><Relationship Type="http://schemas.openxmlformats.org/officeDocument/2006/relationships/notesMaster" Target="/ppt/notesMasters/notesMaster1.xml" Id="R931500a8a32b46b2"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NWTS connects shipment information with pre-storage and final-storage workflows. This presentation introduces the current software prototype and a proposed pilot approach. The cover is a conceptual illustration, not a real facility or a container specification.</a:t>
            </a:r>
          </a:p>
          <a:p xmlns:a="http://schemas.openxmlformats.org/drawingml/2006/main">
            <a:r>
              <a:t/>
            </a:r>
          </a:p>
          <a:p xmlns:a="http://schemas.openxmlformats.org/drawingml/2006/main">
            <a:r>
              <a:t>Illustration: generated with OpenAI ImageGen. Concept art, no real facility. Product basis: NWTS project, 24 September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Introduce the operational questions before showing individual features. NWTS brings records from three work areas into one organisation. Employees work in their assigned area, while Supervision and Administrator accounts can review all three. The intended benefit is easier coordination and a clearer view of pending work. No measured time or cost savings are claimed. Ask the audience which of these questions is hardest to answer in their current process.</a:t>
            </a:r>
          </a:p>
          <a:p xmlns:a="http://schemas.openxmlformats.org/drawingml/2006/main">
            <a:r>
              <a:t/>
            </a:r>
          </a:p>
          <a:p xmlns:a="http://schemas.openxmlformats.org/drawingml/2006/main">
            <a:r>
              <a:t>Project basis: README.md; lib/workspaces.cjs; lib/server/overview.js.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Explain the three work areas in order. Step 1 records the truck and its contents. Step 2 receives container quantities into a hall and handles the pre-storage side of transfers. Step 3 requests a transfer and confirms final receipt. A truck departure is a separate event: OUT means that the truck left the unloading zone. It does not prove final disposal. The screenshot illustrates the application’s process overview with demo figures.</a:t>
            </a:r>
          </a:p>
          <a:p xmlns:a="http://schemas.openxmlformats.org/drawingml/2006/main">
            <a:r>
              <a:t/>
            </a:r>
          </a:p>
          <a:p xmlns:a="http://schemas.openxmlformats.org/drawingml/2006/main">
            <a:r>
              <a:t>Project basis: docs/STEP-WORKSPACES-PLAN.md; lib/workspaces.cjs; lib/shipment-journey.js. Screenshot: local NWTS demo, 24 September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the sample shipment with 27 containers to make the record tangible. A Shipping employee records arrival and truck information. Supervision or an Administrator prepares the Container Profiles using existing definitions. One profile groups a quantity of containers with shared attributes. It is not an individual serial record for every physical container. After departure, only the Administrator can perform the permitted shipment corrections. Content entry alone does not confirm physical receipt.</a:t>
            </a:r>
          </a:p>
          <a:p xmlns:a="http://schemas.openxmlformats.org/drawingml/2006/main">
            <a:r>
              <a:t/>
            </a:r>
          </a:p>
          <a:p xmlns:a="http://schemas.openxmlformats.org/drawingml/2006/main">
            <a:r>
              <a:t>Project basis: lib/workspaces.cjs; lib/server/shipment-timeline.js; prisma/schema.prisma. Screenshot: local demonstration shipment #5. Names and specifications are example data.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Show the hall overview and then open a hall. Explain the distinction between recording arrival at the site and accepting containers into storage. Receipt links connect the incoming profile to a hall. Transfer processing uses recorded sources and quantities. Capacity figures use configured floor area and container footprint, so they are planning indicators, not a validated storage layout. Demo counters reflect the current dataset, not the proposed full demonstration scenario.</a:t>
            </a:r>
          </a:p>
          <a:p xmlns:a="http://schemas.openxmlformats.org/drawingml/2006/main">
            <a:r>
              <a:t/>
            </a:r>
          </a:p>
          <a:p xmlns:a="http://schemas.openxmlformats.org/drawingml/2006/main">
            <a:r>
              <a:t>Project basis: lib/server/storage-balances.js; lib/server/storage-overview.js; prisma/schema.prisma. Screenshot: local NWTS demo.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Walk through the direction of the transfer. The final-storage area starts the request, the pre-storage area responds, and final storage confirms receipt. The software checks permitted transitions and recorded quantities. This is the application’s final-storage record workflow. It does not itself certify physical emplacement or compliance with a facility’s acceptance criteria. For a live demonstration, use compatible demo definitions and a small quantity from a linked receipt.</a:t>
            </a:r>
          </a:p>
          <a:p xmlns:a="http://schemas.openxmlformats.org/drawingml/2006/main">
            <a:r>
              <a:t/>
            </a:r>
          </a:p>
          <a:p xmlns:a="http://schemas.openxmlformats.org/drawingml/2006/main">
            <a:r>
              <a:t>Project basis: lib/workspaces.cjs; app/api/final-storage-setup/final-storage-transver-request/route.js; lib/server/storage-balances.js. Screenshot: local NWTS demo.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Explain that a user records a measurement and the application compares it with configured ranges. Alerts can track acknowledgement, notes, return to range and closure. Critical alert closure requires a management role and the applicable closure conditions. Rules carry an approval reference. Default demo values do not establish operational limits. Escalation evaluation occurs when the application is used. An always-running background notification service and sensor integration are outside the current implementation.</a:t>
            </a:r>
          </a:p>
          <a:p xmlns:a="http://schemas.openxmlformats.org/drawingml/2006/main">
            <a:r>
              <a:t/>
            </a:r>
          </a:p>
          <a:p xmlns:a="http://schemas.openxmlformats.org/drawingml/2006/main">
            <a:r>
              <a:t>Project basis: lib/server/monitoring.js; lib/monitoring.js; lib/server/record-measurement.js. Screenshot: local NWTS demo.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Distinguish role from work area. An Employee belongs to Shipping, Pre-storage or Final storage. Supervision and Administrator accounts can access all three areas, but their editing rights differ. Supervision creates Employee accounts and prepares Container Profiles. The Administrator manages definitions and existing accounts and has additional correction rights. Responsible-employee records attached to a hall or room are operational records and are not automatically the same as login accounts. The appendix contains a more detailed permission summary.</a:t>
            </a:r>
          </a:p>
          <a:p xmlns:a="http://schemas.openxmlformats.org/drawingml/2006/main">
            <a:r>
              <a:t/>
            </a:r>
          </a:p>
          <a:p xmlns:a="http://schemas.openxmlformats.org/drawingml/2006/main">
            <a:r>
              <a:t>Project basis: lib/workspaces.cjs; lib/server/accounts.cjs; README.md.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 the software as a functional prototype. The current repository includes stock verification, correction reports, linked receipts, transfer sources and alert events in addition to the older concept document. These records improve visibility, but they do not establish a complete, independently validated audit trail for every historical or physical container. Integrations and site validation require separate scope. Avoid claims of certification, guaranteed safety or production readiness. Agree which gaps matter to the prospective partner.</a:t>
            </a:r>
          </a:p>
          <a:p xmlns:a="http://schemas.openxmlformats.org/drawingml/2006/main">
            <a:r>
              <a:t/>
            </a:r>
          </a:p>
          <a:p xmlns:a="http://schemas.openxmlformats.org/drawingml/2006/main">
            <a:r>
              <a:t>Project basis: current application routes, prisma/schema.prisma, lib/server/monitoring.js and lib/server/stock-reconciliation.js. Snapshot: 24 September 2026. Pilot items are proposals, not delivery commitments.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Propose a limited pilot rather than a broad implementation commitment. Ask the partner to nominate an operational owner and describe one representative scenario. Agree success criteria before work begins: whether records can be found, quantities reconcile, the right users can act and exceptions remain visible. Deployment, integrations, pricing and project duration need separate agreement. A technical partner may focus on integration boundaries, while a prospective user may focus on everyday tasks.</a:t>
            </a:r>
          </a:p>
          <a:p xmlns:a="http://schemas.openxmlformats.org/drawingml/2006/main">
            <a:r>
              <a:t/>
            </a:r>
          </a:p>
          <a:p xmlns:a="http://schemas.openxmlformats.org/drawingml/2006/main">
            <a:r>
              <a:t>Proposed pilot approach. No agreed commercial terms or delivery schedule.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inventory summarises the current software rather than contractual deliverables. Records may contain multiple containers with shared attributes. Newer receipt and transfer links support source tracking. Older data can lack these links and the application exposes those limitations. The shipment activity view covers selected event types and bounded result lists. It should not be described as a universal immutable audit log. Final acceptance criteria belong in the pilot scope.</a:t>
            </a:r>
          </a:p>
          <a:p xmlns:a="http://schemas.openxmlformats.org/drawingml/2006/main">
            <a:r>
              <a:t/>
            </a:r>
          </a:p>
          <a:p xmlns:a="http://schemas.openxmlformats.org/drawingml/2006/main">
            <a:r>
              <a:t>Project basis: lib/workspaces.cjs; lib/server/shipment-timeline.js; lib/server/storage-balances.js; prisma/schema.prisma.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Explain the oversight functions only as far as they relate to the audience. Stock reconciliation compares a recorded count with the system quantity and supports an Administrator correction report. It does not prove the physical count. A supported legacy link records an explicit reconciliation decision, rather than guessing an origin. Statistics describe recorded movements and quantities. Capacity uses configured area and footprint. Interface translation does not translate user-entered names or every historical free-text note.</a:t>
            </a:r>
          </a:p>
          <a:p xmlns:a="http://schemas.openxmlformats.org/drawingml/2006/main">
            <a:r>
              <a:t/>
            </a:r>
          </a:p>
          <a:p xmlns:a="http://schemas.openxmlformats.org/drawingml/2006/main">
            <a:r>
              <a:t>Project basis: lib/server/monitoring.js; lib/server/stock-reconciliation.js; lib/server/statistics.js; lib/i18n.js.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this table to answer detailed access questions after the main presentation. All permissions apply inside the user’s organisation. Access to a work area does not allow every action. Accepted profiles, active transfer states and other record constraints can limit changes. Employees can record measurements in their own area. Critical alert closure is reserved for Supervision or Administrator accounts and still requires the closure checks. The current Employee model assigns one work area, not multiple temporary assignments.</a:t>
            </a:r>
          </a:p>
          <a:p xmlns:a="http://schemas.openxmlformats.org/drawingml/2006/main">
            <a:r>
              <a:t/>
            </a:r>
          </a:p>
          <a:p xmlns:a="http://schemas.openxmlformats.org/drawingml/2006/main">
            <a:r>
              <a:t>Project basis: lib/workspaces.cjs; lib/server/accounts.cjs; lib/server/monitoring.js; app/api/storage-reconciliation/.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Prepare the demonstration before the meeting. Use dedicated test locations with compatible definitions, sufficient configured capacity and responsible-employee records. Prepare the five demonstration accounts: Administrator, Supervision and one Employee for each step. Create a fresh shipment rather than altering existing examples. Receive all 27 containers, then transfer 5 from the first group. With zero initial stock and no other movements, the final balance is 22 in pre-storage and 5 in final storage. The screenshots show the existing demo dataset and do not assert completion of this scenario.</a:t>
            </a:r>
          </a:p>
          <a:p xmlns:a="http://schemas.openxmlformats.org/drawingml/2006/main">
            <a:r>
              <a:t/>
            </a:r>
          </a:p>
          <a:p xmlns:a="http://schemas.openxmlformats.org/drawingml/2006/main">
            <a:r>
              <a:t>Illustrative scenario adapted from Nuclear Waste Tracking System - Concept doc.pdf. Arithmetic: 15 + 12 = 27; 27 - 5 = 22. No assertion that the screenshot dataset has completed this sequence.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b60930dba2fb4f51"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84fcafc8055444fd" /><Relationship Type="http://schemas.openxmlformats.org/officeDocument/2006/relationships/slideLayout" Target="/ppt/slideLayouts/slideLayout1.xml" Id="Reeadff80cf734c08"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eeadff80cf734c08"/>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4f940f07e32f4fd4" /><Relationship Type="http://schemas.openxmlformats.org/officeDocument/2006/relationships/image" Target="/ppt/media/image.png" Id="R0efbb6b4e4ad422b" /><Relationship Type="http://schemas.openxmlformats.org/officeDocument/2006/relationships/notesSlide" Target="/ppt/notesSlides/notesSlide1.xml" Id="R6c5a95bfba4647db"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cf829904623749c9" /><Relationship Type="http://schemas.openxmlformats.org/officeDocument/2006/relationships/notesSlide" Target="/ppt/notesSlides/notesSlide2.xml" Id="R99702089e28e4411"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c83cf01a2c954e04" /><Relationship Type="http://schemas.openxmlformats.org/officeDocument/2006/relationships/image" Target="/ppt/media/image.jpeg" Id="R7f86ec1b6c0147a0" /><Relationship Type="http://schemas.openxmlformats.org/officeDocument/2006/relationships/notesSlide" Target="/ppt/notesSlides/notesSlide3.xml" Id="R2fd97658499a4445"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4ef3c6234e224722" /><Relationship Type="http://schemas.openxmlformats.org/officeDocument/2006/relationships/image" Target="/ppt/media/image2.jpeg" Id="R9babffc5bf2e42d6" /><Relationship Type="http://schemas.openxmlformats.org/officeDocument/2006/relationships/notesSlide" Target="/ppt/notesSlides/notesSlide4.xml" Id="R8af0d24ce78542b7"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42b2f94f43e045e4" /><Relationship Type="http://schemas.openxmlformats.org/officeDocument/2006/relationships/image" Target="/ppt/media/image3.jpeg" Id="R37a4ef3155af4c68" /><Relationship Type="http://schemas.openxmlformats.org/officeDocument/2006/relationships/notesSlide" Target="/ppt/notesSlides/notesSlide5.xml" Id="Re20eba7515984561"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9da22d08eb7b429d" /><Relationship Type="http://schemas.openxmlformats.org/officeDocument/2006/relationships/image" Target="/ppt/media/image4.jpeg" Id="R0f1a05cf9b8843d6" /><Relationship Type="http://schemas.openxmlformats.org/officeDocument/2006/relationships/notesSlide" Target="/ppt/notesSlides/notesSlide6.xml" Id="R033d46debdd844de"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106119ae65c34739" /><Relationship Type="http://schemas.openxmlformats.org/officeDocument/2006/relationships/image" Target="/ppt/media/image5.jpeg" Id="R46a1ea3226b343bf" /><Relationship Type="http://schemas.openxmlformats.org/officeDocument/2006/relationships/notesSlide" Target="/ppt/notesSlides/notesSlide7.xml" Id="R56567dba6c7f499d"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9a9e05db490e4788" /><Relationship Type="http://schemas.openxmlformats.org/officeDocument/2006/relationships/notesSlide" Target="/ppt/notesSlides/notesSlide8.xml" Id="Rc6d502a262074198"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27ffd89bd6e74a7b" /><Relationship Type="http://schemas.openxmlformats.org/officeDocument/2006/relationships/notesSlide" Target="/ppt/notesSlides/notesSlide9.xml" Id="R41916df455184567"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731c096b96de4e44" /><Relationship Type="http://schemas.openxmlformats.org/officeDocument/2006/relationships/notesSlide" Target="/ppt/notesSlides/notesSlide10.xml" Id="R0fff8aa398dc47c4"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997e69194c594962" /><Relationship Type="http://schemas.openxmlformats.org/officeDocument/2006/relationships/notesSlide" Target="/ppt/notesSlides/notesSlide11.xml" Id="Rb3fe214130dd4683"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49496b2b8d114d68" /><Relationship Type="http://schemas.openxmlformats.org/officeDocument/2006/relationships/notesSlide" Target="/ppt/notesSlides/notesSlide12.xml" Id="R127be0047d9b4d40"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6557b097679f43de" /><Relationship Type="http://schemas.openxmlformats.org/officeDocument/2006/relationships/notesSlide" Target="/ppt/notesSlides/notesSlide13.xml" Id="Rdca7b48535514019"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9d3b81ebcd09433e" /><Relationship Type="http://schemas.openxmlformats.org/officeDocument/2006/relationships/notesSlide" Target="/ppt/notesSlides/notesSlide14.xml" Id="Rec936012defc48a5" /></Relationships>
</file>

<file path=ppt/slides/slide1.xml><?xml version="1.0" encoding="utf-8"?>
<p:sld xmlns:p="http://schemas.openxmlformats.org/presentationml/2006/main">
  <p:cSld>
    <p:bg>
      <p:bgPr>
        <a:solidFill xmlns:a="http://schemas.openxmlformats.org/drawingml/2006/main">
          <a:srgbClr val="0A1422"/>
        </a:solidFill>
      </p:bgPr>
    </p:bg>
    <p:spTree>
      <p:nvGrpSpPr>
        <p:cNvPr id="1" name=""/>
        <p:cNvGrpSpPr/>
        <p:nvPr/>
      </p:nvGrpSpPr>
      <p:grpSpPr>
        <a:xfrm xmlns:a="http://schemas.openxmlformats.org/drawingml/2006/main"/>
      </p:grpSpPr>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0efbb6b4e4ad422b"/>
          <a:stretch xmlns:a="http://schemas.openxmlformats.org/drawingml/2006/main"/>
        </p:blipFill>
        <p:spPr>
          <a:xfrm xmlns:a="http://schemas.openxmlformats.org/drawingml/2006/main">
            <a:off x="5905500" y="1447800"/>
            <a:ext cx="5829300" cy="3886200"/>
          </a:xfrm>
          <a:prstGeom xmlns:a="http://schemas.openxmlformats.org/drawingml/2006/main" prst="rect">
            <a:avLst/>
          </a:prstGeom>
        </p:spPr>
      </p:pic>
      <p:sp>
        <p:nvSpPr>
          <p:cNvPr id="2" name="NWTS">
            <a:extLst xmlns:a="http://schemas.openxmlformats.org/drawingml/2006/main">
              <a:ext uri="{FF2B5EF4-FFF2-40B4-BE49-F238E27FC236}">
                <a16:creationId xmlns:a16="http://schemas.microsoft.com/office/drawing/2014/main" id="{6A9654B9-B65B-4A56-9F28-D4F6181AD2C8}"/>
              </a:ext>
            </a:extLst>
          </p:cNvPr>
          <p:cNvSpPr>
            <a:spLocks xmlns:a="http://schemas.openxmlformats.org/drawingml/2006/main" noGrp="1"/>
          </p:cNvSpPr>
          <p:nvPr/>
        </p:nvSpPr>
        <p:spPr>
          <a:xfrm xmlns:a="http://schemas.openxmlformats.org/drawingml/2006/main">
            <a:off x="609600" y="628650"/>
            <a:ext cx="4762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1">
                <a:solidFill>
                  <a:srgbClr val="2BB8F2"/>
                </a:solidFill>
                <a:latin typeface="Noto Sans"/>
                <a:ea typeface="Noto Sans"/>
                <a:cs typeface="Noto Sans"/>
              </a:defRPr>
            </a:pPr>
            <a:r>
              <a:rPr sz="1875" b="1">
                <a:solidFill>
                  <a:srgbClr val="2BB8F2"/>
                </a:solidFill>
                <a:latin typeface="Noto Sans"/>
                <a:ea typeface="Noto Sans"/>
                <a:cs typeface="Noto Sans"/>
              </a:rPr>
              <a:t>NWTS</a:t>
            </a:r>
          </a:p>
        </p:txBody>
      </p:sp>
      <p:sp>
        <p:nvSpPr>
          <p:cNvPr id="3" name="Nuclear Waste Tracking System">
            <a:extLst xmlns:a="http://schemas.openxmlformats.org/drawingml/2006/main">
              <a:ext uri="{FF2B5EF4-FFF2-40B4-BE49-F238E27FC236}">
                <a16:creationId xmlns:a16="http://schemas.microsoft.com/office/drawing/2014/main" id="{8DBD60FF-4A9F-4164-96F7-642CB79BDDB3}"/>
              </a:ext>
            </a:extLst>
          </p:cNvPr>
          <p:cNvSpPr>
            <a:spLocks xmlns:a="http://schemas.openxmlformats.org/drawingml/2006/main" noGrp="1"/>
          </p:cNvSpPr>
          <p:nvPr/>
        </p:nvSpPr>
        <p:spPr>
          <a:xfrm xmlns:a="http://schemas.openxmlformats.org/drawingml/2006/main">
            <a:off x="609600" y="1733550"/>
            <a:ext cx="5286375"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4200" b="1">
                <a:solidFill>
                  <a:srgbClr val="EEF4FA"/>
                </a:solidFill>
                <a:latin typeface="Noto Sans"/>
                <a:ea typeface="Noto Sans"/>
                <a:cs typeface="Noto Sans"/>
              </a:defRPr>
            </a:pPr>
            <a:r>
              <a:rPr sz="4200" b="1">
                <a:solidFill>
                  <a:srgbClr val="EEF4FA"/>
                </a:solidFill>
                <a:latin typeface="Noto Sans"/>
                <a:ea typeface="Noto Sans"/>
                <a:cs typeface="Noto Sans"/>
              </a:rPr>
              <a:t>Nuclear Waste</a:t>
            </a:r>
          </a:p>
          <a:p xmlns:a="http://schemas.openxmlformats.org/drawingml/2006/main">
            <a:pPr>
              <a:defRPr sz="4200" b="1">
                <a:solidFill>
                  <a:srgbClr val="EEF4FA"/>
                </a:solidFill>
                <a:latin typeface="Noto Sans"/>
                <a:ea typeface="Noto Sans"/>
                <a:cs typeface="Noto Sans"/>
              </a:defRPr>
            </a:pPr>
            <a:r>
              <a:rPr sz="4200" b="1">
                <a:solidFill>
                  <a:srgbClr val="EEF4FA"/>
                </a:solidFill>
                <a:latin typeface="Noto Sans"/>
                <a:ea typeface="Noto Sans"/>
                <a:cs typeface="Noto Sans"/>
              </a:rPr>
              <a:t>Tracking System</a:t>
            </a:r>
          </a:p>
        </p:txBody>
      </p:sp>
      <p:sp>
        <p:nvSpPr>
          <p:cNvPr id="4" name="Shipment and storage records for radioactive waste">
            <a:extLst xmlns:a="http://schemas.openxmlformats.org/drawingml/2006/main">
              <a:ext uri="{FF2B5EF4-FFF2-40B4-BE49-F238E27FC236}">
                <a16:creationId xmlns:a16="http://schemas.microsoft.com/office/drawing/2014/main" id="{6A632B50-D017-4787-BAF7-39A8F3325666}"/>
              </a:ext>
            </a:extLst>
          </p:cNvPr>
          <p:cNvSpPr>
            <a:spLocks xmlns:a="http://schemas.openxmlformats.org/drawingml/2006/main" noGrp="1"/>
          </p:cNvSpPr>
          <p:nvPr/>
        </p:nvSpPr>
        <p:spPr>
          <a:xfrm xmlns:a="http://schemas.openxmlformats.org/drawingml/2006/main">
            <a:off x="609600" y="3590925"/>
            <a:ext cx="5095875"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75" b="0">
                <a:solidFill>
                  <a:srgbClr val="B8C7D8"/>
                </a:solidFill>
                <a:latin typeface="Noto Sans"/>
                <a:ea typeface="Noto Sans"/>
                <a:cs typeface="Noto Sans"/>
              </a:defRPr>
            </a:pPr>
            <a:r>
              <a:rPr sz="2175" b="0">
                <a:solidFill>
                  <a:srgbClr val="B8C7D8"/>
                </a:solidFill>
                <a:latin typeface="Noto Sans"/>
                <a:ea typeface="Noto Sans"/>
                <a:cs typeface="Noto Sans"/>
              </a:rPr>
              <a:t>Shipment and storage records</a:t>
            </a:r>
          </a:p>
          <a:p xmlns:a="http://schemas.openxmlformats.org/drawingml/2006/main">
            <a:pPr>
              <a:defRPr sz="2175" b="0">
                <a:solidFill>
                  <a:srgbClr val="B8C7D8"/>
                </a:solidFill>
                <a:latin typeface="Noto Sans"/>
                <a:ea typeface="Noto Sans"/>
                <a:cs typeface="Noto Sans"/>
              </a:defRPr>
            </a:pPr>
            <a:r>
              <a:rPr sz="2175" b="0">
                <a:solidFill>
                  <a:srgbClr val="B8C7D8"/>
                </a:solidFill>
                <a:latin typeface="Noto Sans"/>
                <a:ea typeface="Noto Sans"/>
                <a:cs typeface="Noto Sans"/>
              </a:rPr>
              <a:t>for radioactive waste</a:t>
            </a:r>
          </a:p>
        </p:txBody>
      </p:sp>
      <p:sp>
        <p:nvSpPr>
          <p:cNvPr id="5" name="Product overview September 2026">
            <a:extLst xmlns:a="http://schemas.openxmlformats.org/drawingml/2006/main">
              <a:ext uri="{FF2B5EF4-FFF2-40B4-BE49-F238E27FC236}">
                <a16:creationId xmlns:a16="http://schemas.microsoft.com/office/drawing/2014/main" id="{1E2FFF20-E243-41F3-9DD2-E6C5875E874F}"/>
              </a:ext>
            </a:extLst>
          </p:cNvPr>
          <p:cNvSpPr>
            <a:spLocks xmlns:a="http://schemas.openxmlformats.org/drawingml/2006/main" noGrp="1"/>
          </p:cNvSpPr>
          <p:nvPr/>
        </p:nvSpPr>
        <p:spPr>
          <a:xfrm xmlns:a="http://schemas.openxmlformats.org/drawingml/2006/main">
            <a:off x="609600" y="5514975"/>
            <a:ext cx="4667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b="0">
                <a:solidFill>
                  <a:srgbClr val="B8C7D8"/>
                </a:solidFill>
                <a:latin typeface="Noto Sans"/>
                <a:ea typeface="Noto Sans"/>
                <a:cs typeface="Noto Sans"/>
              </a:defRPr>
            </a:pPr>
            <a:r>
              <a:rPr sz="1500" b="0">
                <a:solidFill>
                  <a:srgbClr val="B8C7D8"/>
                </a:solidFill>
                <a:latin typeface="Noto Sans"/>
                <a:ea typeface="Noto Sans"/>
                <a:cs typeface="Noto Sans"/>
              </a:rPr>
              <a:t>Product overview</a:t>
            </a:r>
          </a:p>
          <a:p xmlns:a="http://schemas.openxmlformats.org/drawingml/2006/main">
            <a:pPr>
              <a:defRPr sz="1500" b="0">
                <a:solidFill>
                  <a:srgbClr val="B8C7D8"/>
                </a:solidFill>
                <a:latin typeface="Noto Sans"/>
                <a:ea typeface="Noto Sans"/>
                <a:cs typeface="Noto Sans"/>
              </a:defRPr>
            </a:pPr>
            <a:r>
              <a:rPr sz="1500" b="0">
                <a:solidFill>
                  <a:srgbClr val="B8C7D8"/>
                </a:solidFill>
                <a:latin typeface="Noto Sans"/>
                <a:ea typeface="Noto Sans"/>
                <a:cs typeface="Noto Sans"/>
              </a:rPr>
              <a:t>September 2026</a:t>
            </a:r>
          </a:p>
        </p:txBody>
      </p:sp>
      <p:sp>
        <p:nvSpPr>
          <p:cNvPr id="6" name="Concept illustration">
            <a:extLst xmlns:a="http://schemas.openxmlformats.org/drawingml/2006/main">
              <a:ext uri="{FF2B5EF4-FFF2-40B4-BE49-F238E27FC236}">
                <a16:creationId xmlns:a16="http://schemas.microsoft.com/office/drawing/2014/main" id="{393349C7-7FC6-4ADB-A454-B4B7DCCB31E9}"/>
              </a:ext>
            </a:extLst>
          </p:cNvPr>
          <p:cNvSpPr>
            <a:spLocks xmlns:a="http://schemas.openxmlformats.org/drawingml/2006/main" noGrp="1"/>
          </p:cNvSpPr>
          <p:nvPr/>
        </p:nvSpPr>
        <p:spPr>
          <a:xfrm xmlns:a="http://schemas.openxmlformats.org/drawingml/2006/main">
            <a:off x="8401050" y="6191250"/>
            <a:ext cx="31908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050" b="0">
                <a:solidFill>
                  <a:srgbClr val="B8C7D8"/>
                </a:solidFill>
                <a:latin typeface="Noto Sans"/>
                <a:ea typeface="Noto Sans"/>
                <a:cs typeface="Noto Sans"/>
              </a:defRPr>
            </a:pPr>
            <a:r>
              <a:rPr sz="1050" b="0">
                <a:solidFill>
                  <a:srgbClr val="B8C7D8"/>
                </a:solidFill>
                <a:latin typeface="Noto Sans"/>
                <a:ea typeface="Noto Sans"/>
                <a:cs typeface="Noto Sans"/>
              </a:rPr>
              <a:t>Concept illustration</a:t>
            </a:r>
          </a:p>
        </p:txBody>
      </p:sp>
    </p:spTree>
    <p:extLst>
      <p:ext uri="{BB962C8B-B14F-4D97-AF65-F5344CB8AC3E}">
        <p14:creationId xmlns:p14="http://schemas.microsoft.com/office/powerpoint/2010/main" val="1827401799"/>
      </p:ext>
    </p:extLst>
  </p:cSld>
</p:sld>
</file>

<file path=ppt/slides/slide2.xml><?xml version="1.0" encoding="utf-8"?>
<p:sld xmlns:p="http://schemas.openxmlformats.org/presentationml/2006/main">
  <p:cSld>
    <p:bg>
      <p:bgPr>
        <a:solidFill xmlns:a="http://schemas.openxmlformats.org/drawingml/2006/main">
          <a:srgbClr val="0A1422"/>
        </a:solidFill>
      </p:bgPr>
    </p:bg>
    <p:spTree>
      <p:nvGrpSpPr>
        <p:cNvPr id="1" name=""/>
        <p:cNvGrpSpPr/>
        <p:nvPr/>
      </p:nvGrpSpPr>
      <p:grpSpPr>
        <a:xfrm xmlns:a="http://schemas.openxmlformats.org/drawingml/2006/main"/>
      </p:grpSpPr>
      <p:sp>
        <p:nvSpPr>
          <p:cNvPr id="11" name="Operational information in context">
            <a:extLst xmlns:a="http://schemas.openxmlformats.org/drawingml/2006/main">
              <a:ext uri="{FF2B5EF4-FFF2-40B4-BE49-F238E27FC236}">
                <a16:creationId xmlns:a16="http://schemas.microsoft.com/office/drawing/2014/main" id="{D1FBE185-CCFB-42A5-A6AC-CAC3BB99C8DB}"/>
              </a:ext>
            </a:extLst>
          </p:cNvPr>
          <p:cNvSpPr>
            <a:spLocks xmlns:a="http://schemas.openxmlformats.org/drawingml/2006/main" noGrp="1"/>
          </p:cNvSpPr>
          <p:nvPr/>
        </p:nvSpPr>
        <p:spPr>
          <a:xfrm xmlns:a="http://schemas.openxmlformats.org/drawingml/2006/main">
            <a:off x="609600" y="43815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150" b="1">
                <a:solidFill>
                  <a:srgbClr val="EEF4FA"/>
                </a:solidFill>
                <a:latin typeface="Noto Sans"/>
                <a:ea typeface="Noto Sans"/>
                <a:cs typeface="Noto Sans"/>
              </a:defRPr>
            </a:pPr>
            <a:r>
              <a:rPr sz="3150" b="1">
                <a:solidFill>
                  <a:srgbClr val="EEF4FA"/>
                </a:solidFill>
                <a:latin typeface="Noto Sans"/>
                <a:ea typeface="Noto Sans"/>
                <a:cs typeface="Noto Sans"/>
              </a:rPr>
              <a:t>Operational information in context</a:t>
            </a:r>
          </a:p>
        </p:txBody>
      </p:sp>
      <p:sp>
        <p:nvSpPr>
          <p:cNvPr id="2" name="NWTS">
            <a:extLst xmlns:a="http://schemas.openxmlformats.org/drawingml/2006/main">
              <a:ext uri="{FF2B5EF4-FFF2-40B4-BE49-F238E27FC236}">
                <a16:creationId xmlns:a16="http://schemas.microsoft.com/office/drawing/2014/main" id="{91F23D8F-68F9-44EC-9B2D-E04A5EBDEFA9}"/>
              </a:ext>
            </a:extLst>
          </p:cNvPr>
          <p:cNvSpPr>
            <a:spLocks xmlns:a="http://schemas.openxmlformats.org/drawingml/2006/main" noGrp="1"/>
          </p:cNvSpPr>
          <p:nvPr/>
        </p:nvSpPr>
        <p:spPr>
          <a:xfrm xmlns:a="http://schemas.openxmlformats.org/drawingml/2006/main">
            <a:off x="609600" y="6496050"/>
            <a:ext cx="4286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050" b="0">
                <a:solidFill>
                  <a:srgbClr val="B8C7D8"/>
                </a:solidFill>
                <a:latin typeface="Noto Sans"/>
                <a:ea typeface="Noto Sans"/>
                <a:cs typeface="Noto Sans"/>
              </a:defRPr>
            </a:pPr>
            <a:r>
              <a:rPr sz="1050" b="0">
                <a:solidFill>
                  <a:srgbClr val="B8C7D8"/>
                </a:solidFill>
                <a:latin typeface="Noto Sans"/>
                <a:ea typeface="Noto Sans"/>
                <a:cs typeface="Noto Sans"/>
              </a:rPr>
              <a:t>NWTS</a:t>
            </a:r>
          </a:p>
        </p:txBody>
      </p:sp>
      <p:sp>
        <p:nvSpPr>
          <p:cNvPr id="3" name="02">
            <a:extLst xmlns:a="http://schemas.openxmlformats.org/drawingml/2006/main">
              <a:ext uri="{FF2B5EF4-FFF2-40B4-BE49-F238E27FC236}">
                <a16:creationId xmlns:a16="http://schemas.microsoft.com/office/drawing/2014/main" id="{7011672E-9277-4B29-B0A6-71AB529B5DA4}"/>
              </a:ext>
            </a:extLst>
          </p:cNvPr>
          <p:cNvSpPr>
            <a:spLocks xmlns:a="http://schemas.openxmlformats.org/drawingml/2006/main" noGrp="1"/>
          </p:cNvSpPr>
          <p:nvPr/>
        </p:nvSpPr>
        <p:spPr>
          <a:xfrm xmlns:a="http://schemas.openxmlformats.org/drawingml/2006/main">
            <a:off x="11049000" y="6496050"/>
            <a:ext cx="5334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050" b="0">
                <a:solidFill>
                  <a:srgbClr val="B8C7D8"/>
                </a:solidFill>
                <a:latin typeface="Noto Sans"/>
                <a:ea typeface="Noto Sans"/>
                <a:cs typeface="Noto Sans"/>
              </a:defRPr>
            </a:pPr>
            <a:r>
              <a:rPr sz="1050" b="0">
                <a:solidFill>
                  <a:srgbClr val="B8C7D8"/>
                </a:solidFill>
                <a:latin typeface="Noto Sans"/>
                <a:ea typeface="Noto Sans"/>
                <a:cs typeface="Noto Sans"/>
              </a:rPr>
              <a:t>02</a:t>
            </a:r>
          </a:p>
        </p:txBody>
      </p:sp>
      <p:sp>
        <p:nvSpPr>
          <p:cNvPr id="4" name="A shipment record becomes more useful when it stays connected to stora">
            <a:extLst xmlns:a="http://schemas.openxmlformats.org/drawingml/2006/main">
              <a:ext uri="{FF2B5EF4-FFF2-40B4-BE49-F238E27FC236}">
                <a16:creationId xmlns:a16="http://schemas.microsoft.com/office/drawing/2014/main" id="{4FDF61B2-A64B-4337-A1E2-A3E8AC088326}"/>
              </a:ext>
            </a:extLst>
          </p:cNvPr>
          <p:cNvSpPr>
            <a:spLocks xmlns:a="http://schemas.openxmlformats.org/drawingml/2006/main" noGrp="1"/>
          </p:cNvSpPr>
          <p:nvPr/>
        </p:nvSpPr>
        <p:spPr>
          <a:xfrm xmlns:a="http://schemas.openxmlformats.org/drawingml/2006/main">
            <a:off x="609600" y="2028825"/>
            <a:ext cx="4095750" cy="2305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550" b="0">
                <a:solidFill>
                  <a:srgbClr val="EEF4FA"/>
                </a:solidFill>
                <a:latin typeface="Noto Sans"/>
                <a:ea typeface="Noto Sans"/>
                <a:cs typeface="Noto Sans"/>
              </a:defRPr>
            </a:pPr>
            <a:r>
              <a:rPr sz="2550" b="0">
                <a:solidFill>
                  <a:srgbClr val="EEF4FA"/>
                </a:solidFill>
                <a:latin typeface="Noto Sans"/>
                <a:ea typeface="Noto Sans"/>
                <a:cs typeface="Noto Sans"/>
              </a:rPr>
              <a:t>A shipment record becomes more useful when it stays connected to storage work.</a:t>
            </a:r>
          </a:p>
        </p:txBody>
      </p:sp>
      <p:sp>
        <p:nvSpPr>
          <p:cNvPr id="5" name="Operations">
            <a:extLst xmlns:a="http://schemas.openxmlformats.org/drawingml/2006/main">
              <a:ext uri="{FF2B5EF4-FFF2-40B4-BE49-F238E27FC236}">
                <a16:creationId xmlns:a16="http://schemas.microsoft.com/office/drawing/2014/main" id="{D37C4FFB-E14F-4696-937F-E51FA70DBF60}"/>
              </a:ext>
            </a:extLst>
          </p:cNvPr>
          <p:cNvSpPr>
            <a:spLocks xmlns:a="http://schemas.openxmlformats.org/drawingml/2006/main" noGrp="1"/>
          </p:cNvSpPr>
          <p:nvPr/>
        </p:nvSpPr>
        <p:spPr>
          <a:xfrm xmlns:a="http://schemas.openxmlformats.org/drawingml/2006/main">
            <a:off x="5314950" y="1924050"/>
            <a:ext cx="62674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950" b="1">
                <a:solidFill>
                  <a:srgbClr val="2BB8F2"/>
                </a:solidFill>
                <a:latin typeface="Noto Sans"/>
                <a:ea typeface="Noto Sans"/>
                <a:cs typeface="Noto Sans"/>
              </a:defRPr>
            </a:pPr>
            <a:r>
              <a:rPr sz="1950" b="1">
                <a:solidFill>
                  <a:srgbClr val="2BB8F2"/>
                </a:solidFill>
                <a:latin typeface="Noto Sans"/>
                <a:ea typeface="Noto Sans"/>
                <a:cs typeface="Noto Sans"/>
              </a:rPr>
              <a:t>Operations</a:t>
            </a:r>
          </a:p>
        </p:txBody>
      </p:sp>
      <p:sp>
        <p:nvSpPr>
          <p:cNvPr id="6" name="What arrived, what needs receipt, and where is work pending?">
            <a:extLst xmlns:a="http://schemas.openxmlformats.org/drawingml/2006/main">
              <a:ext uri="{FF2B5EF4-FFF2-40B4-BE49-F238E27FC236}">
                <a16:creationId xmlns:a16="http://schemas.microsoft.com/office/drawing/2014/main" id="{89A8B5E5-412D-4E7C-BBCB-33A5055617BE}"/>
              </a:ext>
            </a:extLst>
          </p:cNvPr>
          <p:cNvSpPr>
            <a:spLocks xmlns:a="http://schemas.openxmlformats.org/drawingml/2006/main" noGrp="1"/>
          </p:cNvSpPr>
          <p:nvPr/>
        </p:nvSpPr>
        <p:spPr>
          <a:xfrm xmlns:a="http://schemas.openxmlformats.org/drawingml/2006/main">
            <a:off x="5314950" y="2352675"/>
            <a:ext cx="62674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B8C7D8"/>
                </a:solidFill>
                <a:latin typeface="Noto Sans"/>
                <a:ea typeface="Noto Sans"/>
                <a:cs typeface="Noto Sans"/>
              </a:defRPr>
            </a:pPr>
            <a:r>
              <a:rPr sz="1875" b="0">
                <a:solidFill>
                  <a:srgbClr val="B8C7D8"/>
                </a:solidFill>
                <a:latin typeface="Noto Sans"/>
                <a:ea typeface="Noto Sans"/>
                <a:cs typeface="Noto Sans"/>
              </a:rPr>
              <a:t>What arrived, what needs receipt, and where is work pending?</a:t>
            </a:r>
          </a:p>
        </p:txBody>
      </p:sp>
      <p:sp>
        <p:nvSpPr>
          <p:cNvPr id="7" name="Supervision">
            <a:extLst xmlns:a="http://schemas.openxmlformats.org/drawingml/2006/main">
              <a:ext uri="{FF2B5EF4-FFF2-40B4-BE49-F238E27FC236}">
                <a16:creationId xmlns:a16="http://schemas.microsoft.com/office/drawing/2014/main" id="{4A26C3EA-516C-4ADA-8C3C-BA8098316A05}"/>
              </a:ext>
            </a:extLst>
          </p:cNvPr>
          <p:cNvSpPr>
            <a:spLocks xmlns:a="http://schemas.openxmlformats.org/drawingml/2006/main" noGrp="1"/>
          </p:cNvSpPr>
          <p:nvPr/>
        </p:nvSpPr>
        <p:spPr>
          <a:xfrm xmlns:a="http://schemas.openxmlformats.org/drawingml/2006/main">
            <a:off x="5314950" y="3228975"/>
            <a:ext cx="62674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950" b="1">
                <a:solidFill>
                  <a:srgbClr val="2ED3A0"/>
                </a:solidFill>
                <a:latin typeface="Noto Sans"/>
                <a:ea typeface="Noto Sans"/>
                <a:cs typeface="Noto Sans"/>
              </a:defRPr>
            </a:pPr>
            <a:r>
              <a:rPr sz="1950" b="1">
                <a:solidFill>
                  <a:srgbClr val="2ED3A0"/>
                </a:solidFill>
                <a:latin typeface="Noto Sans"/>
                <a:ea typeface="Noto Sans"/>
                <a:cs typeface="Noto Sans"/>
              </a:rPr>
              <a:t>Supervision</a:t>
            </a:r>
          </a:p>
        </p:txBody>
      </p:sp>
      <p:sp>
        <p:nvSpPr>
          <p:cNvPr id="8" name="Which transfers, conditions or stock differences need attention?">
            <a:extLst xmlns:a="http://schemas.openxmlformats.org/drawingml/2006/main">
              <a:ext uri="{FF2B5EF4-FFF2-40B4-BE49-F238E27FC236}">
                <a16:creationId xmlns:a16="http://schemas.microsoft.com/office/drawing/2014/main" id="{6BF58F16-4472-477D-87B2-0A41AA0E5DD5}"/>
              </a:ext>
            </a:extLst>
          </p:cNvPr>
          <p:cNvSpPr>
            <a:spLocks xmlns:a="http://schemas.openxmlformats.org/drawingml/2006/main" noGrp="1"/>
          </p:cNvSpPr>
          <p:nvPr/>
        </p:nvSpPr>
        <p:spPr>
          <a:xfrm xmlns:a="http://schemas.openxmlformats.org/drawingml/2006/main">
            <a:off x="5314950" y="3657600"/>
            <a:ext cx="62674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B8C7D8"/>
                </a:solidFill>
                <a:latin typeface="Noto Sans"/>
                <a:ea typeface="Noto Sans"/>
                <a:cs typeface="Noto Sans"/>
              </a:defRPr>
            </a:pPr>
            <a:r>
              <a:rPr sz="1875" b="0">
                <a:solidFill>
                  <a:srgbClr val="B8C7D8"/>
                </a:solidFill>
                <a:latin typeface="Noto Sans"/>
                <a:ea typeface="Noto Sans"/>
                <a:cs typeface="Noto Sans"/>
              </a:rPr>
              <a:t>Which transfers, conditions or stock differences need attention?</a:t>
            </a:r>
          </a:p>
        </p:txBody>
      </p:sp>
      <p:sp>
        <p:nvSpPr>
          <p:cNvPr id="9" name="Administration">
            <a:extLst xmlns:a="http://schemas.openxmlformats.org/drawingml/2006/main">
              <a:ext uri="{FF2B5EF4-FFF2-40B4-BE49-F238E27FC236}">
                <a16:creationId xmlns:a16="http://schemas.microsoft.com/office/drawing/2014/main" id="{EABBC326-6B94-4036-B00B-F07218C65D69}"/>
              </a:ext>
            </a:extLst>
          </p:cNvPr>
          <p:cNvSpPr>
            <a:spLocks xmlns:a="http://schemas.openxmlformats.org/drawingml/2006/main" noGrp="1"/>
          </p:cNvSpPr>
          <p:nvPr/>
        </p:nvSpPr>
        <p:spPr>
          <a:xfrm xmlns:a="http://schemas.openxmlformats.org/drawingml/2006/main">
            <a:off x="5314950" y="4533900"/>
            <a:ext cx="62674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950" b="1">
                <a:solidFill>
                  <a:srgbClr val="A58BFF"/>
                </a:solidFill>
                <a:latin typeface="Noto Sans"/>
                <a:ea typeface="Noto Sans"/>
                <a:cs typeface="Noto Sans"/>
              </a:defRPr>
            </a:pPr>
            <a:r>
              <a:rPr sz="1950" b="1">
                <a:solidFill>
                  <a:srgbClr val="A58BFF"/>
                </a:solidFill>
                <a:latin typeface="Noto Sans"/>
                <a:ea typeface="Noto Sans"/>
                <a:cs typeface="Noto Sans"/>
              </a:rPr>
              <a:t>Administration</a:t>
            </a:r>
          </a:p>
        </p:txBody>
      </p:sp>
      <p:sp>
        <p:nvSpPr>
          <p:cNvPr id="10" name="Who can act, which definitions apply, and what changed?">
            <a:extLst xmlns:a="http://schemas.openxmlformats.org/drawingml/2006/main">
              <a:ext uri="{FF2B5EF4-FFF2-40B4-BE49-F238E27FC236}">
                <a16:creationId xmlns:a16="http://schemas.microsoft.com/office/drawing/2014/main" id="{381CE625-EAB3-4D92-9BA8-C63FA164639A}"/>
              </a:ext>
            </a:extLst>
          </p:cNvPr>
          <p:cNvSpPr>
            <a:spLocks xmlns:a="http://schemas.openxmlformats.org/drawingml/2006/main" noGrp="1"/>
          </p:cNvSpPr>
          <p:nvPr/>
        </p:nvSpPr>
        <p:spPr>
          <a:xfrm xmlns:a="http://schemas.openxmlformats.org/drawingml/2006/main">
            <a:off x="5314950" y="4962525"/>
            <a:ext cx="62674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B8C7D8"/>
                </a:solidFill>
                <a:latin typeface="Noto Sans"/>
                <a:ea typeface="Noto Sans"/>
                <a:cs typeface="Noto Sans"/>
              </a:defRPr>
            </a:pPr>
            <a:r>
              <a:rPr sz="1875" b="0">
                <a:solidFill>
                  <a:srgbClr val="B8C7D8"/>
                </a:solidFill>
                <a:latin typeface="Noto Sans"/>
                <a:ea typeface="Noto Sans"/>
                <a:cs typeface="Noto Sans"/>
              </a:rPr>
              <a:t>Who can act, which definitions apply, and what changed?</a:t>
            </a:r>
          </a:p>
        </p:txBody>
      </p:sp>
    </p:spTree>
    <p:extLst>
      <p:ext uri="{BB962C8B-B14F-4D97-AF65-F5344CB8AC3E}">
        <p14:creationId xmlns:p14="http://schemas.microsoft.com/office/powerpoint/2010/main" val="1543747485"/>
      </p:ext>
    </p:extLst>
  </p:cSld>
</p:sld>
</file>

<file path=ppt/slides/slide3.xml><?xml version="1.0" encoding="utf-8"?>
<p:sld xmlns:p="http://schemas.openxmlformats.org/presentationml/2006/main">
  <p:cSld>
    <p:bg>
      <p:bgPr>
        <a:solidFill xmlns:a="http://schemas.openxmlformats.org/drawingml/2006/main">
          <a:srgbClr val="0A1422"/>
        </a:solidFill>
      </p:bgPr>
    </p:bg>
    <p:spTree>
      <p:nvGrpSpPr>
        <p:cNvPr id="1" name=""/>
        <p:cNvGrpSpPr/>
        <p:nvPr/>
      </p:nvGrpSpPr>
      <p:grpSpPr>
        <a:xfrm xmlns:a="http://schemas.openxmlformats.org/drawingml/2006/main"/>
      </p:grpSpPr>
      <p:sp>
        <p:nvSpPr>
          <p:cNvPr id="16" name="Three connected work areas">
            <a:extLst xmlns:a="http://schemas.openxmlformats.org/drawingml/2006/main">
              <a:ext uri="{FF2B5EF4-FFF2-40B4-BE49-F238E27FC236}">
                <a16:creationId xmlns:a16="http://schemas.microsoft.com/office/drawing/2014/main" id="{1BA6214F-F906-45DC-A03A-A6BEFD0C8311}"/>
              </a:ext>
            </a:extLst>
          </p:cNvPr>
          <p:cNvSpPr>
            <a:spLocks xmlns:a="http://schemas.openxmlformats.org/drawingml/2006/main" noGrp="1"/>
          </p:cNvSpPr>
          <p:nvPr/>
        </p:nvSpPr>
        <p:spPr>
          <a:xfrm xmlns:a="http://schemas.openxmlformats.org/drawingml/2006/main">
            <a:off x="609600" y="43815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150" b="1">
                <a:solidFill>
                  <a:srgbClr val="EEF4FA"/>
                </a:solidFill>
                <a:latin typeface="Noto Sans"/>
                <a:ea typeface="Noto Sans"/>
                <a:cs typeface="Noto Sans"/>
              </a:defRPr>
            </a:pPr>
            <a:r>
              <a:rPr sz="3150" b="1">
                <a:solidFill>
                  <a:srgbClr val="EEF4FA"/>
                </a:solidFill>
                <a:latin typeface="Noto Sans"/>
                <a:ea typeface="Noto Sans"/>
                <a:cs typeface="Noto Sans"/>
              </a:rPr>
              <a:t>Three connected work areas</a:t>
            </a:r>
          </a:p>
        </p:txBody>
      </p:sp>
      <p:sp>
        <p:nvSpPr>
          <p:cNvPr id="2" name="NWTS">
            <a:extLst xmlns:a="http://schemas.openxmlformats.org/drawingml/2006/main">
              <a:ext uri="{FF2B5EF4-FFF2-40B4-BE49-F238E27FC236}">
                <a16:creationId xmlns:a16="http://schemas.microsoft.com/office/drawing/2014/main" id="{DC3F530F-275D-4F36-B8FE-EB1E0D9EFA6F}"/>
              </a:ext>
            </a:extLst>
          </p:cNvPr>
          <p:cNvSpPr>
            <a:spLocks xmlns:a="http://schemas.openxmlformats.org/drawingml/2006/main" noGrp="1"/>
          </p:cNvSpPr>
          <p:nvPr/>
        </p:nvSpPr>
        <p:spPr>
          <a:xfrm xmlns:a="http://schemas.openxmlformats.org/drawingml/2006/main">
            <a:off x="609600" y="6496050"/>
            <a:ext cx="4286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050" b="0">
                <a:solidFill>
                  <a:srgbClr val="B8C7D8"/>
                </a:solidFill>
                <a:latin typeface="Noto Sans"/>
                <a:ea typeface="Noto Sans"/>
                <a:cs typeface="Noto Sans"/>
              </a:defRPr>
            </a:pPr>
            <a:r>
              <a:rPr sz="1050" b="0">
                <a:solidFill>
                  <a:srgbClr val="B8C7D8"/>
                </a:solidFill>
                <a:latin typeface="Noto Sans"/>
                <a:ea typeface="Noto Sans"/>
                <a:cs typeface="Noto Sans"/>
              </a:rPr>
              <a:t>NWTS</a:t>
            </a:r>
          </a:p>
        </p:txBody>
      </p:sp>
      <p:sp>
        <p:nvSpPr>
          <p:cNvPr id="3" name="03">
            <a:extLst xmlns:a="http://schemas.openxmlformats.org/drawingml/2006/main">
              <a:ext uri="{FF2B5EF4-FFF2-40B4-BE49-F238E27FC236}">
                <a16:creationId xmlns:a16="http://schemas.microsoft.com/office/drawing/2014/main" id="{C58C534B-9670-4088-87CC-E5552EABABA9}"/>
              </a:ext>
            </a:extLst>
          </p:cNvPr>
          <p:cNvSpPr>
            <a:spLocks xmlns:a="http://schemas.openxmlformats.org/drawingml/2006/main" noGrp="1"/>
          </p:cNvSpPr>
          <p:nvPr/>
        </p:nvSpPr>
        <p:spPr>
          <a:xfrm xmlns:a="http://schemas.openxmlformats.org/drawingml/2006/main">
            <a:off x="11049000" y="6496050"/>
            <a:ext cx="5334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050" b="0">
                <a:solidFill>
                  <a:srgbClr val="B8C7D8"/>
                </a:solidFill>
                <a:latin typeface="Noto Sans"/>
                <a:ea typeface="Noto Sans"/>
                <a:cs typeface="Noto Sans"/>
              </a:defRPr>
            </a:pPr>
            <a:r>
              <a:rPr sz="1050" b="0">
                <a:solidFill>
                  <a:srgbClr val="B8C7D8"/>
                </a:solidFill>
                <a:latin typeface="Noto Sans"/>
                <a:ea typeface="Noto Sans"/>
                <a:cs typeface="Noto Sans"/>
              </a:rPr>
              <a:t>03</a:t>
            </a:r>
          </a:p>
        </p:txBody>
      </p:sp>
      <p:sp>
        <p:nvSpPr>
          <p:cNvPr id="4" name="01">
            <a:extLst xmlns:a="http://schemas.openxmlformats.org/drawingml/2006/main">
              <a:ext uri="{FF2B5EF4-FFF2-40B4-BE49-F238E27FC236}">
                <a16:creationId xmlns:a16="http://schemas.microsoft.com/office/drawing/2014/main" id="{DBA06120-6236-4ADE-8AAD-5686D56B1E40}"/>
              </a:ext>
            </a:extLst>
          </p:cNvPr>
          <p:cNvSpPr>
            <a:spLocks xmlns:a="http://schemas.openxmlformats.org/drawingml/2006/main" noGrp="1"/>
          </p:cNvSpPr>
          <p:nvPr/>
        </p:nvSpPr>
        <p:spPr>
          <a:xfrm xmlns:a="http://schemas.openxmlformats.org/drawingml/2006/main">
            <a:off x="609600" y="1676400"/>
            <a:ext cx="8096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700" b="1">
                <a:solidFill>
                  <a:srgbClr val="2BB8F2"/>
                </a:solidFill>
                <a:latin typeface="Noto Sans"/>
                <a:ea typeface="Noto Sans"/>
                <a:cs typeface="Noto Sans"/>
              </a:defRPr>
            </a:pPr>
            <a:r>
              <a:rPr sz="2700" b="1">
                <a:solidFill>
                  <a:srgbClr val="2BB8F2"/>
                </a:solidFill>
                <a:latin typeface="Noto Sans"/>
                <a:ea typeface="Noto Sans"/>
                <a:cs typeface="Noto Sans"/>
              </a:rPr>
              <a:t>01</a:t>
            </a:r>
          </a:p>
        </p:txBody>
      </p:sp>
      <p:sp>
        <p:nvSpPr>
          <p:cNvPr id="5" name="Shipments">
            <a:extLst xmlns:a="http://schemas.openxmlformats.org/drawingml/2006/main">
              <a:ext uri="{FF2B5EF4-FFF2-40B4-BE49-F238E27FC236}">
                <a16:creationId xmlns:a16="http://schemas.microsoft.com/office/drawing/2014/main" id="{00092D9C-134D-4C5C-A829-6FEA11FC2C93}"/>
              </a:ext>
            </a:extLst>
          </p:cNvPr>
          <p:cNvSpPr>
            <a:spLocks xmlns:a="http://schemas.openxmlformats.org/drawingml/2006/main" noGrp="1"/>
          </p:cNvSpPr>
          <p:nvPr/>
        </p:nvSpPr>
        <p:spPr>
          <a:xfrm xmlns:a="http://schemas.openxmlformats.org/drawingml/2006/main">
            <a:off x="609600" y="2228850"/>
            <a:ext cx="34766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1">
                <a:solidFill>
                  <a:srgbClr val="EEF4FA"/>
                </a:solidFill>
                <a:latin typeface="Noto Sans"/>
                <a:ea typeface="Noto Sans"/>
                <a:cs typeface="Noto Sans"/>
              </a:defRPr>
            </a:pPr>
            <a:r>
              <a:rPr sz="2100" b="1">
                <a:solidFill>
                  <a:srgbClr val="EEF4FA"/>
                </a:solidFill>
                <a:latin typeface="Noto Sans"/>
                <a:ea typeface="Noto Sans"/>
                <a:cs typeface="Noto Sans"/>
              </a:rPr>
              <a:t>Shipments</a:t>
            </a:r>
          </a:p>
        </p:txBody>
      </p:sp>
      <p:sp>
        <p:nvSpPr>
          <p:cNvPr id="6" name="Arrival and container profiles">
            <a:extLst xmlns:a="http://schemas.openxmlformats.org/drawingml/2006/main">
              <a:ext uri="{FF2B5EF4-FFF2-40B4-BE49-F238E27FC236}">
                <a16:creationId xmlns:a16="http://schemas.microsoft.com/office/drawing/2014/main" id="{EE384D56-2177-4F75-9BD2-D65C31A29DCC}"/>
              </a:ext>
            </a:extLst>
          </p:cNvPr>
          <p:cNvSpPr>
            <a:spLocks xmlns:a="http://schemas.openxmlformats.org/drawingml/2006/main" noGrp="1"/>
          </p:cNvSpPr>
          <p:nvPr/>
        </p:nvSpPr>
        <p:spPr>
          <a:xfrm xmlns:a="http://schemas.openxmlformats.org/drawingml/2006/main">
            <a:off x="609600" y="2724150"/>
            <a:ext cx="34766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B8C7D8"/>
                </a:solidFill>
                <a:latin typeface="Noto Sans"/>
                <a:ea typeface="Noto Sans"/>
                <a:cs typeface="Noto Sans"/>
              </a:defRPr>
            </a:pPr>
            <a:r>
              <a:rPr sz="1725" b="0">
                <a:solidFill>
                  <a:srgbClr val="B8C7D8"/>
                </a:solidFill>
                <a:latin typeface="Noto Sans"/>
                <a:ea typeface="Noto Sans"/>
                <a:cs typeface="Noto Sans"/>
              </a:rPr>
              <a:t>Arrival and container profiles</a:t>
            </a:r>
          </a:p>
        </p:txBody>
      </p:sp>
      <p:sp>
        <p:nvSpPr>
          <p:cNvPr id="7" name="02">
            <a:extLst xmlns:a="http://schemas.openxmlformats.org/drawingml/2006/main">
              <a:ext uri="{FF2B5EF4-FFF2-40B4-BE49-F238E27FC236}">
                <a16:creationId xmlns:a16="http://schemas.microsoft.com/office/drawing/2014/main" id="{D3948F6D-FD6C-4874-B521-64D97C1BF1D7}"/>
              </a:ext>
            </a:extLst>
          </p:cNvPr>
          <p:cNvSpPr>
            <a:spLocks xmlns:a="http://schemas.openxmlformats.org/drawingml/2006/main" noGrp="1"/>
          </p:cNvSpPr>
          <p:nvPr/>
        </p:nvSpPr>
        <p:spPr>
          <a:xfrm xmlns:a="http://schemas.openxmlformats.org/drawingml/2006/main">
            <a:off x="4324350" y="1676400"/>
            <a:ext cx="8096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700" b="1">
                <a:solidFill>
                  <a:srgbClr val="2ED3A0"/>
                </a:solidFill>
                <a:latin typeface="Noto Sans"/>
                <a:ea typeface="Noto Sans"/>
                <a:cs typeface="Noto Sans"/>
              </a:defRPr>
            </a:pPr>
            <a:r>
              <a:rPr sz="2700" b="1">
                <a:solidFill>
                  <a:srgbClr val="2ED3A0"/>
                </a:solidFill>
                <a:latin typeface="Noto Sans"/>
                <a:ea typeface="Noto Sans"/>
                <a:cs typeface="Noto Sans"/>
              </a:rPr>
              <a:t>02</a:t>
            </a:r>
          </a:p>
        </p:txBody>
      </p:sp>
      <p:sp>
        <p:nvSpPr>
          <p:cNvPr id="8" name="Pre-storage">
            <a:extLst xmlns:a="http://schemas.openxmlformats.org/drawingml/2006/main">
              <a:ext uri="{FF2B5EF4-FFF2-40B4-BE49-F238E27FC236}">
                <a16:creationId xmlns:a16="http://schemas.microsoft.com/office/drawing/2014/main" id="{11888918-F3BB-4EB1-AEA2-E10772EDA2F6}"/>
              </a:ext>
            </a:extLst>
          </p:cNvPr>
          <p:cNvSpPr>
            <a:spLocks xmlns:a="http://schemas.openxmlformats.org/drawingml/2006/main" noGrp="1"/>
          </p:cNvSpPr>
          <p:nvPr/>
        </p:nvSpPr>
        <p:spPr>
          <a:xfrm xmlns:a="http://schemas.openxmlformats.org/drawingml/2006/main">
            <a:off x="4324350" y="2228850"/>
            <a:ext cx="34766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1">
                <a:solidFill>
                  <a:srgbClr val="EEF4FA"/>
                </a:solidFill>
                <a:latin typeface="Noto Sans"/>
                <a:ea typeface="Noto Sans"/>
                <a:cs typeface="Noto Sans"/>
              </a:defRPr>
            </a:pPr>
            <a:r>
              <a:rPr sz="2100" b="1">
                <a:solidFill>
                  <a:srgbClr val="EEF4FA"/>
                </a:solidFill>
                <a:latin typeface="Noto Sans"/>
                <a:ea typeface="Noto Sans"/>
                <a:cs typeface="Noto Sans"/>
              </a:rPr>
              <a:t>Pre-storage</a:t>
            </a:r>
          </a:p>
        </p:txBody>
      </p:sp>
      <p:sp>
        <p:nvSpPr>
          <p:cNvPr id="9" name="Receipt, halls and handover">
            <a:extLst xmlns:a="http://schemas.openxmlformats.org/drawingml/2006/main">
              <a:ext uri="{FF2B5EF4-FFF2-40B4-BE49-F238E27FC236}">
                <a16:creationId xmlns:a16="http://schemas.microsoft.com/office/drawing/2014/main" id="{99E0BB3F-DABF-4099-A0CF-375CFD79275F}"/>
              </a:ext>
            </a:extLst>
          </p:cNvPr>
          <p:cNvSpPr>
            <a:spLocks xmlns:a="http://schemas.openxmlformats.org/drawingml/2006/main" noGrp="1"/>
          </p:cNvSpPr>
          <p:nvPr/>
        </p:nvSpPr>
        <p:spPr>
          <a:xfrm xmlns:a="http://schemas.openxmlformats.org/drawingml/2006/main">
            <a:off x="4324350" y="2724150"/>
            <a:ext cx="34766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B8C7D8"/>
                </a:solidFill>
                <a:latin typeface="Noto Sans"/>
                <a:ea typeface="Noto Sans"/>
                <a:cs typeface="Noto Sans"/>
              </a:defRPr>
            </a:pPr>
            <a:r>
              <a:rPr sz="1725" b="0">
                <a:solidFill>
                  <a:srgbClr val="B8C7D8"/>
                </a:solidFill>
                <a:latin typeface="Noto Sans"/>
                <a:ea typeface="Noto Sans"/>
                <a:cs typeface="Noto Sans"/>
              </a:rPr>
              <a:t>Receipt, halls and handover</a:t>
            </a:r>
          </a:p>
        </p:txBody>
      </p:sp>
      <p:sp>
        <p:nvSpPr>
          <p:cNvPr id="10" name="03">
            <a:extLst xmlns:a="http://schemas.openxmlformats.org/drawingml/2006/main">
              <a:ext uri="{FF2B5EF4-FFF2-40B4-BE49-F238E27FC236}">
                <a16:creationId xmlns:a16="http://schemas.microsoft.com/office/drawing/2014/main" id="{122891F1-48A7-42A1-A211-618F0D66B42F}"/>
              </a:ext>
            </a:extLst>
          </p:cNvPr>
          <p:cNvSpPr>
            <a:spLocks xmlns:a="http://schemas.openxmlformats.org/drawingml/2006/main" noGrp="1"/>
          </p:cNvSpPr>
          <p:nvPr/>
        </p:nvSpPr>
        <p:spPr>
          <a:xfrm xmlns:a="http://schemas.openxmlformats.org/drawingml/2006/main">
            <a:off x="8039100" y="1676400"/>
            <a:ext cx="8096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700" b="1">
                <a:solidFill>
                  <a:srgbClr val="A58BFF"/>
                </a:solidFill>
                <a:latin typeface="Noto Sans"/>
                <a:ea typeface="Noto Sans"/>
                <a:cs typeface="Noto Sans"/>
              </a:defRPr>
            </a:pPr>
            <a:r>
              <a:rPr sz="2700" b="1">
                <a:solidFill>
                  <a:srgbClr val="A58BFF"/>
                </a:solidFill>
                <a:latin typeface="Noto Sans"/>
                <a:ea typeface="Noto Sans"/>
                <a:cs typeface="Noto Sans"/>
              </a:rPr>
              <a:t>03</a:t>
            </a:r>
          </a:p>
        </p:txBody>
      </p:sp>
      <p:sp>
        <p:nvSpPr>
          <p:cNvPr id="11" name="Final storage">
            <a:extLst xmlns:a="http://schemas.openxmlformats.org/drawingml/2006/main">
              <a:ext uri="{FF2B5EF4-FFF2-40B4-BE49-F238E27FC236}">
                <a16:creationId xmlns:a16="http://schemas.microsoft.com/office/drawing/2014/main" id="{9584E4A9-9933-456F-9314-27D9A1D30DDE}"/>
              </a:ext>
            </a:extLst>
          </p:cNvPr>
          <p:cNvSpPr>
            <a:spLocks xmlns:a="http://schemas.openxmlformats.org/drawingml/2006/main" noGrp="1"/>
          </p:cNvSpPr>
          <p:nvPr/>
        </p:nvSpPr>
        <p:spPr>
          <a:xfrm xmlns:a="http://schemas.openxmlformats.org/drawingml/2006/main">
            <a:off x="8039100" y="2228850"/>
            <a:ext cx="34766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1">
                <a:solidFill>
                  <a:srgbClr val="EEF4FA"/>
                </a:solidFill>
                <a:latin typeface="Noto Sans"/>
                <a:ea typeface="Noto Sans"/>
                <a:cs typeface="Noto Sans"/>
              </a:defRPr>
            </a:pPr>
            <a:r>
              <a:rPr sz="2100" b="1">
                <a:solidFill>
                  <a:srgbClr val="EEF4FA"/>
                </a:solidFill>
                <a:latin typeface="Noto Sans"/>
                <a:ea typeface="Noto Sans"/>
                <a:cs typeface="Noto Sans"/>
              </a:rPr>
              <a:t>Final storage</a:t>
            </a:r>
          </a:p>
        </p:txBody>
      </p:sp>
      <p:sp>
        <p:nvSpPr>
          <p:cNvPr id="12" name="Transfer requests and receipt">
            <a:extLst xmlns:a="http://schemas.openxmlformats.org/drawingml/2006/main">
              <a:ext uri="{FF2B5EF4-FFF2-40B4-BE49-F238E27FC236}">
                <a16:creationId xmlns:a16="http://schemas.microsoft.com/office/drawing/2014/main" id="{965EB94B-F73A-4082-88E8-DF99387C40A6}"/>
              </a:ext>
            </a:extLst>
          </p:cNvPr>
          <p:cNvSpPr>
            <a:spLocks xmlns:a="http://schemas.openxmlformats.org/drawingml/2006/main" noGrp="1"/>
          </p:cNvSpPr>
          <p:nvPr/>
        </p:nvSpPr>
        <p:spPr>
          <a:xfrm xmlns:a="http://schemas.openxmlformats.org/drawingml/2006/main">
            <a:off x="8039100" y="2724150"/>
            <a:ext cx="34766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B8C7D8"/>
                </a:solidFill>
                <a:latin typeface="Noto Sans"/>
                <a:ea typeface="Noto Sans"/>
                <a:cs typeface="Noto Sans"/>
              </a:defRPr>
            </a:pPr>
            <a:r>
              <a:rPr sz="1725" b="0">
                <a:solidFill>
                  <a:srgbClr val="B8C7D8"/>
                </a:solidFill>
                <a:latin typeface="Noto Sans"/>
                <a:ea typeface="Noto Sans"/>
                <a:cs typeface="Noto Sans"/>
              </a:rPr>
              <a:t>Transfer requests and receipt</a:t>
            </a:r>
          </a:p>
        </p:txBody>
      </p:sp>
      <p:pic>
        <p:nvPicPr>
          <p:cNvPr id="28" name=""/>
          <p:cNvPicPr>
            <a:picLocks xmlns:a="http://schemas.openxmlformats.org/drawingml/2006/main" noChangeAspect="1"/>
          </p:cNvPicPr>
          <p:nvPr/>
        </p:nvPicPr>
        <p:blipFill>
          <a:blip xmlns:r="http://schemas.openxmlformats.org/officeDocument/2006/relationships" xmlns:a="http://schemas.openxmlformats.org/drawingml/2006/main" r:embed="R7f86ec1b6c0147a0"/>
          <a:srcRect xmlns:a="http://schemas.openxmlformats.org/drawingml/2006/main" l="22400" t="55000" r="3500" b="8500"/>
          <a:stretch xmlns:a="http://schemas.openxmlformats.org/drawingml/2006/main">
            <a:fillRect l="0" t="0" r="0" b="0"/>
          </a:stretch>
        </p:blipFill>
        <p:spPr>
          <a:xfrm xmlns:a="http://schemas.openxmlformats.org/drawingml/2006/main">
            <a:off x="1638300" y="3381375"/>
            <a:ext cx="8915400" cy="2457450"/>
          </a:xfrm>
          <a:prstGeom xmlns:a="http://schemas.openxmlformats.org/drawingml/2006/main" prst="rect">
            <a:avLst/>
          </a:prstGeom>
        </p:spPr>
      </p:pic>
      <p:sp>
        <p:nvSpPr>
          <p:cNvPr id="14" name="Application screenshots use demonstration data.">
            <a:extLst xmlns:a="http://schemas.openxmlformats.org/drawingml/2006/main">
              <a:ext uri="{FF2B5EF4-FFF2-40B4-BE49-F238E27FC236}">
                <a16:creationId xmlns:a16="http://schemas.microsoft.com/office/drawing/2014/main" id="{FFC46F29-4355-490E-A749-1C157B233854}"/>
              </a:ext>
            </a:extLst>
          </p:cNvPr>
          <p:cNvSpPr>
            <a:spLocks xmlns:a="http://schemas.openxmlformats.org/drawingml/2006/main" noGrp="1"/>
          </p:cNvSpPr>
          <p:nvPr/>
        </p:nvSpPr>
        <p:spPr>
          <a:xfrm xmlns:a="http://schemas.openxmlformats.org/drawingml/2006/main">
            <a:off x="609600" y="5876925"/>
            <a:ext cx="109728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975" b="0">
                <a:solidFill>
                  <a:srgbClr val="B8C7D8"/>
                </a:solidFill>
                <a:latin typeface="Noto Sans"/>
                <a:ea typeface="Noto Sans"/>
                <a:cs typeface="Noto Sans"/>
              </a:defRPr>
            </a:pPr>
            <a:r>
              <a:rPr sz="975" b="0">
                <a:solidFill>
                  <a:srgbClr val="B8C7D8"/>
                </a:solidFill>
                <a:latin typeface="Noto Sans"/>
                <a:ea typeface="Noto Sans"/>
                <a:cs typeface="Noto Sans"/>
              </a:rPr>
              <a:t>Application screenshots use demonstration data.</a:t>
            </a:r>
          </a:p>
        </p:txBody>
      </p:sp>
      <p:sp>
        <p:nvSpPr>
          <p:cNvPr id="15" name="Process steps describe the work. User roles define the permitted actio">
            <a:extLst xmlns:a="http://schemas.openxmlformats.org/drawingml/2006/main">
              <a:ext uri="{FF2B5EF4-FFF2-40B4-BE49-F238E27FC236}">
                <a16:creationId xmlns:a16="http://schemas.microsoft.com/office/drawing/2014/main" id="{C6C477F5-60B2-4D99-927E-921A922ACEA5}"/>
              </a:ext>
            </a:extLst>
          </p:cNvPr>
          <p:cNvSpPr>
            <a:spLocks xmlns:a="http://schemas.openxmlformats.org/drawingml/2006/main" noGrp="1"/>
          </p:cNvSpPr>
          <p:nvPr/>
        </p:nvSpPr>
        <p:spPr>
          <a:xfrm xmlns:a="http://schemas.openxmlformats.org/drawingml/2006/main">
            <a:off x="609600" y="6124575"/>
            <a:ext cx="109728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b="0">
                <a:solidFill>
                  <a:srgbClr val="B8C7D8"/>
                </a:solidFill>
                <a:latin typeface="Noto Sans"/>
                <a:ea typeface="Noto Sans"/>
                <a:cs typeface="Noto Sans"/>
              </a:defRPr>
            </a:pPr>
            <a:r>
              <a:rPr sz="1500" b="0">
                <a:solidFill>
                  <a:srgbClr val="B8C7D8"/>
                </a:solidFill>
                <a:latin typeface="Noto Sans"/>
                <a:ea typeface="Noto Sans"/>
                <a:cs typeface="Noto Sans"/>
              </a:rPr>
              <a:t>Process steps describe the work. User roles define the permitted actions.</a:t>
            </a:r>
          </a:p>
        </p:txBody>
      </p:sp>
    </p:spTree>
    <p:extLst>
      <p:ext uri="{BB962C8B-B14F-4D97-AF65-F5344CB8AC3E}">
        <p14:creationId xmlns:p14="http://schemas.microsoft.com/office/powerpoint/2010/main" val="1866144446"/>
      </p:ext>
    </p:extLst>
  </p:cSld>
</p:sld>
</file>

<file path=ppt/slides/slide4.xml><?xml version="1.0" encoding="utf-8"?>
<p:sld xmlns:p="http://schemas.openxmlformats.org/presentationml/2006/main">
  <p:cSld>
    <p:bg>
      <p:bgPr>
        <a:solidFill xmlns:a="http://schemas.openxmlformats.org/drawingml/2006/main">
          <a:srgbClr val="0A1422"/>
        </a:solidFill>
      </p:bgPr>
    </p:bg>
    <p:spTree>
      <p:nvGrpSpPr>
        <p:cNvPr id="1" name=""/>
        <p:cNvGrpSpPr/>
        <p:nvPr/>
      </p:nvGrpSpPr>
      <p:grpSpPr>
        <a:xfrm xmlns:a="http://schemas.openxmlformats.org/drawingml/2006/main"/>
      </p:grpSpPr>
      <p:sp>
        <p:nvSpPr>
          <p:cNvPr id="13" name="Step 1: Shipment records">
            <a:extLst xmlns:a="http://schemas.openxmlformats.org/drawingml/2006/main">
              <a:ext uri="{FF2B5EF4-FFF2-40B4-BE49-F238E27FC236}">
                <a16:creationId xmlns:a16="http://schemas.microsoft.com/office/drawing/2014/main" id="{68E4D6E2-0236-497F-A721-66CE983D45F8}"/>
              </a:ext>
            </a:extLst>
          </p:cNvPr>
          <p:cNvSpPr>
            <a:spLocks xmlns:a="http://schemas.openxmlformats.org/drawingml/2006/main" noGrp="1"/>
          </p:cNvSpPr>
          <p:nvPr/>
        </p:nvSpPr>
        <p:spPr>
          <a:xfrm xmlns:a="http://schemas.openxmlformats.org/drawingml/2006/main">
            <a:off x="609600" y="43815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150" b="1">
                <a:solidFill>
                  <a:srgbClr val="EEF4FA"/>
                </a:solidFill>
                <a:latin typeface="Noto Sans"/>
                <a:ea typeface="Noto Sans"/>
                <a:cs typeface="Noto Sans"/>
              </a:defRPr>
            </a:pPr>
            <a:r>
              <a:rPr sz="3150" b="1">
                <a:solidFill>
                  <a:srgbClr val="EEF4FA"/>
                </a:solidFill>
                <a:latin typeface="Noto Sans"/>
                <a:ea typeface="Noto Sans"/>
                <a:cs typeface="Noto Sans"/>
              </a:rPr>
              <a:t>Step 1: Shipment records</a:t>
            </a:r>
          </a:p>
        </p:txBody>
      </p:sp>
      <p:sp>
        <p:nvSpPr>
          <p:cNvPr id="2" name="NWTS">
            <a:extLst xmlns:a="http://schemas.openxmlformats.org/drawingml/2006/main">
              <a:ext uri="{FF2B5EF4-FFF2-40B4-BE49-F238E27FC236}">
                <a16:creationId xmlns:a16="http://schemas.microsoft.com/office/drawing/2014/main" id="{D4E0A874-F3F9-4F32-8811-B4F67E1A0871}"/>
              </a:ext>
            </a:extLst>
          </p:cNvPr>
          <p:cNvSpPr>
            <a:spLocks xmlns:a="http://schemas.openxmlformats.org/drawingml/2006/main" noGrp="1"/>
          </p:cNvSpPr>
          <p:nvPr/>
        </p:nvSpPr>
        <p:spPr>
          <a:xfrm xmlns:a="http://schemas.openxmlformats.org/drawingml/2006/main">
            <a:off x="609600" y="6496050"/>
            <a:ext cx="4286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050" b="0">
                <a:solidFill>
                  <a:srgbClr val="B8C7D8"/>
                </a:solidFill>
                <a:latin typeface="Noto Sans"/>
                <a:ea typeface="Noto Sans"/>
                <a:cs typeface="Noto Sans"/>
              </a:defRPr>
            </a:pPr>
            <a:r>
              <a:rPr sz="1050" b="0">
                <a:solidFill>
                  <a:srgbClr val="B8C7D8"/>
                </a:solidFill>
                <a:latin typeface="Noto Sans"/>
                <a:ea typeface="Noto Sans"/>
                <a:cs typeface="Noto Sans"/>
              </a:rPr>
              <a:t>NWTS</a:t>
            </a:r>
          </a:p>
        </p:txBody>
      </p:sp>
      <p:sp>
        <p:nvSpPr>
          <p:cNvPr id="3" name="04">
            <a:extLst xmlns:a="http://schemas.openxmlformats.org/drawingml/2006/main">
              <a:ext uri="{FF2B5EF4-FFF2-40B4-BE49-F238E27FC236}">
                <a16:creationId xmlns:a16="http://schemas.microsoft.com/office/drawing/2014/main" id="{3DE8D2F7-9F6E-40D3-BB9F-4A644F5D6523}"/>
              </a:ext>
            </a:extLst>
          </p:cNvPr>
          <p:cNvSpPr>
            <a:spLocks xmlns:a="http://schemas.openxmlformats.org/drawingml/2006/main" noGrp="1"/>
          </p:cNvSpPr>
          <p:nvPr/>
        </p:nvSpPr>
        <p:spPr>
          <a:xfrm xmlns:a="http://schemas.openxmlformats.org/drawingml/2006/main">
            <a:off x="11049000" y="6496050"/>
            <a:ext cx="5334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050" b="0">
                <a:solidFill>
                  <a:srgbClr val="B8C7D8"/>
                </a:solidFill>
                <a:latin typeface="Noto Sans"/>
                <a:ea typeface="Noto Sans"/>
                <a:cs typeface="Noto Sans"/>
              </a:defRPr>
            </a:pPr>
            <a:r>
              <a:rPr sz="1050" b="0">
                <a:solidFill>
                  <a:srgbClr val="B8C7D8"/>
                </a:solidFill>
                <a:latin typeface="Noto Sans"/>
                <a:ea typeface="Noto Sans"/>
                <a:cs typeface="Noto Sans"/>
              </a:rPr>
              <a:t>04</a:t>
            </a:r>
          </a:p>
        </p:txBody>
      </p:sp>
      <p:sp>
        <p:nvSpPr>
          <p:cNvPr id="4" name="Arrival">
            <a:extLst xmlns:a="http://schemas.openxmlformats.org/drawingml/2006/main">
              <a:ext uri="{FF2B5EF4-FFF2-40B4-BE49-F238E27FC236}">
                <a16:creationId xmlns:a16="http://schemas.microsoft.com/office/drawing/2014/main" id="{53E29EAF-A219-4699-9E87-DFDD2C264541}"/>
              </a:ext>
            </a:extLst>
          </p:cNvPr>
          <p:cNvSpPr>
            <a:spLocks xmlns:a="http://schemas.openxmlformats.org/drawingml/2006/main" noGrp="1"/>
          </p:cNvSpPr>
          <p:nvPr/>
        </p:nvSpPr>
        <p:spPr>
          <a:xfrm xmlns:a="http://schemas.openxmlformats.org/drawingml/2006/main">
            <a:off x="609600" y="1685925"/>
            <a:ext cx="31527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950" b="1">
                <a:solidFill>
                  <a:srgbClr val="2BB8F2"/>
                </a:solidFill>
                <a:latin typeface="Noto Sans"/>
                <a:ea typeface="Noto Sans"/>
                <a:cs typeface="Noto Sans"/>
              </a:defRPr>
            </a:pPr>
            <a:r>
              <a:rPr sz="1950" b="1">
                <a:solidFill>
                  <a:srgbClr val="2BB8F2"/>
                </a:solidFill>
                <a:latin typeface="Noto Sans"/>
                <a:ea typeface="Noto Sans"/>
                <a:cs typeface="Noto Sans"/>
              </a:rPr>
              <a:t>Arrival</a:t>
            </a:r>
          </a:p>
        </p:txBody>
      </p:sp>
      <p:sp>
        <p:nvSpPr>
          <p:cNvPr id="5" name="Company, driver, registration plates and arrival time.">
            <a:extLst xmlns:a="http://schemas.openxmlformats.org/drawingml/2006/main">
              <a:ext uri="{FF2B5EF4-FFF2-40B4-BE49-F238E27FC236}">
                <a16:creationId xmlns:a16="http://schemas.microsoft.com/office/drawing/2014/main" id="{CFDCD2A0-3D16-466A-AE41-6118B2E8D6A0}"/>
              </a:ext>
            </a:extLst>
          </p:cNvPr>
          <p:cNvSpPr>
            <a:spLocks xmlns:a="http://schemas.openxmlformats.org/drawingml/2006/main" noGrp="1"/>
          </p:cNvSpPr>
          <p:nvPr/>
        </p:nvSpPr>
        <p:spPr>
          <a:xfrm xmlns:a="http://schemas.openxmlformats.org/drawingml/2006/main">
            <a:off x="609600" y="2095500"/>
            <a:ext cx="3152775"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B8C7D8"/>
                </a:solidFill>
                <a:latin typeface="Noto Sans"/>
                <a:ea typeface="Noto Sans"/>
                <a:cs typeface="Noto Sans"/>
              </a:defRPr>
            </a:pPr>
            <a:r>
              <a:rPr sz="1725" b="0">
                <a:solidFill>
                  <a:srgbClr val="B8C7D8"/>
                </a:solidFill>
                <a:latin typeface="Noto Sans"/>
                <a:ea typeface="Noto Sans"/>
                <a:cs typeface="Noto Sans"/>
              </a:rPr>
              <a:t>Company, driver, registration plates and arrival time.</a:t>
            </a:r>
          </a:p>
        </p:txBody>
      </p:sp>
      <p:sp>
        <p:nvSpPr>
          <p:cNvPr id="6" name="Contents">
            <a:extLst xmlns:a="http://schemas.openxmlformats.org/drawingml/2006/main">
              <a:ext uri="{FF2B5EF4-FFF2-40B4-BE49-F238E27FC236}">
                <a16:creationId xmlns:a16="http://schemas.microsoft.com/office/drawing/2014/main" id="{0AF3B1E2-B33A-448E-B656-B87922CD9A4D}"/>
              </a:ext>
            </a:extLst>
          </p:cNvPr>
          <p:cNvSpPr>
            <a:spLocks xmlns:a="http://schemas.openxmlformats.org/drawingml/2006/main" noGrp="1"/>
          </p:cNvSpPr>
          <p:nvPr/>
        </p:nvSpPr>
        <p:spPr>
          <a:xfrm xmlns:a="http://schemas.openxmlformats.org/drawingml/2006/main">
            <a:off x="609600" y="2990850"/>
            <a:ext cx="31527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950" b="1">
                <a:solidFill>
                  <a:srgbClr val="2ED3A0"/>
                </a:solidFill>
                <a:latin typeface="Noto Sans"/>
                <a:ea typeface="Noto Sans"/>
                <a:cs typeface="Noto Sans"/>
              </a:defRPr>
            </a:pPr>
            <a:r>
              <a:rPr sz="1950" b="1">
                <a:solidFill>
                  <a:srgbClr val="2ED3A0"/>
                </a:solidFill>
                <a:latin typeface="Noto Sans"/>
                <a:ea typeface="Noto Sans"/>
                <a:cs typeface="Noto Sans"/>
              </a:rPr>
              <a:t>Contents</a:t>
            </a:r>
          </a:p>
        </p:txBody>
      </p:sp>
      <p:sp>
        <p:nvSpPr>
          <p:cNvPr id="7" name="Quantity, origin, waste profile and container type.">
            <a:extLst xmlns:a="http://schemas.openxmlformats.org/drawingml/2006/main">
              <a:ext uri="{FF2B5EF4-FFF2-40B4-BE49-F238E27FC236}">
                <a16:creationId xmlns:a16="http://schemas.microsoft.com/office/drawing/2014/main" id="{0FF63176-5FAD-46A1-9CE9-985982A7B3C1}"/>
              </a:ext>
            </a:extLst>
          </p:cNvPr>
          <p:cNvSpPr>
            <a:spLocks xmlns:a="http://schemas.openxmlformats.org/drawingml/2006/main" noGrp="1"/>
          </p:cNvSpPr>
          <p:nvPr/>
        </p:nvSpPr>
        <p:spPr>
          <a:xfrm xmlns:a="http://schemas.openxmlformats.org/drawingml/2006/main">
            <a:off x="609600" y="3400425"/>
            <a:ext cx="3152775"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B8C7D8"/>
                </a:solidFill>
                <a:latin typeface="Noto Sans"/>
                <a:ea typeface="Noto Sans"/>
                <a:cs typeface="Noto Sans"/>
              </a:defRPr>
            </a:pPr>
            <a:r>
              <a:rPr sz="1725" b="0">
                <a:solidFill>
                  <a:srgbClr val="B8C7D8"/>
                </a:solidFill>
                <a:latin typeface="Noto Sans"/>
                <a:ea typeface="Noto Sans"/>
                <a:cs typeface="Noto Sans"/>
              </a:rPr>
              <a:t>Quantity, origin, waste profile and container type.</a:t>
            </a:r>
          </a:p>
        </p:txBody>
      </p:sp>
      <p:sp>
        <p:nvSpPr>
          <p:cNvPr id="8" name="Departure">
            <a:extLst xmlns:a="http://schemas.openxmlformats.org/drawingml/2006/main">
              <a:ext uri="{FF2B5EF4-FFF2-40B4-BE49-F238E27FC236}">
                <a16:creationId xmlns:a16="http://schemas.microsoft.com/office/drawing/2014/main" id="{FAD54FEB-5D5F-4714-913D-24419A7E73D3}"/>
              </a:ext>
            </a:extLst>
          </p:cNvPr>
          <p:cNvSpPr>
            <a:spLocks xmlns:a="http://schemas.openxmlformats.org/drawingml/2006/main" noGrp="1"/>
          </p:cNvSpPr>
          <p:nvPr/>
        </p:nvSpPr>
        <p:spPr>
          <a:xfrm xmlns:a="http://schemas.openxmlformats.org/drawingml/2006/main">
            <a:off x="609600" y="4295775"/>
            <a:ext cx="31527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950" b="1">
                <a:solidFill>
                  <a:srgbClr val="A58BFF"/>
                </a:solidFill>
                <a:latin typeface="Noto Sans"/>
                <a:ea typeface="Noto Sans"/>
                <a:cs typeface="Noto Sans"/>
              </a:defRPr>
            </a:pPr>
            <a:r>
              <a:rPr sz="1950" b="1">
                <a:solidFill>
                  <a:srgbClr val="A58BFF"/>
                </a:solidFill>
                <a:latin typeface="Noto Sans"/>
                <a:ea typeface="Noto Sans"/>
                <a:cs typeface="Noto Sans"/>
              </a:rPr>
              <a:t>Departure</a:t>
            </a:r>
          </a:p>
        </p:txBody>
      </p:sp>
      <p:sp>
        <p:nvSpPr>
          <p:cNvPr id="9" name="Recorded departure with controlled corrections.">
            <a:extLst xmlns:a="http://schemas.openxmlformats.org/drawingml/2006/main">
              <a:ext uri="{FF2B5EF4-FFF2-40B4-BE49-F238E27FC236}">
                <a16:creationId xmlns:a16="http://schemas.microsoft.com/office/drawing/2014/main" id="{8B1005DD-5A93-4706-BE34-C26323790017}"/>
              </a:ext>
            </a:extLst>
          </p:cNvPr>
          <p:cNvSpPr>
            <a:spLocks xmlns:a="http://schemas.openxmlformats.org/drawingml/2006/main" noGrp="1"/>
          </p:cNvSpPr>
          <p:nvPr/>
        </p:nvSpPr>
        <p:spPr>
          <a:xfrm xmlns:a="http://schemas.openxmlformats.org/drawingml/2006/main">
            <a:off x="609600" y="4705350"/>
            <a:ext cx="3152775"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B8C7D8"/>
                </a:solidFill>
                <a:latin typeface="Noto Sans"/>
                <a:ea typeface="Noto Sans"/>
                <a:cs typeface="Noto Sans"/>
              </a:defRPr>
            </a:pPr>
            <a:r>
              <a:rPr sz="1725" b="0">
                <a:solidFill>
                  <a:srgbClr val="B8C7D8"/>
                </a:solidFill>
                <a:latin typeface="Noto Sans"/>
                <a:ea typeface="Noto Sans"/>
                <a:cs typeface="Noto Sans"/>
              </a:rPr>
              <a:t>Recorded departure with controlled corrections.</a:t>
            </a:r>
          </a:p>
        </p:txBody>
      </p:sp>
      <p:pic>
        <p:nvPicPr>
          <p:cNvPr id="22" name=""/>
          <p:cNvPicPr>
            <a:picLocks xmlns:a="http://schemas.openxmlformats.org/drawingml/2006/main" noChangeAspect="1"/>
          </p:cNvPicPr>
          <p:nvPr/>
        </p:nvPicPr>
        <p:blipFill>
          <a:blip xmlns:r="http://schemas.openxmlformats.org/officeDocument/2006/relationships" xmlns:a="http://schemas.openxmlformats.org/drawingml/2006/main" r:embed="R9babffc5bf2e42d6"/>
          <a:srcRect xmlns:a="http://schemas.openxmlformats.org/drawingml/2006/main" l="21400" t="10500" r="3000" b="1500"/>
          <a:stretch xmlns:a="http://schemas.openxmlformats.org/drawingml/2006/main">
            <a:fillRect l="0" t="0" r="0" b="0"/>
          </a:stretch>
        </p:blipFill>
        <p:spPr>
          <a:xfrm xmlns:a="http://schemas.openxmlformats.org/drawingml/2006/main">
            <a:off x="4152900" y="1466850"/>
            <a:ext cx="7429500" cy="4762500"/>
          </a:xfrm>
          <a:prstGeom xmlns:a="http://schemas.openxmlformats.org/drawingml/2006/main" prst="rect">
            <a:avLst/>
          </a:prstGeom>
        </p:spPr>
      </p:pic>
      <p:sp>
        <p:nvSpPr>
          <p:cNvPr id="11" name="Application screenshots use demonstration data.">
            <a:extLst xmlns:a="http://schemas.openxmlformats.org/drawingml/2006/main">
              <a:ext uri="{FF2B5EF4-FFF2-40B4-BE49-F238E27FC236}">
                <a16:creationId xmlns:a16="http://schemas.microsoft.com/office/drawing/2014/main" id="{F4D68CFC-6275-4242-B512-5910AC719990}"/>
              </a:ext>
            </a:extLst>
          </p:cNvPr>
          <p:cNvSpPr>
            <a:spLocks xmlns:a="http://schemas.openxmlformats.org/drawingml/2006/main" noGrp="1"/>
          </p:cNvSpPr>
          <p:nvPr/>
        </p:nvSpPr>
        <p:spPr>
          <a:xfrm xmlns:a="http://schemas.openxmlformats.org/drawingml/2006/main">
            <a:off x="4248150" y="6248400"/>
            <a:ext cx="7239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975" b="0">
                <a:solidFill>
                  <a:srgbClr val="B8C7D8"/>
                </a:solidFill>
                <a:latin typeface="Noto Sans"/>
                <a:ea typeface="Noto Sans"/>
                <a:cs typeface="Noto Sans"/>
              </a:defRPr>
            </a:pPr>
            <a:r>
              <a:rPr sz="975" b="0">
                <a:solidFill>
                  <a:srgbClr val="B8C7D8"/>
                </a:solidFill>
                <a:latin typeface="Noto Sans"/>
                <a:ea typeface="Noto Sans"/>
                <a:cs typeface="Noto Sans"/>
              </a:rPr>
              <a:t>Application screenshots use demonstration data.</a:t>
            </a:r>
          </a:p>
        </p:txBody>
      </p:sp>
      <p:sp>
        <p:nvSpPr>
          <p:cNvPr id="12" name="Example: 15 containers in one profile and 12 in another.">
            <a:extLst xmlns:a="http://schemas.openxmlformats.org/drawingml/2006/main">
              <a:ext uri="{FF2B5EF4-FFF2-40B4-BE49-F238E27FC236}">
                <a16:creationId xmlns:a16="http://schemas.microsoft.com/office/drawing/2014/main" id="{C916B651-A7F7-41E8-9B7A-F376FAFA3477}"/>
              </a:ext>
            </a:extLst>
          </p:cNvPr>
          <p:cNvSpPr>
            <a:spLocks xmlns:a="http://schemas.openxmlformats.org/drawingml/2006/main" noGrp="1"/>
          </p:cNvSpPr>
          <p:nvPr/>
        </p:nvSpPr>
        <p:spPr>
          <a:xfrm xmlns:a="http://schemas.openxmlformats.org/drawingml/2006/main">
            <a:off x="609600" y="5857875"/>
            <a:ext cx="3152775"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425" b="0">
                <a:solidFill>
                  <a:srgbClr val="EEF4FA"/>
                </a:solidFill>
                <a:latin typeface="Noto Sans"/>
                <a:ea typeface="Noto Sans"/>
                <a:cs typeface="Noto Sans"/>
              </a:defRPr>
            </a:pPr>
            <a:r>
              <a:rPr sz="1425" b="0">
                <a:solidFill>
                  <a:srgbClr val="EEF4FA"/>
                </a:solidFill>
                <a:latin typeface="Noto Sans"/>
                <a:ea typeface="Noto Sans"/>
                <a:cs typeface="Noto Sans"/>
              </a:rPr>
              <a:t>Example: 15 containers in one profile and 12 in another.</a:t>
            </a:r>
          </a:p>
        </p:txBody>
      </p:sp>
    </p:spTree>
    <p:extLst>
      <p:ext uri="{BB962C8B-B14F-4D97-AF65-F5344CB8AC3E}">
        <p14:creationId xmlns:p14="http://schemas.microsoft.com/office/powerpoint/2010/main" val="29165157"/>
      </p:ext>
    </p:extLst>
  </p:cSld>
</p:sld>
</file>

<file path=ppt/slides/slide5.xml><?xml version="1.0" encoding="utf-8"?>
<p:sld xmlns:p="http://schemas.openxmlformats.org/presentationml/2006/main">
  <p:cSld>
    <p:bg>
      <p:bgPr>
        <a:solidFill xmlns:a="http://schemas.openxmlformats.org/drawingml/2006/main">
          <a:srgbClr val="0A1422"/>
        </a:solidFill>
      </p:bgPr>
    </p:bg>
    <p:spTree>
      <p:nvGrpSpPr>
        <p:cNvPr id="1" name=""/>
        <p:cNvGrpSpPr/>
        <p:nvPr/>
      </p:nvGrpSpPr>
      <p:grpSpPr>
        <a:xfrm xmlns:a="http://schemas.openxmlformats.org/drawingml/2006/main"/>
      </p:grpSpPr>
      <p:sp>
        <p:nvSpPr>
          <p:cNvPr id="13" name="Step 2: Pre-storage">
            <a:extLst xmlns:a="http://schemas.openxmlformats.org/drawingml/2006/main">
              <a:ext uri="{FF2B5EF4-FFF2-40B4-BE49-F238E27FC236}">
                <a16:creationId xmlns:a16="http://schemas.microsoft.com/office/drawing/2014/main" id="{02177906-E671-4091-89EE-569C9CCFC5D0}"/>
              </a:ext>
            </a:extLst>
          </p:cNvPr>
          <p:cNvSpPr>
            <a:spLocks xmlns:a="http://schemas.openxmlformats.org/drawingml/2006/main" noGrp="1"/>
          </p:cNvSpPr>
          <p:nvPr/>
        </p:nvSpPr>
        <p:spPr>
          <a:xfrm xmlns:a="http://schemas.openxmlformats.org/drawingml/2006/main">
            <a:off x="609600" y="43815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150" b="1">
                <a:solidFill>
                  <a:srgbClr val="EEF4FA"/>
                </a:solidFill>
                <a:latin typeface="Noto Sans"/>
                <a:ea typeface="Noto Sans"/>
                <a:cs typeface="Noto Sans"/>
              </a:defRPr>
            </a:pPr>
            <a:r>
              <a:rPr sz="3150" b="1">
                <a:solidFill>
                  <a:srgbClr val="EEF4FA"/>
                </a:solidFill>
                <a:latin typeface="Noto Sans"/>
                <a:ea typeface="Noto Sans"/>
                <a:cs typeface="Noto Sans"/>
              </a:rPr>
              <a:t>Step 2: Pre-storage</a:t>
            </a:r>
          </a:p>
        </p:txBody>
      </p:sp>
      <p:sp>
        <p:nvSpPr>
          <p:cNvPr id="2" name="NWTS">
            <a:extLst xmlns:a="http://schemas.openxmlformats.org/drawingml/2006/main">
              <a:ext uri="{FF2B5EF4-FFF2-40B4-BE49-F238E27FC236}">
                <a16:creationId xmlns:a16="http://schemas.microsoft.com/office/drawing/2014/main" id="{A20CA9E3-F394-4566-B46F-0B4DAC043E72}"/>
              </a:ext>
            </a:extLst>
          </p:cNvPr>
          <p:cNvSpPr>
            <a:spLocks xmlns:a="http://schemas.openxmlformats.org/drawingml/2006/main" noGrp="1"/>
          </p:cNvSpPr>
          <p:nvPr/>
        </p:nvSpPr>
        <p:spPr>
          <a:xfrm xmlns:a="http://schemas.openxmlformats.org/drawingml/2006/main">
            <a:off x="609600" y="6496050"/>
            <a:ext cx="4286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050" b="0">
                <a:solidFill>
                  <a:srgbClr val="B8C7D8"/>
                </a:solidFill>
                <a:latin typeface="Noto Sans"/>
                <a:ea typeface="Noto Sans"/>
                <a:cs typeface="Noto Sans"/>
              </a:defRPr>
            </a:pPr>
            <a:r>
              <a:rPr sz="1050" b="0">
                <a:solidFill>
                  <a:srgbClr val="B8C7D8"/>
                </a:solidFill>
                <a:latin typeface="Noto Sans"/>
                <a:ea typeface="Noto Sans"/>
                <a:cs typeface="Noto Sans"/>
              </a:rPr>
              <a:t>NWTS</a:t>
            </a:r>
          </a:p>
        </p:txBody>
      </p:sp>
      <p:sp>
        <p:nvSpPr>
          <p:cNvPr id="3" name="05">
            <a:extLst xmlns:a="http://schemas.openxmlformats.org/drawingml/2006/main">
              <a:ext uri="{FF2B5EF4-FFF2-40B4-BE49-F238E27FC236}">
                <a16:creationId xmlns:a16="http://schemas.microsoft.com/office/drawing/2014/main" id="{C319F4C1-0AA6-4270-90D7-85BE94E2AF86}"/>
              </a:ext>
            </a:extLst>
          </p:cNvPr>
          <p:cNvSpPr>
            <a:spLocks xmlns:a="http://schemas.openxmlformats.org/drawingml/2006/main" noGrp="1"/>
          </p:cNvSpPr>
          <p:nvPr/>
        </p:nvSpPr>
        <p:spPr>
          <a:xfrm xmlns:a="http://schemas.openxmlformats.org/drawingml/2006/main">
            <a:off x="11049000" y="6496050"/>
            <a:ext cx="5334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050" b="0">
                <a:solidFill>
                  <a:srgbClr val="B8C7D8"/>
                </a:solidFill>
                <a:latin typeface="Noto Sans"/>
                <a:ea typeface="Noto Sans"/>
                <a:cs typeface="Noto Sans"/>
              </a:defRPr>
            </a:pPr>
            <a:r>
              <a:rPr sz="1050" b="0">
                <a:solidFill>
                  <a:srgbClr val="B8C7D8"/>
                </a:solidFill>
                <a:latin typeface="Noto Sans"/>
                <a:ea typeface="Noto Sans"/>
                <a:cs typeface="Noto Sans"/>
              </a:rPr>
              <a:t>05</a:t>
            </a:r>
          </a:p>
        </p:txBody>
      </p:sp>
      <p:sp>
        <p:nvSpPr>
          <p:cNvPr id="4" name="Receipt">
            <a:extLst xmlns:a="http://schemas.openxmlformats.org/drawingml/2006/main">
              <a:ext uri="{FF2B5EF4-FFF2-40B4-BE49-F238E27FC236}">
                <a16:creationId xmlns:a16="http://schemas.microsoft.com/office/drawing/2014/main" id="{3AD83807-C0CF-4183-BEDD-50FA90800D1A}"/>
              </a:ext>
            </a:extLst>
          </p:cNvPr>
          <p:cNvSpPr>
            <a:spLocks xmlns:a="http://schemas.openxmlformats.org/drawingml/2006/main" noGrp="1"/>
          </p:cNvSpPr>
          <p:nvPr/>
        </p:nvSpPr>
        <p:spPr>
          <a:xfrm xmlns:a="http://schemas.openxmlformats.org/drawingml/2006/main">
            <a:off x="609600" y="1685925"/>
            <a:ext cx="31527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950" b="1">
                <a:solidFill>
                  <a:srgbClr val="2BB8F2"/>
                </a:solidFill>
                <a:latin typeface="Noto Sans"/>
                <a:ea typeface="Noto Sans"/>
                <a:cs typeface="Noto Sans"/>
              </a:defRPr>
            </a:pPr>
            <a:r>
              <a:rPr sz="1950" b="1">
                <a:solidFill>
                  <a:srgbClr val="2BB8F2"/>
                </a:solidFill>
                <a:latin typeface="Noto Sans"/>
                <a:ea typeface="Noto Sans"/>
                <a:cs typeface="Noto Sans"/>
              </a:rPr>
              <a:t>Receipt</a:t>
            </a:r>
          </a:p>
        </p:txBody>
      </p:sp>
      <p:sp>
        <p:nvSpPr>
          <p:cNvPr id="5" name="Review incoming profiles and record acceptance into a hall.">
            <a:extLst xmlns:a="http://schemas.openxmlformats.org/drawingml/2006/main">
              <a:ext uri="{FF2B5EF4-FFF2-40B4-BE49-F238E27FC236}">
                <a16:creationId xmlns:a16="http://schemas.microsoft.com/office/drawing/2014/main" id="{7554F5EB-D43B-4C36-A1A3-191DF14BE2DB}"/>
              </a:ext>
            </a:extLst>
          </p:cNvPr>
          <p:cNvSpPr>
            <a:spLocks xmlns:a="http://schemas.openxmlformats.org/drawingml/2006/main" noGrp="1"/>
          </p:cNvSpPr>
          <p:nvPr/>
        </p:nvSpPr>
        <p:spPr>
          <a:xfrm xmlns:a="http://schemas.openxmlformats.org/drawingml/2006/main">
            <a:off x="609600" y="2095500"/>
            <a:ext cx="3152775"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B8C7D8"/>
                </a:solidFill>
                <a:latin typeface="Noto Sans"/>
                <a:ea typeface="Noto Sans"/>
                <a:cs typeface="Noto Sans"/>
              </a:defRPr>
            </a:pPr>
            <a:r>
              <a:rPr sz="1725" b="0">
                <a:solidFill>
                  <a:srgbClr val="B8C7D8"/>
                </a:solidFill>
                <a:latin typeface="Noto Sans"/>
                <a:ea typeface="Noto Sans"/>
                <a:cs typeface="Noto Sans"/>
              </a:rPr>
              <a:t>Review incoming profiles and record acceptance into a hall.</a:t>
            </a:r>
          </a:p>
        </p:txBody>
      </p:sp>
      <p:sp>
        <p:nvSpPr>
          <p:cNvPr id="6" name="Storage">
            <a:extLst xmlns:a="http://schemas.openxmlformats.org/drawingml/2006/main">
              <a:ext uri="{FF2B5EF4-FFF2-40B4-BE49-F238E27FC236}">
                <a16:creationId xmlns:a16="http://schemas.microsoft.com/office/drawing/2014/main" id="{DEFB9DF1-DCD0-4B98-96F2-3306121C54A7}"/>
              </a:ext>
            </a:extLst>
          </p:cNvPr>
          <p:cNvSpPr>
            <a:spLocks xmlns:a="http://schemas.openxmlformats.org/drawingml/2006/main" noGrp="1"/>
          </p:cNvSpPr>
          <p:nvPr/>
        </p:nvSpPr>
        <p:spPr>
          <a:xfrm xmlns:a="http://schemas.openxmlformats.org/drawingml/2006/main">
            <a:off x="609600" y="2990850"/>
            <a:ext cx="31527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950" b="1">
                <a:solidFill>
                  <a:srgbClr val="2ED3A0"/>
                </a:solidFill>
                <a:latin typeface="Noto Sans"/>
                <a:ea typeface="Noto Sans"/>
                <a:cs typeface="Noto Sans"/>
              </a:defRPr>
            </a:pPr>
            <a:r>
              <a:rPr sz="1950" b="1">
                <a:solidFill>
                  <a:srgbClr val="2ED3A0"/>
                </a:solidFill>
                <a:latin typeface="Noto Sans"/>
                <a:ea typeface="Noto Sans"/>
                <a:cs typeface="Noto Sans"/>
              </a:rPr>
              <a:t>Storage</a:t>
            </a:r>
          </a:p>
        </p:txBody>
      </p:sp>
      <p:sp>
        <p:nvSpPr>
          <p:cNvPr id="7" name="See recorded quantities, available space and conditions.">
            <a:extLst xmlns:a="http://schemas.openxmlformats.org/drawingml/2006/main">
              <a:ext uri="{FF2B5EF4-FFF2-40B4-BE49-F238E27FC236}">
                <a16:creationId xmlns:a16="http://schemas.microsoft.com/office/drawing/2014/main" id="{FE8C65F6-5581-445D-BCEF-48795045939C}"/>
              </a:ext>
            </a:extLst>
          </p:cNvPr>
          <p:cNvSpPr>
            <a:spLocks xmlns:a="http://schemas.openxmlformats.org/drawingml/2006/main" noGrp="1"/>
          </p:cNvSpPr>
          <p:nvPr/>
        </p:nvSpPr>
        <p:spPr>
          <a:xfrm xmlns:a="http://schemas.openxmlformats.org/drawingml/2006/main">
            <a:off x="609600" y="3400425"/>
            <a:ext cx="3152775"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B8C7D8"/>
                </a:solidFill>
                <a:latin typeface="Noto Sans"/>
                <a:ea typeface="Noto Sans"/>
                <a:cs typeface="Noto Sans"/>
              </a:defRPr>
            </a:pPr>
            <a:r>
              <a:rPr sz="1725" b="0">
                <a:solidFill>
                  <a:srgbClr val="B8C7D8"/>
                </a:solidFill>
                <a:latin typeface="Noto Sans"/>
                <a:ea typeface="Noto Sans"/>
                <a:cs typeface="Noto Sans"/>
              </a:rPr>
              <a:t>See recorded quantities, available space and conditions.</a:t>
            </a:r>
          </a:p>
        </p:txBody>
      </p:sp>
      <p:sp>
        <p:nvSpPr>
          <p:cNvPr id="8" name="Handover">
            <a:extLst xmlns:a="http://schemas.openxmlformats.org/drawingml/2006/main">
              <a:ext uri="{FF2B5EF4-FFF2-40B4-BE49-F238E27FC236}">
                <a16:creationId xmlns:a16="http://schemas.microsoft.com/office/drawing/2014/main" id="{E3A468A4-0C27-48A6-9592-5DC3DAC15765}"/>
              </a:ext>
            </a:extLst>
          </p:cNvPr>
          <p:cNvSpPr>
            <a:spLocks xmlns:a="http://schemas.openxmlformats.org/drawingml/2006/main" noGrp="1"/>
          </p:cNvSpPr>
          <p:nvPr/>
        </p:nvSpPr>
        <p:spPr>
          <a:xfrm xmlns:a="http://schemas.openxmlformats.org/drawingml/2006/main">
            <a:off x="609600" y="4295775"/>
            <a:ext cx="31527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950" b="1">
                <a:solidFill>
                  <a:srgbClr val="A58BFF"/>
                </a:solidFill>
                <a:latin typeface="Noto Sans"/>
                <a:ea typeface="Noto Sans"/>
                <a:cs typeface="Noto Sans"/>
              </a:defRPr>
            </a:pPr>
            <a:r>
              <a:rPr sz="1950" b="1">
                <a:solidFill>
                  <a:srgbClr val="A58BFF"/>
                </a:solidFill>
                <a:latin typeface="Noto Sans"/>
                <a:ea typeface="Noto Sans"/>
                <a:cs typeface="Noto Sans"/>
              </a:rPr>
              <a:t>Handover</a:t>
            </a:r>
          </a:p>
        </p:txBody>
      </p:sp>
      <p:sp>
        <p:nvSpPr>
          <p:cNvPr id="9" name="Process transfer requests using available source quantities.">
            <a:extLst xmlns:a="http://schemas.openxmlformats.org/drawingml/2006/main">
              <a:ext uri="{FF2B5EF4-FFF2-40B4-BE49-F238E27FC236}">
                <a16:creationId xmlns:a16="http://schemas.microsoft.com/office/drawing/2014/main" id="{BA05371D-D157-408D-894F-8B51208003A2}"/>
              </a:ext>
            </a:extLst>
          </p:cNvPr>
          <p:cNvSpPr>
            <a:spLocks xmlns:a="http://schemas.openxmlformats.org/drawingml/2006/main" noGrp="1"/>
          </p:cNvSpPr>
          <p:nvPr/>
        </p:nvSpPr>
        <p:spPr>
          <a:xfrm xmlns:a="http://schemas.openxmlformats.org/drawingml/2006/main">
            <a:off x="609600" y="4705350"/>
            <a:ext cx="3152775"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B8C7D8"/>
                </a:solidFill>
                <a:latin typeface="Noto Sans"/>
                <a:ea typeface="Noto Sans"/>
                <a:cs typeface="Noto Sans"/>
              </a:defRPr>
            </a:pPr>
            <a:r>
              <a:rPr sz="1725" b="0">
                <a:solidFill>
                  <a:srgbClr val="B8C7D8"/>
                </a:solidFill>
                <a:latin typeface="Noto Sans"/>
                <a:ea typeface="Noto Sans"/>
                <a:cs typeface="Noto Sans"/>
              </a:rPr>
              <a:t>Process transfer requests using available source quantities.</a:t>
            </a:r>
          </a:p>
        </p:txBody>
      </p:sp>
      <p:pic>
        <p:nvPicPr>
          <p:cNvPr id="22" name=""/>
          <p:cNvPicPr>
            <a:picLocks xmlns:a="http://schemas.openxmlformats.org/drawingml/2006/main" noChangeAspect="1"/>
          </p:cNvPicPr>
          <p:nvPr/>
        </p:nvPicPr>
        <p:blipFill>
          <a:blip xmlns:r="http://schemas.openxmlformats.org/officeDocument/2006/relationships" xmlns:a="http://schemas.openxmlformats.org/drawingml/2006/main" r:embed="R37a4ef3155af4c68"/>
          <a:srcRect xmlns:a="http://schemas.openxmlformats.org/drawingml/2006/main" l="21400" t="10500" r="3000" b="1500"/>
          <a:stretch xmlns:a="http://schemas.openxmlformats.org/drawingml/2006/main">
            <a:fillRect l="0" t="0" r="0" b="0"/>
          </a:stretch>
        </p:blipFill>
        <p:spPr>
          <a:xfrm xmlns:a="http://schemas.openxmlformats.org/drawingml/2006/main">
            <a:off x="4152900" y="1466850"/>
            <a:ext cx="7429500" cy="4762500"/>
          </a:xfrm>
          <a:prstGeom xmlns:a="http://schemas.openxmlformats.org/drawingml/2006/main" prst="rect">
            <a:avLst/>
          </a:prstGeom>
        </p:spPr>
      </p:pic>
      <p:sp>
        <p:nvSpPr>
          <p:cNvPr id="11" name="Application screenshots use demonstration data.">
            <a:extLst xmlns:a="http://schemas.openxmlformats.org/drawingml/2006/main">
              <a:ext uri="{FF2B5EF4-FFF2-40B4-BE49-F238E27FC236}">
                <a16:creationId xmlns:a16="http://schemas.microsoft.com/office/drawing/2014/main" id="{00B5BAAD-0D6B-45FF-AB23-A7106DD0D69D}"/>
              </a:ext>
            </a:extLst>
          </p:cNvPr>
          <p:cNvSpPr>
            <a:spLocks xmlns:a="http://schemas.openxmlformats.org/drawingml/2006/main" noGrp="1"/>
          </p:cNvSpPr>
          <p:nvPr/>
        </p:nvSpPr>
        <p:spPr>
          <a:xfrm xmlns:a="http://schemas.openxmlformats.org/drawingml/2006/main">
            <a:off x="4248150" y="6248400"/>
            <a:ext cx="7239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975" b="0">
                <a:solidFill>
                  <a:srgbClr val="B8C7D8"/>
                </a:solidFill>
                <a:latin typeface="Noto Sans"/>
                <a:ea typeface="Noto Sans"/>
                <a:cs typeface="Noto Sans"/>
              </a:defRPr>
            </a:pPr>
            <a:r>
              <a:rPr sz="975" b="0">
                <a:solidFill>
                  <a:srgbClr val="B8C7D8"/>
                </a:solidFill>
                <a:latin typeface="Noto Sans"/>
                <a:ea typeface="Noto Sans"/>
                <a:cs typeface="Noto Sans"/>
              </a:rPr>
              <a:t>Application screenshots use demonstration data.</a:t>
            </a:r>
          </a:p>
        </p:txBody>
      </p:sp>
      <p:sp>
        <p:nvSpPr>
          <p:cNvPr id="12" name="The assigned employee works in the pre-storage workspace.">
            <a:extLst xmlns:a="http://schemas.openxmlformats.org/drawingml/2006/main">
              <a:ext uri="{FF2B5EF4-FFF2-40B4-BE49-F238E27FC236}">
                <a16:creationId xmlns:a16="http://schemas.microsoft.com/office/drawing/2014/main" id="{03263071-1506-4CBB-8E17-DA1BDC69EFE4}"/>
              </a:ext>
            </a:extLst>
          </p:cNvPr>
          <p:cNvSpPr>
            <a:spLocks xmlns:a="http://schemas.openxmlformats.org/drawingml/2006/main" noGrp="1"/>
          </p:cNvSpPr>
          <p:nvPr/>
        </p:nvSpPr>
        <p:spPr>
          <a:xfrm xmlns:a="http://schemas.openxmlformats.org/drawingml/2006/main">
            <a:off x="609600" y="5857875"/>
            <a:ext cx="3152775"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425" b="0">
                <a:solidFill>
                  <a:srgbClr val="EEF4FA"/>
                </a:solidFill>
                <a:latin typeface="Noto Sans"/>
                <a:ea typeface="Noto Sans"/>
                <a:cs typeface="Noto Sans"/>
              </a:defRPr>
            </a:pPr>
            <a:r>
              <a:rPr sz="1425" b="0">
                <a:solidFill>
                  <a:srgbClr val="EEF4FA"/>
                </a:solidFill>
                <a:latin typeface="Noto Sans"/>
                <a:ea typeface="Noto Sans"/>
                <a:cs typeface="Noto Sans"/>
              </a:rPr>
              <a:t>The assigned employee works in the pre-storage workspace.</a:t>
            </a:r>
          </a:p>
        </p:txBody>
      </p:sp>
    </p:spTree>
    <p:extLst>
      <p:ext uri="{BB962C8B-B14F-4D97-AF65-F5344CB8AC3E}">
        <p14:creationId xmlns:p14="http://schemas.microsoft.com/office/powerpoint/2010/main" val="436468456"/>
      </p:ext>
    </p:extLst>
  </p:cSld>
</p:sld>
</file>

<file path=ppt/slides/slide6.xml><?xml version="1.0" encoding="utf-8"?>
<p:sld xmlns:p="http://schemas.openxmlformats.org/presentationml/2006/main">
  <p:cSld>
    <p:bg>
      <p:bgPr>
        <a:solidFill xmlns:a="http://schemas.openxmlformats.org/drawingml/2006/main">
          <a:srgbClr val="0A1422"/>
        </a:solidFill>
      </p:bgPr>
    </p:bg>
    <p:spTree>
      <p:nvGrpSpPr>
        <p:cNvPr id="1" name=""/>
        <p:cNvGrpSpPr/>
        <p:nvPr/>
      </p:nvGrpSpPr>
      <p:grpSpPr>
        <a:xfrm xmlns:a="http://schemas.openxmlformats.org/drawingml/2006/main"/>
      </p:grpSpPr>
      <p:sp>
        <p:nvSpPr>
          <p:cNvPr id="13" name="Step 3: Final storage">
            <a:extLst xmlns:a="http://schemas.openxmlformats.org/drawingml/2006/main">
              <a:ext uri="{FF2B5EF4-FFF2-40B4-BE49-F238E27FC236}">
                <a16:creationId xmlns:a16="http://schemas.microsoft.com/office/drawing/2014/main" id="{A14DD0D6-B1AE-4C8F-A05A-98EEA11DD1E6}"/>
              </a:ext>
            </a:extLst>
          </p:cNvPr>
          <p:cNvSpPr>
            <a:spLocks xmlns:a="http://schemas.openxmlformats.org/drawingml/2006/main" noGrp="1"/>
          </p:cNvSpPr>
          <p:nvPr/>
        </p:nvSpPr>
        <p:spPr>
          <a:xfrm xmlns:a="http://schemas.openxmlformats.org/drawingml/2006/main">
            <a:off x="609600" y="43815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150" b="1">
                <a:solidFill>
                  <a:srgbClr val="EEF4FA"/>
                </a:solidFill>
                <a:latin typeface="Noto Sans"/>
                <a:ea typeface="Noto Sans"/>
                <a:cs typeface="Noto Sans"/>
              </a:defRPr>
            </a:pPr>
            <a:r>
              <a:rPr sz="3150" b="1">
                <a:solidFill>
                  <a:srgbClr val="EEF4FA"/>
                </a:solidFill>
                <a:latin typeface="Noto Sans"/>
                <a:ea typeface="Noto Sans"/>
                <a:cs typeface="Noto Sans"/>
              </a:rPr>
              <a:t>Step 3: Final storage</a:t>
            </a:r>
          </a:p>
        </p:txBody>
      </p:sp>
      <p:sp>
        <p:nvSpPr>
          <p:cNvPr id="2" name="NWTS">
            <a:extLst xmlns:a="http://schemas.openxmlformats.org/drawingml/2006/main">
              <a:ext uri="{FF2B5EF4-FFF2-40B4-BE49-F238E27FC236}">
                <a16:creationId xmlns:a16="http://schemas.microsoft.com/office/drawing/2014/main" id="{1BCE563D-D0C7-443C-9866-EA42F4B5F7C8}"/>
              </a:ext>
            </a:extLst>
          </p:cNvPr>
          <p:cNvSpPr>
            <a:spLocks xmlns:a="http://schemas.openxmlformats.org/drawingml/2006/main" noGrp="1"/>
          </p:cNvSpPr>
          <p:nvPr/>
        </p:nvSpPr>
        <p:spPr>
          <a:xfrm xmlns:a="http://schemas.openxmlformats.org/drawingml/2006/main">
            <a:off x="609600" y="6496050"/>
            <a:ext cx="4286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050" b="0">
                <a:solidFill>
                  <a:srgbClr val="B8C7D8"/>
                </a:solidFill>
                <a:latin typeface="Noto Sans"/>
                <a:ea typeface="Noto Sans"/>
                <a:cs typeface="Noto Sans"/>
              </a:defRPr>
            </a:pPr>
            <a:r>
              <a:rPr sz="1050" b="0">
                <a:solidFill>
                  <a:srgbClr val="B8C7D8"/>
                </a:solidFill>
                <a:latin typeface="Noto Sans"/>
                <a:ea typeface="Noto Sans"/>
                <a:cs typeface="Noto Sans"/>
              </a:rPr>
              <a:t>NWTS</a:t>
            </a:r>
          </a:p>
        </p:txBody>
      </p:sp>
      <p:sp>
        <p:nvSpPr>
          <p:cNvPr id="3" name="06">
            <a:extLst xmlns:a="http://schemas.openxmlformats.org/drawingml/2006/main">
              <a:ext uri="{FF2B5EF4-FFF2-40B4-BE49-F238E27FC236}">
                <a16:creationId xmlns:a16="http://schemas.microsoft.com/office/drawing/2014/main" id="{E3315853-63E1-4E9F-B00D-0D58EE4858C6}"/>
              </a:ext>
            </a:extLst>
          </p:cNvPr>
          <p:cNvSpPr>
            <a:spLocks xmlns:a="http://schemas.openxmlformats.org/drawingml/2006/main" noGrp="1"/>
          </p:cNvSpPr>
          <p:nvPr/>
        </p:nvSpPr>
        <p:spPr>
          <a:xfrm xmlns:a="http://schemas.openxmlformats.org/drawingml/2006/main">
            <a:off x="11049000" y="6496050"/>
            <a:ext cx="5334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050" b="0">
                <a:solidFill>
                  <a:srgbClr val="B8C7D8"/>
                </a:solidFill>
                <a:latin typeface="Noto Sans"/>
                <a:ea typeface="Noto Sans"/>
                <a:cs typeface="Noto Sans"/>
              </a:defRPr>
            </a:pPr>
            <a:r>
              <a:rPr sz="1050" b="0">
                <a:solidFill>
                  <a:srgbClr val="B8C7D8"/>
                </a:solidFill>
                <a:latin typeface="Noto Sans"/>
                <a:ea typeface="Noto Sans"/>
                <a:cs typeface="Noto Sans"/>
              </a:rPr>
              <a:t>06</a:t>
            </a:r>
          </a:p>
        </p:txBody>
      </p:sp>
      <p:sp>
        <p:nvSpPr>
          <p:cNvPr id="4" name="Request">
            <a:extLst xmlns:a="http://schemas.openxmlformats.org/drawingml/2006/main">
              <a:ext uri="{FF2B5EF4-FFF2-40B4-BE49-F238E27FC236}">
                <a16:creationId xmlns:a16="http://schemas.microsoft.com/office/drawing/2014/main" id="{0AB98DFF-A6B1-453E-9E55-766B24A272E1}"/>
              </a:ext>
            </a:extLst>
          </p:cNvPr>
          <p:cNvSpPr>
            <a:spLocks xmlns:a="http://schemas.openxmlformats.org/drawingml/2006/main" noGrp="1"/>
          </p:cNvSpPr>
          <p:nvPr/>
        </p:nvSpPr>
        <p:spPr>
          <a:xfrm xmlns:a="http://schemas.openxmlformats.org/drawingml/2006/main">
            <a:off x="609600" y="1685925"/>
            <a:ext cx="31527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950" b="1">
                <a:solidFill>
                  <a:srgbClr val="2BB8F2"/>
                </a:solidFill>
                <a:latin typeface="Noto Sans"/>
                <a:ea typeface="Noto Sans"/>
                <a:cs typeface="Noto Sans"/>
              </a:defRPr>
            </a:pPr>
            <a:r>
              <a:rPr sz="1950" b="1">
                <a:solidFill>
                  <a:srgbClr val="2BB8F2"/>
                </a:solidFill>
                <a:latin typeface="Noto Sans"/>
                <a:ea typeface="Noto Sans"/>
                <a:cs typeface="Noto Sans"/>
              </a:rPr>
              <a:t>Request</a:t>
            </a:r>
          </a:p>
        </p:txBody>
      </p:sp>
      <p:sp>
        <p:nvSpPr>
          <p:cNvPr id="5" name="Select a destination room and request a transfer.">
            <a:extLst xmlns:a="http://schemas.openxmlformats.org/drawingml/2006/main">
              <a:ext uri="{FF2B5EF4-FFF2-40B4-BE49-F238E27FC236}">
                <a16:creationId xmlns:a16="http://schemas.microsoft.com/office/drawing/2014/main" id="{DBB1FAB8-D732-43EA-B569-5C0335967CC4}"/>
              </a:ext>
            </a:extLst>
          </p:cNvPr>
          <p:cNvSpPr>
            <a:spLocks xmlns:a="http://schemas.openxmlformats.org/drawingml/2006/main" noGrp="1"/>
          </p:cNvSpPr>
          <p:nvPr/>
        </p:nvSpPr>
        <p:spPr>
          <a:xfrm xmlns:a="http://schemas.openxmlformats.org/drawingml/2006/main">
            <a:off x="609600" y="2095500"/>
            <a:ext cx="3152775"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B8C7D8"/>
                </a:solidFill>
                <a:latin typeface="Noto Sans"/>
                <a:ea typeface="Noto Sans"/>
                <a:cs typeface="Noto Sans"/>
              </a:defRPr>
            </a:pPr>
            <a:r>
              <a:rPr sz="1725" b="0">
                <a:solidFill>
                  <a:srgbClr val="B8C7D8"/>
                </a:solidFill>
                <a:latin typeface="Noto Sans"/>
                <a:ea typeface="Noto Sans"/>
                <a:cs typeface="Noto Sans"/>
              </a:rPr>
              <a:t>Select a destination room and request a transfer.</a:t>
            </a:r>
          </a:p>
        </p:txBody>
      </p:sp>
      <p:sp>
        <p:nvSpPr>
          <p:cNvPr id="6" name="Response">
            <a:extLst xmlns:a="http://schemas.openxmlformats.org/drawingml/2006/main">
              <a:ext uri="{FF2B5EF4-FFF2-40B4-BE49-F238E27FC236}">
                <a16:creationId xmlns:a16="http://schemas.microsoft.com/office/drawing/2014/main" id="{9BE2588F-7556-43F5-8D3E-9D75B4B3C919}"/>
              </a:ext>
            </a:extLst>
          </p:cNvPr>
          <p:cNvSpPr>
            <a:spLocks xmlns:a="http://schemas.openxmlformats.org/drawingml/2006/main" noGrp="1"/>
          </p:cNvSpPr>
          <p:nvPr/>
        </p:nvSpPr>
        <p:spPr>
          <a:xfrm xmlns:a="http://schemas.openxmlformats.org/drawingml/2006/main">
            <a:off x="609600" y="2990850"/>
            <a:ext cx="31527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950" b="1">
                <a:solidFill>
                  <a:srgbClr val="2ED3A0"/>
                </a:solidFill>
                <a:latin typeface="Noto Sans"/>
                <a:ea typeface="Noto Sans"/>
                <a:cs typeface="Noto Sans"/>
              </a:defRPr>
            </a:pPr>
            <a:r>
              <a:rPr sz="1950" b="1">
                <a:solidFill>
                  <a:srgbClr val="2ED3A0"/>
                </a:solidFill>
                <a:latin typeface="Noto Sans"/>
                <a:ea typeface="Noto Sans"/>
                <a:cs typeface="Noto Sans"/>
              </a:rPr>
              <a:t>Response</a:t>
            </a:r>
          </a:p>
        </p:txBody>
      </p:sp>
      <p:sp>
        <p:nvSpPr>
          <p:cNvPr id="7" name="Pre-storage checks the request and prepares the handover.">
            <a:extLst xmlns:a="http://schemas.openxmlformats.org/drawingml/2006/main">
              <a:ext uri="{FF2B5EF4-FFF2-40B4-BE49-F238E27FC236}">
                <a16:creationId xmlns:a16="http://schemas.microsoft.com/office/drawing/2014/main" id="{21BA6BD2-3901-420F-8FE5-EDEF140A950F}"/>
              </a:ext>
            </a:extLst>
          </p:cNvPr>
          <p:cNvSpPr>
            <a:spLocks xmlns:a="http://schemas.openxmlformats.org/drawingml/2006/main" noGrp="1"/>
          </p:cNvSpPr>
          <p:nvPr/>
        </p:nvSpPr>
        <p:spPr>
          <a:xfrm xmlns:a="http://schemas.openxmlformats.org/drawingml/2006/main">
            <a:off x="609600" y="3400425"/>
            <a:ext cx="3152775"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B8C7D8"/>
                </a:solidFill>
                <a:latin typeface="Noto Sans"/>
                <a:ea typeface="Noto Sans"/>
                <a:cs typeface="Noto Sans"/>
              </a:defRPr>
            </a:pPr>
            <a:r>
              <a:rPr sz="1725" b="0">
                <a:solidFill>
                  <a:srgbClr val="B8C7D8"/>
                </a:solidFill>
                <a:latin typeface="Noto Sans"/>
                <a:ea typeface="Noto Sans"/>
                <a:cs typeface="Noto Sans"/>
              </a:rPr>
              <a:t>Pre-storage checks the request and prepares the handover.</a:t>
            </a:r>
          </a:p>
        </p:txBody>
      </p:sp>
      <p:sp>
        <p:nvSpPr>
          <p:cNvPr id="8" name="Receipt">
            <a:extLst xmlns:a="http://schemas.openxmlformats.org/drawingml/2006/main">
              <a:ext uri="{FF2B5EF4-FFF2-40B4-BE49-F238E27FC236}">
                <a16:creationId xmlns:a16="http://schemas.microsoft.com/office/drawing/2014/main" id="{03712BD4-8DD1-4F28-9B15-6BDA7D439DA1}"/>
              </a:ext>
            </a:extLst>
          </p:cNvPr>
          <p:cNvSpPr>
            <a:spLocks xmlns:a="http://schemas.openxmlformats.org/drawingml/2006/main" noGrp="1"/>
          </p:cNvSpPr>
          <p:nvPr/>
        </p:nvSpPr>
        <p:spPr>
          <a:xfrm xmlns:a="http://schemas.openxmlformats.org/drawingml/2006/main">
            <a:off x="609600" y="4295775"/>
            <a:ext cx="31527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950" b="1">
                <a:solidFill>
                  <a:srgbClr val="A58BFF"/>
                </a:solidFill>
                <a:latin typeface="Noto Sans"/>
                <a:ea typeface="Noto Sans"/>
                <a:cs typeface="Noto Sans"/>
              </a:defRPr>
            </a:pPr>
            <a:r>
              <a:rPr sz="1950" b="1">
                <a:solidFill>
                  <a:srgbClr val="A58BFF"/>
                </a:solidFill>
                <a:latin typeface="Noto Sans"/>
                <a:ea typeface="Noto Sans"/>
                <a:cs typeface="Noto Sans"/>
              </a:rPr>
              <a:t>Receipt</a:t>
            </a:r>
          </a:p>
        </p:txBody>
      </p:sp>
      <p:sp>
        <p:nvSpPr>
          <p:cNvPr id="9" name="Final storage confirms receipt and updates recorded stock.">
            <a:extLst xmlns:a="http://schemas.openxmlformats.org/drawingml/2006/main">
              <a:ext uri="{FF2B5EF4-FFF2-40B4-BE49-F238E27FC236}">
                <a16:creationId xmlns:a16="http://schemas.microsoft.com/office/drawing/2014/main" id="{5B1A7E87-1FD9-4C90-97AC-6929A6E626D1}"/>
              </a:ext>
            </a:extLst>
          </p:cNvPr>
          <p:cNvSpPr>
            <a:spLocks xmlns:a="http://schemas.openxmlformats.org/drawingml/2006/main" noGrp="1"/>
          </p:cNvSpPr>
          <p:nvPr/>
        </p:nvSpPr>
        <p:spPr>
          <a:xfrm xmlns:a="http://schemas.openxmlformats.org/drawingml/2006/main">
            <a:off x="609600" y="4705350"/>
            <a:ext cx="3152775"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B8C7D8"/>
                </a:solidFill>
                <a:latin typeface="Noto Sans"/>
                <a:ea typeface="Noto Sans"/>
                <a:cs typeface="Noto Sans"/>
              </a:defRPr>
            </a:pPr>
            <a:r>
              <a:rPr sz="1725" b="0">
                <a:solidFill>
                  <a:srgbClr val="B8C7D8"/>
                </a:solidFill>
                <a:latin typeface="Noto Sans"/>
                <a:ea typeface="Noto Sans"/>
                <a:cs typeface="Noto Sans"/>
              </a:rPr>
              <a:t>Final storage confirms receipt and updates recorded stock.</a:t>
            </a:r>
          </a:p>
        </p:txBody>
      </p:sp>
      <p:pic>
        <p:nvPicPr>
          <p:cNvPr id="22" name=""/>
          <p:cNvPicPr>
            <a:picLocks xmlns:a="http://schemas.openxmlformats.org/drawingml/2006/main" noChangeAspect="1"/>
          </p:cNvPicPr>
          <p:nvPr/>
        </p:nvPicPr>
        <p:blipFill>
          <a:blip xmlns:r="http://schemas.openxmlformats.org/officeDocument/2006/relationships" xmlns:a="http://schemas.openxmlformats.org/drawingml/2006/main" r:embed="R0f1a05cf9b8843d6"/>
          <a:srcRect xmlns:a="http://schemas.openxmlformats.org/drawingml/2006/main" l="21400" t="10500" r="3000" b="1500"/>
          <a:stretch xmlns:a="http://schemas.openxmlformats.org/drawingml/2006/main">
            <a:fillRect l="0" t="0" r="0" b="0"/>
          </a:stretch>
        </p:blipFill>
        <p:spPr>
          <a:xfrm xmlns:a="http://schemas.openxmlformats.org/drawingml/2006/main">
            <a:off x="4152900" y="1466850"/>
            <a:ext cx="7429500" cy="4762500"/>
          </a:xfrm>
          <a:prstGeom xmlns:a="http://schemas.openxmlformats.org/drawingml/2006/main" prst="rect">
            <a:avLst/>
          </a:prstGeom>
        </p:spPr>
      </p:pic>
      <p:sp>
        <p:nvSpPr>
          <p:cNvPr id="11" name="Application screenshots use demonstration data.">
            <a:extLst xmlns:a="http://schemas.openxmlformats.org/drawingml/2006/main">
              <a:ext uri="{FF2B5EF4-FFF2-40B4-BE49-F238E27FC236}">
                <a16:creationId xmlns:a16="http://schemas.microsoft.com/office/drawing/2014/main" id="{50E2242C-B381-4D53-B64A-58E4EF5E2DC3}"/>
              </a:ext>
            </a:extLst>
          </p:cNvPr>
          <p:cNvSpPr>
            <a:spLocks xmlns:a="http://schemas.openxmlformats.org/drawingml/2006/main" noGrp="1"/>
          </p:cNvSpPr>
          <p:nvPr/>
        </p:nvSpPr>
        <p:spPr>
          <a:xfrm xmlns:a="http://schemas.openxmlformats.org/drawingml/2006/main">
            <a:off x="4248150" y="6248400"/>
            <a:ext cx="7239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975" b="0">
                <a:solidFill>
                  <a:srgbClr val="B8C7D8"/>
                </a:solidFill>
                <a:latin typeface="Noto Sans"/>
                <a:ea typeface="Noto Sans"/>
                <a:cs typeface="Noto Sans"/>
              </a:defRPr>
            </a:pPr>
            <a:r>
              <a:rPr sz="975" b="0">
                <a:solidFill>
                  <a:srgbClr val="B8C7D8"/>
                </a:solidFill>
                <a:latin typeface="Noto Sans"/>
                <a:ea typeface="Noto Sans"/>
                <a:cs typeface="Noto Sans"/>
              </a:rPr>
              <a:t>Application screenshots use demonstration data.</a:t>
            </a:r>
          </a:p>
        </p:txBody>
      </p:sp>
      <p:sp>
        <p:nvSpPr>
          <p:cNvPr id="12" name="The workflow separates the request, handover and receipt.">
            <a:extLst xmlns:a="http://schemas.openxmlformats.org/drawingml/2006/main">
              <a:ext uri="{FF2B5EF4-FFF2-40B4-BE49-F238E27FC236}">
                <a16:creationId xmlns:a16="http://schemas.microsoft.com/office/drawing/2014/main" id="{6CEE6185-B915-4751-9DAC-07FF7653764F}"/>
              </a:ext>
            </a:extLst>
          </p:cNvPr>
          <p:cNvSpPr>
            <a:spLocks xmlns:a="http://schemas.openxmlformats.org/drawingml/2006/main" noGrp="1"/>
          </p:cNvSpPr>
          <p:nvPr/>
        </p:nvSpPr>
        <p:spPr>
          <a:xfrm xmlns:a="http://schemas.openxmlformats.org/drawingml/2006/main">
            <a:off x="609600" y="5857875"/>
            <a:ext cx="3152775"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425" b="0">
                <a:solidFill>
                  <a:srgbClr val="EEF4FA"/>
                </a:solidFill>
                <a:latin typeface="Noto Sans"/>
                <a:ea typeface="Noto Sans"/>
                <a:cs typeface="Noto Sans"/>
              </a:defRPr>
            </a:pPr>
            <a:r>
              <a:rPr sz="1425" b="0">
                <a:solidFill>
                  <a:srgbClr val="EEF4FA"/>
                </a:solidFill>
                <a:latin typeface="Noto Sans"/>
                <a:ea typeface="Noto Sans"/>
                <a:cs typeface="Noto Sans"/>
              </a:rPr>
              <a:t>The workflow separates the request, handover and receipt.</a:t>
            </a:r>
          </a:p>
        </p:txBody>
      </p:sp>
    </p:spTree>
    <p:extLst>
      <p:ext uri="{BB962C8B-B14F-4D97-AF65-F5344CB8AC3E}">
        <p14:creationId xmlns:p14="http://schemas.microsoft.com/office/powerpoint/2010/main" val="2034096324"/>
      </p:ext>
    </p:extLst>
  </p:cSld>
</p:sld>
</file>

<file path=ppt/slides/slide7.xml><?xml version="1.0" encoding="utf-8"?>
<p:sld xmlns:p="http://schemas.openxmlformats.org/presentationml/2006/main">
  <p:cSld>
    <p:bg>
      <p:bgPr>
        <a:solidFill xmlns:a="http://schemas.openxmlformats.org/drawingml/2006/main">
          <a:srgbClr val="0A1422"/>
        </a:solidFill>
      </p:bgPr>
    </p:bg>
    <p:spTree>
      <p:nvGrpSpPr>
        <p:cNvPr id="1" name=""/>
        <p:cNvGrpSpPr/>
        <p:nvPr/>
      </p:nvGrpSpPr>
      <p:grpSpPr>
        <a:xfrm xmlns:a="http://schemas.openxmlformats.org/drawingml/2006/main"/>
      </p:grpSpPr>
      <p:sp>
        <p:nvSpPr>
          <p:cNvPr id="13" name="Conditions and follow-up">
            <a:extLst xmlns:a="http://schemas.openxmlformats.org/drawingml/2006/main">
              <a:ext uri="{FF2B5EF4-FFF2-40B4-BE49-F238E27FC236}">
                <a16:creationId xmlns:a16="http://schemas.microsoft.com/office/drawing/2014/main" id="{7F75B156-F894-4EB8-B9DB-2CF22EBC88FF}"/>
              </a:ext>
            </a:extLst>
          </p:cNvPr>
          <p:cNvSpPr>
            <a:spLocks xmlns:a="http://schemas.openxmlformats.org/drawingml/2006/main" noGrp="1"/>
          </p:cNvSpPr>
          <p:nvPr/>
        </p:nvSpPr>
        <p:spPr>
          <a:xfrm xmlns:a="http://schemas.openxmlformats.org/drawingml/2006/main">
            <a:off x="609600" y="43815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150" b="1">
                <a:solidFill>
                  <a:srgbClr val="EEF4FA"/>
                </a:solidFill>
                <a:latin typeface="Noto Sans"/>
                <a:ea typeface="Noto Sans"/>
                <a:cs typeface="Noto Sans"/>
              </a:defRPr>
            </a:pPr>
            <a:r>
              <a:rPr sz="3150" b="1">
                <a:solidFill>
                  <a:srgbClr val="EEF4FA"/>
                </a:solidFill>
                <a:latin typeface="Noto Sans"/>
                <a:ea typeface="Noto Sans"/>
                <a:cs typeface="Noto Sans"/>
              </a:rPr>
              <a:t>Conditions and follow-up</a:t>
            </a:r>
          </a:p>
        </p:txBody>
      </p:sp>
      <p:sp>
        <p:nvSpPr>
          <p:cNvPr id="2" name="NWTS">
            <a:extLst xmlns:a="http://schemas.openxmlformats.org/drawingml/2006/main">
              <a:ext uri="{FF2B5EF4-FFF2-40B4-BE49-F238E27FC236}">
                <a16:creationId xmlns:a16="http://schemas.microsoft.com/office/drawing/2014/main" id="{ED235683-C43A-46FC-84CA-7DCA8147D1AA}"/>
              </a:ext>
            </a:extLst>
          </p:cNvPr>
          <p:cNvSpPr>
            <a:spLocks xmlns:a="http://schemas.openxmlformats.org/drawingml/2006/main" noGrp="1"/>
          </p:cNvSpPr>
          <p:nvPr/>
        </p:nvSpPr>
        <p:spPr>
          <a:xfrm xmlns:a="http://schemas.openxmlformats.org/drawingml/2006/main">
            <a:off x="609600" y="6496050"/>
            <a:ext cx="4286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050" b="0">
                <a:solidFill>
                  <a:srgbClr val="B8C7D8"/>
                </a:solidFill>
                <a:latin typeface="Noto Sans"/>
                <a:ea typeface="Noto Sans"/>
                <a:cs typeface="Noto Sans"/>
              </a:defRPr>
            </a:pPr>
            <a:r>
              <a:rPr sz="1050" b="0">
                <a:solidFill>
                  <a:srgbClr val="B8C7D8"/>
                </a:solidFill>
                <a:latin typeface="Noto Sans"/>
                <a:ea typeface="Noto Sans"/>
                <a:cs typeface="Noto Sans"/>
              </a:rPr>
              <a:t>NWTS</a:t>
            </a:r>
          </a:p>
        </p:txBody>
      </p:sp>
      <p:sp>
        <p:nvSpPr>
          <p:cNvPr id="3" name="07">
            <a:extLst xmlns:a="http://schemas.openxmlformats.org/drawingml/2006/main">
              <a:ext uri="{FF2B5EF4-FFF2-40B4-BE49-F238E27FC236}">
                <a16:creationId xmlns:a16="http://schemas.microsoft.com/office/drawing/2014/main" id="{376D6D2C-A48B-43BF-AFF4-12AFF8C9F059}"/>
              </a:ext>
            </a:extLst>
          </p:cNvPr>
          <p:cNvSpPr>
            <a:spLocks xmlns:a="http://schemas.openxmlformats.org/drawingml/2006/main" noGrp="1"/>
          </p:cNvSpPr>
          <p:nvPr/>
        </p:nvSpPr>
        <p:spPr>
          <a:xfrm xmlns:a="http://schemas.openxmlformats.org/drawingml/2006/main">
            <a:off x="11049000" y="6496050"/>
            <a:ext cx="5334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050" b="0">
                <a:solidFill>
                  <a:srgbClr val="B8C7D8"/>
                </a:solidFill>
                <a:latin typeface="Noto Sans"/>
                <a:ea typeface="Noto Sans"/>
                <a:cs typeface="Noto Sans"/>
              </a:defRPr>
            </a:pPr>
            <a:r>
              <a:rPr sz="1050" b="0">
                <a:solidFill>
                  <a:srgbClr val="B8C7D8"/>
                </a:solidFill>
                <a:latin typeface="Noto Sans"/>
                <a:ea typeface="Noto Sans"/>
                <a:cs typeface="Noto Sans"/>
              </a:rPr>
              <a:t>07</a:t>
            </a:r>
          </a:p>
        </p:txBody>
      </p:sp>
      <p:sp>
        <p:nvSpPr>
          <p:cNvPr id="4" name="Measurements">
            <a:extLst xmlns:a="http://schemas.openxmlformats.org/drawingml/2006/main">
              <a:ext uri="{FF2B5EF4-FFF2-40B4-BE49-F238E27FC236}">
                <a16:creationId xmlns:a16="http://schemas.microsoft.com/office/drawing/2014/main" id="{83E7C87C-19EC-4919-8DEF-BF05BED13567}"/>
              </a:ext>
            </a:extLst>
          </p:cNvPr>
          <p:cNvSpPr>
            <a:spLocks xmlns:a="http://schemas.openxmlformats.org/drawingml/2006/main" noGrp="1"/>
          </p:cNvSpPr>
          <p:nvPr/>
        </p:nvSpPr>
        <p:spPr>
          <a:xfrm xmlns:a="http://schemas.openxmlformats.org/drawingml/2006/main">
            <a:off x="609600" y="1685925"/>
            <a:ext cx="31527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950" b="1">
                <a:solidFill>
                  <a:srgbClr val="2BB8F2"/>
                </a:solidFill>
                <a:latin typeface="Noto Sans"/>
                <a:ea typeface="Noto Sans"/>
                <a:cs typeface="Noto Sans"/>
              </a:defRPr>
            </a:pPr>
            <a:r>
              <a:rPr sz="1950" b="1">
                <a:solidFill>
                  <a:srgbClr val="2BB8F2"/>
                </a:solidFill>
                <a:latin typeface="Noto Sans"/>
                <a:ea typeface="Noto Sans"/>
                <a:cs typeface="Noto Sans"/>
              </a:rPr>
              <a:t>Measurements</a:t>
            </a:r>
          </a:p>
        </p:txBody>
      </p:sp>
      <p:sp>
        <p:nvSpPr>
          <p:cNvPr id="5" name="Temperature, radiation, humidity and pressure.">
            <a:extLst xmlns:a="http://schemas.openxmlformats.org/drawingml/2006/main">
              <a:ext uri="{FF2B5EF4-FFF2-40B4-BE49-F238E27FC236}">
                <a16:creationId xmlns:a16="http://schemas.microsoft.com/office/drawing/2014/main" id="{0FAC3185-6C08-44F4-8241-764CB9EFB207}"/>
              </a:ext>
            </a:extLst>
          </p:cNvPr>
          <p:cNvSpPr>
            <a:spLocks xmlns:a="http://schemas.openxmlformats.org/drawingml/2006/main" noGrp="1"/>
          </p:cNvSpPr>
          <p:nvPr/>
        </p:nvSpPr>
        <p:spPr>
          <a:xfrm xmlns:a="http://schemas.openxmlformats.org/drawingml/2006/main">
            <a:off x="609600" y="2095500"/>
            <a:ext cx="3152775"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B8C7D8"/>
                </a:solidFill>
                <a:latin typeface="Noto Sans"/>
                <a:ea typeface="Noto Sans"/>
                <a:cs typeface="Noto Sans"/>
              </a:defRPr>
            </a:pPr>
            <a:r>
              <a:rPr sz="1725" b="0">
                <a:solidFill>
                  <a:srgbClr val="B8C7D8"/>
                </a:solidFill>
                <a:latin typeface="Noto Sans"/>
                <a:ea typeface="Noto Sans"/>
                <a:cs typeface="Noto Sans"/>
              </a:rPr>
              <a:t>Temperature, radiation, humidity and pressure.</a:t>
            </a:r>
          </a:p>
        </p:txBody>
      </p:sp>
      <p:sp>
        <p:nvSpPr>
          <p:cNvPr id="6" name="Alerts">
            <a:extLst xmlns:a="http://schemas.openxmlformats.org/drawingml/2006/main">
              <a:ext uri="{FF2B5EF4-FFF2-40B4-BE49-F238E27FC236}">
                <a16:creationId xmlns:a16="http://schemas.microsoft.com/office/drawing/2014/main" id="{D43A4578-BEE9-4BD0-B1AE-495EC462B771}"/>
              </a:ext>
            </a:extLst>
          </p:cNvPr>
          <p:cNvSpPr>
            <a:spLocks xmlns:a="http://schemas.openxmlformats.org/drawingml/2006/main" noGrp="1"/>
          </p:cNvSpPr>
          <p:nvPr/>
        </p:nvSpPr>
        <p:spPr>
          <a:xfrm xmlns:a="http://schemas.openxmlformats.org/drawingml/2006/main">
            <a:off x="609600" y="2990850"/>
            <a:ext cx="31527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950" b="1">
                <a:solidFill>
                  <a:srgbClr val="2ED3A0"/>
                </a:solidFill>
                <a:latin typeface="Noto Sans"/>
                <a:ea typeface="Noto Sans"/>
                <a:cs typeface="Noto Sans"/>
              </a:defRPr>
            </a:pPr>
            <a:r>
              <a:rPr sz="1950" b="1">
                <a:solidFill>
                  <a:srgbClr val="2ED3A0"/>
                </a:solidFill>
                <a:latin typeface="Noto Sans"/>
                <a:ea typeface="Noto Sans"/>
                <a:cs typeface="Noto Sans"/>
              </a:rPr>
              <a:t>Alerts</a:t>
            </a:r>
          </a:p>
        </p:txBody>
      </p:sp>
      <p:sp>
        <p:nvSpPr>
          <p:cNvPr id="7" name="Deviations, overdue readings and escalation status.">
            <a:extLst xmlns:a="http://schemas.openxmlformats.org/drawingml/2006/main">
              <a:ext uri="{FF2B5EF4-FFF2-40B4-BE49-F238E27FC236}">
                <a16:creationId xmlns:a16="http://schemas.microsoft.com/office/drawing/2014/main" id="{CD8767EF-D60C-408C-820E-72C32C77B4B4}"/>
              </a:ext>
            </a:extLst>
          </p:cNvPr>
          <p:cNvSpPr>
            <a:spLocks xmlns:a="http://schemas.openxmlformats.org/drawingml/2006/main" noGrp="1"/>
          </p:cNvSpPr>
          <p:nvPr/>
        </p:nvSpPr>
        <p:spPr>
          <a:xfrm xmlns:a="http://schemas.openxmlformats.org/drawingml/2006/main">
            <a:off x="609600" y="3400425"/>
            <a:ext cx="3152775"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B8C7D8"/>
                </a:solidFill>
                <a:latin typeface="Noto Sans"/>
                <a:ea typeface="Noto Sans"/>
                <a:cs typeface="Noto Sans"/>
              </a:defRPr>
            </a:pPr>
            <a:r>
              <a:rPr sz="1725" b="0">
                <a:solidFill>
                  <a:srgbClr val="B8C7D8"/>
                </a:solidFill>
                <a:latin typeface="Noto Sans"/>
                <a:ea typeface="Noto Sans"/>
                <a:cs typeface="Noto Sans"/>
              </a:rPr>
              <a:t>Deviations, overdue readings and escalation status.</a:t>
            </a:r>
          </a:p>
        </p:txBody>
      </p:sp>
      <p:sp>
        <p:nvSpPr>
          <p:cNvPr id="8" name="Actions">
            <a:extLst xmlns:a="http://schemas.openxmlformats.org/drawingml/2006/main">
              <a:ext uri="{FF2B5EF4-FFF2-40B4-BE49-F238E27FC236}">
                <a16:creationId xmlns:a16="http://schemas.microsoft.com/office/drawing/2014/main" id="{F4D35C71-5E32-4A29-9726-375877F93A19}"/>
              </a:ext>
            </a:extLst>
          </p:cNvPr>
          <p:cNvSpPr>
            <a:spLocks xmlns:a="http://schemas.openxmlformats.org/drawingml/2006/main" noGrp="1"/>
          </p:cNvSpPr>
          <p:nvPr/>
        </p:nvSpPr>
        <p:spPr>
          <a:xfrm xmlns:a="http://schemas.openxmlformats.org/drawingml/2006/main">
            <a:off x="609600" y="4295775"/>
            <a:ext cx="31527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950" b="1">
                <a:solidFill>
                  <a:srgbClr val="A58BFF"/>
                </a:solidFill>
                <a:latin typeface="Noto Sans"/>
                <a:ea typeface="Noto Sans"/>
                <a:cs typeface="Noto Sans"/>
              </a:defRPr>
            </a:pPr>
            <a:r>
              <a:rPr sz="1950" b="1">
                <a:solidFill>
                  <a:srgbClr val="A58BFF"/>
                </a:solidFill>
                <a:latin typeface="Noto Sans"/>
                <a:ea typeface="Noto Sans"/>
                <a:cs typeface="Noto Sans"/>
              </a:rPr>
              <a:t>Actions</a:t>
            </a:r>
          </a:p>
        </p:txBody>
      </p:sp>
      <p:sp>
        <p:nvSpPr>
          <p:cNvPr id="9" name="Acknowledgement, notes and closure history.">
            <a:extLst xmlns:a="http://schemas.openxmlformats.org/drawingml/2006/main">
              <a:ext uri="{FF2B5EF4-FFF2-40B4-BE49-F238E27FC236}">
                <a16:creationId xmlns:a16="http://schemas.microsoft.com/office/drawing/2014/main" id="{3FFF0574-C0EB-4EF1-A8E7-67316C966C68}"/>
              </a:ext>
            </a:extLst>
          </p:cNvPr>
          <p:cNvSpPr>
            <a:spLocks xmlns:a="http://schemas.openxmlformats.org/drawingml/2006/main" noGrp="1"/>
          </p:cNvSpPr>
          <p:nvPr/>
        </p:nvSpPr>
        <p:spPr>
          <a:xfrm xmlns:a="http://schemas.openxmlformats.org/drawingml/2006/main">
            <a:off x="609600" y="4705350"/>
            <a:ext cx="3152775"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B8C7D8"/>
                </a:solidFill>
                <a:latin typeface="Noto Sans"/>
                <a:ea typeface="Noto Sans"/>
                <a:cs typeface="Noto Sans"/>
              </a:defRPr>
            </a:pPr>
            <a:r>
              <a:rPr sz="1725" b="0">
                <a:solidFill>
                  <a:srgbClr val="B8C7D8"/>
                </a:solidFill>
                <a:latin typeface="Noto Sans"/>
                <a:ea typeface="Noto Sans"/>
                <a:cs typeface="Noto Sans"/>
              </a:rPr>
              <a:t>Acknowledgement, notes and closure history.</a:t>
            </a:r>
          </a:p>
        </p:txBody>
      </p:sp>
      <p:pic>
        <p:nvPicPr>
          <p:cNvPr id="22" name=""/>
          <p:cNvPicPr>
            <a:picLocks xmlns:a="http://schemas.openxmlformats.org/drawingml/2006/main" noChangeAspect="1"/>
          </p:cNvPicPr>
          <p:nvPr/>
        </p:nvPicPr>
        <p:blipFill>
          <a:blip xmlns:r="http://schemas.openxmlformats.org/officeDocument/2006/relationships" xmlns:a="http://schemas.openxmlformats.org/drawingml/2006/main" r:embed="R46a1ea3226b343bf"/>
          <a:srcRect xmlns:a="http://schemas.openxmlformats.org/drawingml/2006/main" l="21400" t="10500" r="3000" b="1500"/>
          <a:stretch xmlns:a="http://schemas.openxmlformats.org/drawingml/2006/main">
            <a:fillRect l="0" t="0" r="0" b="0"/>
          </a:stretch>
        </p:blipFill>
        <p:spPr>
          <a:xfrm xmlns:a="http://schemas.openxmlformats.org/drawingml/2006/main">
            <a:off x="4152900" y="1466850"/>
            <a:ext cx="7429500" cy="4762500"/>
          </a:xfrm>
          <a:prstGeom xmlns:a="http://schemas.openxmlformats.org/drawingml/2006/main" prst="rect">
            <a:avLst/>
          </a:prstGeom>
        </p:spPr>
      </p:pic>
      <p:sp>
        <p:nvSpPr>
          <p:cNvPr id="11" name="Application screenshots use demonstration data.">
            <a:extLst xmlns:a="http://schemas.openxmlformats.org/drawingml/2006/main">
              <a:ext uri="{FF2B5EF4-FFF2-40B4-BE49-F238E27FC236}">
                <a16:creationId xmlns:a16="http://schemas.microsoft.com/office/drawing/2014/main" id="{063D03F3-49F5-419D-9823-441F9B67825A}"/>
              </a:ext>
            </a:extLst>
          </p:cNvPr>
          <p:cNvSpPr>
            <a:spLocks xmlns:a="http://schemas.openxmlformats.org/drawingml/2006/main" noGrp="1"/>
          </p:cNvSpPr>
          <p:nvPr/>
        </p:nvSpPr>
        <p:spPr>
          <a:xfrm xmlns:a="http://schemas.openxmlformats.org/drawingml/2006/main">
            <a:off x="4248150" y="6248400"/>
            <a:ext cx="7239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975" b="0">
                <a:solidFill>
                  <a:srgbClr val="B8C7D8"/>
                </a:solidFill>
                <a:latin typeface="Noto Sans"/>
                <a:ea typeface="Noto Sans"/>
                <a:cs typeface="Noto Sans"/>
              </a:defRPr>
            </a:pPr>
            <a:r>
              <a:rPr sz="975" b="0">
                <a:solidFill>
                  <a:srgbClr val="B8C7D8"/>
                </a:solidFill>
                <a:latin typeface="Noto Sans"/>
                <a:ea typeface="Noto Sans"/>
                <a:cs typeface="Noto Sans"/>
              </a:rPr>
              <a:t>Application screenshots use demonstration data.</a:t>
            </a:r>
          </a:p>
        </p:txBody>
      </p:sp>
      <p:sp>
        <p:nvSpPr>
          <p:cNvPr id="12" name="Based on recorded measurements. No live sensor connection.">
            <a:extLst xmlns:a="http://schemas.openxmlformats.org/drawingml/2006/main">
              <a:ext uri="{FF2B5EF4-FFF2-40B4-BE49-F238E27FC236}">
                <a16:creationId xmlns:a16="http://schemas.microsoft.com/office/drawing/2014/main" id="{BCBA3FF6-98AA-41EB-B790-EE1E690B1F61}"/>
              </a:ext>
            </a:extLst>
          </p:cNvPr>
          <p:cNvSpPr>
            <a:spLocks xmlns:a="http://schemas.openxmlformats.org/drawingml/2006/main" noGrp="1"/>
          </p:cNvSpPr>
          <p:nvPr/>
        </p:nvSpPr>
        <p:spPr>
          <a:xfrm xmlns:a="http://schemas.openxmlformats.org/drawingml/2006/main">
            <a:off x="609600" y="5857875"/>
            <a:ext cx="3152775"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425" b="0">
                <a:solidFill>
                  <a:srgbClr val="EEF4FA"/>
                </a:solidFill>
                <a:latin typeface="Noto Sans"/>
                <a:ea typeface="Noto Sans"/>
                <a:cs typeface="Noto Sans"/>
              </a:defRPr>
            </a:pPr>
            <a:r>
              <a:rPr sz="1425" b="0">
                <a:solidFill>
                  <a:srgbClr val="EEF4FA"/>
                </a:solidFill>
                <a:latin typeface="Noto Sans"/>
                <a:ea typeface="Noto Sans"/>
                <a:cs typeface="Noto Sans"/>
              </a:rPr>
              <a:t>Based on recorded measurements. No live sensor connection.</a:t>
            </a:r>
          </a:p>
        </p:txBody>
      </p:sp>
    </p:spTree>
    <p:extLst>
      <p:ext uri="{BB962C8B-B14F-4D97-AF65-F5344CB8AC3E}">
        <p14:creationId xmlns:p14="http://schemas.microsoft.com/office/powerpoint/2010/main" val="1622211334"/>
      </p:ext>
    </p:extLst>
  </p:cSld>
</p:sld>
</file>

<file path=ppt/slides/slide8.xml><?xml version="1.0" encoding="utf-8"?>
<p:sld xmlns:p="http://schemas.openxmlformats.org/presentationml/2006/main">
  <p:cSld>
    <p:bg>
      <p:bgPr>
        <a:solidFill xmlns:a="http://schemas.openxmlformats.org/drawingml/2006/main">
          <a:srgbClr val="0A1422"/>
        </a:solidFill>
      </p:bgPr>
    </p:bg>
    <p:spTree>
      <p:nvGrpSpPr>
        <p:cNvPr id="1" name=""/>
        <p:cNvGrpSpPr/>
        <p:nvPr/>
      </p:nvGrpSpPr>
      <p:grpSpPr>
        <a:xfrm xmlns:a="http://schemas.openxmlformats.org/drawingml/2006/main"/>
      </p:grpSpPr>
      <p:sp>
        <p:nvSpPr>
          <p:cNvPr id="6" name="Roles and responsibilities">
            <a:extLst xmlns:a="http://schemas.openxmlformats.org/drawingml/2006/main">
              <a:ext uri="{FF2B5EF4-FFF2-40B4-BE49-F238E27FC236}">
                <a16:creationId xmlns:a16="http://schemas.microsoft.com/office/drawing/2014/main" id="{5E65F87C-1A8F-4723-A826-CFBC15EF0CC0}"/>
              </a:ext>
            </a:extLst>
          </p:cNvPr>
          <p:cNvSpPr>
            <a:spLocks xmlns:a="http://schemas.openxmlformats.org/drawingml/2006/main" noGrp="1"/>
          </p:cNvSpPr>
          <p:nvPr/>
        </p:nvSpPr>
        <p:spPr>
          <a:xfrm xmlns:a="http://schemas.openxmlformats.org/drawingml/2006/main">
            <a:off x="609600" y="43815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150" b="1">
                <a:solidFill>
                  <a:srgbClr val="EEF4FA"/>
                </a:solidFill>
                <a:latin typeface="Noto Sans"/>
                <a:ea typeface="Noto Sans"/>
                <a:cs typeface="Noto Sans"/>
              </a:defRPr>
            </a:pPr>
            <a:r>
              <a:rPr sz="3150" b="1">
                <a:solidFill>
                  <a:srgbClr val="EEF4FA"/>
                </a:solidFill>
                <a:latin typeface="Noto Sans"/>
                <a:ea typeface="Noto Sans"/>
                <a:cs typeface="Noto Sans"/>
              </a:rPr>
              <a:t>Roles and responsibilities</a:t>
            </a:r>
          </a:p>
        </p:txBody>
      </p:sp>
      <p:sp>
        <p:nvSpPr>
          <p:cNvPr id="2" name="NWTS">
            <a:extLst xmlns:a="http://schemas.openxmlformats.org/drawingml/2006/main">
              <a:ext uri="{FF2B5EF4-FFF2-40B4-BE49-F238E27FC236}">
                <a16:creationId xmlns:a16="http://schemas.microsoft.com/office/drawing/2014/main" id="{50FA0200-1643-4196-ADF9-F9095E13A617}"/>
              </a:ext>
            </a:extLst>
          </p:cNvPr>
          <p:cNvSpPr>
            <a:spLocks xmlns:a="http://schemas.openxmlformats.org/drawingml/2006/main" noGrp="1"/>
          </p:cNvSpPr>
          <p:nvPr/>
        </p:nvSpPr>
        <p:spPr>
          <a:xfrm xmlns:a="http://schemas.openxmlformats.org/drawingml/2006/main">
            <a:off x="609600" y="6496050"/>
            <a:ext cx="4286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050" b="0">
                <a:solidFill>
                  <a:srgbClr val="B8C7D8"/>
                </a:solidFill>
                <a:latin typeface="Noto Sans"/>
                <a:ea typeface="Noto Sans"/>
                <a:cs typeface="Noto Sans"/>
              </a:defRPr>
            </a:pPr>
            <a:r>
              <a:rPr sz="1050" b="0">
                <a:solidFill>
                  <a:srgbClr val="B8C7D8"/>
                </a:solidFill>
                <a:latin typeface="Noto Sans"/>
                <a:ea typeface="Noto Sans"/>
                <a:cs typeface="Noto Sans"/>
              </a:rPr>
              <a:t>NWTS</a:t>
            </a:r>
          </a:p>
        </p:txBody>
      </p:sp>
      <p:sp>
        <p:nvSpPr>
          <p:cNvPr id="3" name="08">
            <a:extLst xmlns:a="http://schemas.openxmlformats.org/drawingml/2006/main">
              <a:ext uri="{FF2B5EF4-FFF2-40B4-BE49-F238E27FC236}">
                <a16:creationId xmlns:a16="http://schemas.microsoft.com/office/drawing/2014/main" id="{9CF2EE75-D6B7-41C0-86D0-0829F2706965}"/>
              </a:ext>
            </a:extLst>
          </p:cNvPr>
          <p:cNvSpPr>
            <a:spLocks xmlns:a="http://schemas.openxmlformats.org/drawingml/2006/main" noGrp="1"/>
          </p:cNvSpPr>
          <p:nvPr/>
        </p:nvSpPr>
        <p:spPr>
          <a:xfrm xmlns:a="http://schemas.openxmlformats.org/drawingml/2006/main">
            <a:off x="11049000" y="6496050"/>
            <a:ext cx="5334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050" b="0">
                <a:solidFill>
                  <a:srgbClr val="B8C7D8"/>
                </a:solidFill>
                <a:latin typeface="Noto Sans"/>
                <a:ea typeface="Noto Sans"/>
                <a:cs typeface="Noto Sans"/>
              </a:defRPr>
            </a:pPr>
            <a:r>
              <a:rPr sz="1050" b="0">
                <a:solidFill>
                  <a:srgbClr val="B8C7D8"/>
                </a:solidFill>
                <a:latin typeface="Noto Sans"/>
                <a:ea typeface="Noto Sans"/>
                <a:cs typeface="Noto Sans"/>
              </a:rPr>
              <a:t>08</a:t>
            </a:r>
          </a:p>
        </p:txBody>
      </p:sp>
      <p:graphicFrame>
        <p:nvGraphicFramePr>
          <p:cNvPr id="9" name=""/>
          <p:cNvGraphicFramePr/>
          <p:nvPr/>
        </p:nvGraphicFramePr>
        <p:xfrm>
          <a:off xmlns:a="http://schemas.openxmlformats.org/drawingml/2006/main" x="609600" y="1847850"/>
          <a:ext xmlns:a="http://schemas.openxmlformats.org/drawingml/2006/main" cx="10972800" cy="3200400"/>
        </p:xfrm>
        <a:graphic xmlns:a="http://schemas.openxmlformats.org/drawingml/2006/main">
          <a:graphicData uri="http://schemas.openxmlformats.org/drawingml/2006/table">
            <a:tbl>
              <a:tblPr/>
              <a:tblGrid>
                <a:gridCol w="2428875"/>
                <a:gridCol w="2857500"/>
                <a:gridCol w="5686425"/>
              </a:tblGrid>
              <a:tr h="800100">
                <a:tc>
                  <a:txBody>
                    <a:bodyPr/>
                    <a:lstStyle/>
                    <a:p>
                      <a:r>
                        <a:rPr sz="2025" b="1">
                          <a:solidFill>
                            <a:srgbClr val="2BB8F2"/>
                          </a:solidFill>
                          <a:latin typeface="Noto Sans"/>
                          <a:ea typeface="Noto Sans"/>
                          <a:cs typeface="Noto Sans"/>
                        </a:rPr>
                        <a:t>Role</a:t>
                      </a:r>
                    </a:p>
                  </a:txBody>
                  <a:tcPr marL="152400" marR="133350" marT="114300" marB="95250" anchor="ctr">
                    <a:solidFill>
                      <a:srgbClr val="203A50"/>
                    </a:solidFill>
                  </a:tcPr>
                </a:tc>
                <a:tc>
                  <a:txBody>
                    <a:bodyPr/>
                    <a:lstStyle/>
                    <a:p>
                      <a:r>
                        <a:rPr sz="2025" b="1">
                          <a:solidFill>
                            <a:srgbClr val="2BB8F2"/>
                          </a:solidFill>
                          <a:latin typeface="Noto Sans"/>
                          <a:ea typeface="Noto Sans"/>
                          <a:cs typeface="Noto Sans"/>
                        </a:rPr>
                        <a:t>Work area</a:t>
                      </a:r>
                    </a:p>
                  </a:txBody>
                  <a:tcPr marL="152400" marR="133350" marT="114300" marB="95250" anchor="ctr">
                    <a:solidFill>
                      <a:srgbClr val="203A50"/>
                    </a:solidFill>
                  </a:tcPr>
                </a:tc>
                <a:tc>
                  <a:txBody>
                    <a:bodyPr/>
                    <a:lstStyle/>
                    <a:p>
                      <a:r>
                        <a:rPr sz="2025" b="1">
                          <a:solidFill>
                            <a:srgbClr val="2BB8F2"/>
                          </a:solidFill>
                          <a:latin typeface="Noto Sans"/>
                          <a:ea typeface="Noto Sans"/>
                          <a:cs typeface="Noto Sans"/>
                        </a:rPr>
                        <a:t>Main responsibility</a:t>
                      </a:r>
                    </a:p>
                  </a:txBody>
                  <a:tcPr marL="152400" marR="133350" marT="114300" marB="95250" anchor="ctr">
                    <a:solidFill>
                      <a:srgbClr val="203A50"/>
                    </a:solidFill>
                  </a:tcPr>
                </a:tc>
              </a:tr>
              <a:tr h="800100">
                <a:tc>
                  <a:txBody>
                    <a:bodyPr/>
                    <a:lstStyle/>
                    <a:p>
                      <a:r>
                        <a:rPr sz="2025" b="0">
                          <a:solidFill>
                            <a:srgbClr val="EEF4FA"/>
                          </a:solidFill>
                          <a:latin typeface="Noto Sans"/>
                          <a:ea typeface="Noto Sans"/>
                          <a:cs typeface="Noto Sans"/>
                        </a:rPr>
                        <a:t>Employee</a:t>
                      </a:r>
                    </a:p>
                  </a:txBody>
                  <a:tcPr marL="152400" marR="133350" marT="114300" marB="95250" anchor="ctr">
                    <a:solidFill>
                      <a:srgbClr val="12223A"/>
                    </a:solidFill>
                  </a:tcPr>
                </a:tc>
                <a:tc>
                  <a:txBody>
                    <a:bodyPr/>
                    <a:lstStyle/>
                    <a:p>
                      <a:r>
                        <a:rPr sz="2025" b="0">
                          <a:solidFill>
                            <a:srgbClr val="EEF4FA"/>
                          </a:solidFill>
                          <a:latin typeface="Noto Sans"/>
                          <a:ea typeface="Noto Sans"/>
                          <a:cs typeface="Noto Sans"/>
                        </a:rPr>
                        <a:t>One assigned step</a:t>
                      </a:r>
                    </a:p>
                  </a:txBody>
                  <a:tcPr marL="152400" marR="133350" marT="114300" marB="95250" anchor="ctr">
                    <a:solidFill>
                      <a:srgbClr val="12223A"/>
                    </a:solidFill>
                  </a:tcPr>
                </a:tc>
                <a:tc>
                  <a:txBody>
                    <a:bodyPr/>
                    <a:lstStyle/>
                    <a:p>
                      <a:r>
                        <a:rPr sz="2025" b="0">
                          <a:solidFill>
                            <a:srgbClr val="EEF4FA"/>
                          </a:solidFill>
                          <a:latin typeface="Noto Sans"/>
                          <a:ea typeface="Noto Sans"/>
                          <a:cs typeface="Noto Sans"/>
                        </a:rPr>
                        <a:t>Carry out permitted daily tasks</a:t>
                      </a:r>
                    </a:p>
                  </a:txBody>
                  <a:tcPr marL="152400" marR="133350" marT="114300" marB="95250" anchor="ctr">
                    <a:solidFill>
                      <a:srgbClr val="12223A"/>
                    </a:solidFill>
                  </a:tcPr>
                </a:tc>
              </a:tr>
              <a:tr h="800100">
                <a:tc>
                  <a:txBody>
                    <a:bodyPr/>
                    <a:lstStyle/>
                    <a:p>
                      <a:r>
                        <a:rPr sz="2025" b="0">
                          <a:solidFill>
                            <a:srgbClr val="EEF4FA"/>
                          </a:solidFill>
                          <a:latin typeface="Noto Sans"/>
                          <a:ea typeface="Noto Sans"/>
                          <a:cs typeface="Noto Sans"/>
                        </a:rPr>
                        <a:t>Supervision</a:t>
                      </a:r>
                    </a:p>
                  </a:txBody>
                  <a:tcPr marL="152400" marR="133350" marT="114300" marB="95250" anchor="ctr">
                    <a:solidFill>
                      <a:srgbClr val="0A1422"/>
                    </a:solidFill>
                  </a:tcPr>
                </a:tc>
                <a:tc>
                  <a:txBody>
                    <a:bodyPr/>
                    <a:lstStyle/>
                    <a:p>
                      <a:r>
                        <a:rPr sz="2025" b="0">
                          <a:solidFill>
                            <a:srgbClr val="EEF4FA"/>
                          </a:solidFill>
                          <a:latin typeface="Noto Sans"/>
                          <a:ea typeface="Noto Sans"/>
                          <a:cs typeface="Noto Sans"/>
                        </a:rPr>
                        <a:t>All three steps</a:t>
                      </a:r>
                    </a:p>
                  </a:txBody>
                  <a:tcPr marL="152400" marR="133350" marT="114300" marB="95250" anchor="ctr">
                    <a:solidFill>
                      <a:srgbClr val="0A1422"/>
                    </a:solidFill>
                  </a:tcPr>
                </a:tc>
                <a:tc>
                  <a:txBody>
                    <a:bodyPr/>
                    <a:lstStyle/>
                    <a:p>
                      <a:r>
                        <a:rPr sz="2025" b="0">
                          <a:solidFill>
                            <a:srgbClr val="EEF4FA"/>
                          </a:solidFill>
                          <a:latin typeface="Noto Sans"/>
                          <a:ea typeface="Noto Sans"/>
                          <a:cs typeface="Noto Sans"/>
                        </a:rPr>
                        <a:t>Oversee work and create Employee accounts</a:t>
                      </a:r>
                    </a:p>
                  </a:txBody>
                  <a:tcPr marL="152400" marR="133350" marT="114300" marB="95250" anchor="ctr">
                    <a:solidFill>
                      <a:srgbClr val="0A1422"/>
                    </a:solidFill>
                  </a:tcPr>
                </a:tc>
              </a:tr>
              <a:tr h="800100">
                <a:tc>
                  <a:txBody>
                    <a:bodyPr/>
                    <a:lstStyle/>
                    <a:p>
                      <a:r>
                        <a:rPr sz="2025" b="0">
                          <a:solidFill>
                            <a:srgbClr val="EEF4FA"/>
                          </a:solidFill>
                          <a:latin typeface="Noto Sans"/>
                          <a:ea typeface="Noto Sans"/>
                          <a:cs typeface="Noto Sans"/>
                        </a:rPr>
                        <a:t>Administrator</a:t>
                      </a:r>
                    </a:p>
                  </a:txBody>
                  <a:tcPr marL="152400" marR="133350" marT="114300" marB="95250" anchor="ctr">
                    <a:solidFill>
                      <a:srgbClr val="12223A"/>
                    </a:solidFill>
                  </a:tcPr>
                </a:tc>
                <a:tc>
                  <a:txBody>
                    <a:bodyPr/>
                    <a:lstStyle/>
                    <a:p>
                      <a:r>
                        <a:rPr sz="2025" b="0">
                          <a:solidFill>
                            <a:srgbClr val="EEF4FA"/>
                          </a:solidFill>
                          <a:latin typeface="Noto Sans"/>
                          <a:ea typeface="Noto Sans"/>
                          <a:cs typeface="Noto Sans"/>
                        </a:rPr>
                        <a:t>All three steps</a:t>
                      </a:r>
                    </a:p>
                  </a:txBody>
                  <a:tcPr marL="152400" marR="133350" marT="114300" marB="95250" anchor="ctr">
                    <a:solidFill>
                      <a:srgbClr val="12223A"/>
                    </a:solidFill>
                  </a:tcPr>
                </a:tc>
                <a:tc>
                  <a:txBody>
                    <a:bodyPr/>
                    <a:lstStyle/>
                    <a:p>
                      <a:r>
                        <a:rPr sz="2025" b="0">
                          <a:solidFill>
                            <a:srgbClr val="EEF4FA"/>
                          </a:solidFill>
                          <a:latin typeface="Noto Sans"/>
                          <a:ea typeface="Noto Sans"/>
                          <a:cs typeface="Noto Sans"/>
                        </a:rPr>
                        <a:t>Manage accounts, definitions and controlled corrections</a:t>
                      </a:r>
                    </a:p>
                  </a:txBody>
                  <a:tcPr marL="152400" marR="133350" marT="114300" marB="95250" anchor="ctr">
                    <a:solidFill>
                      <a:srgbClr val="12223A"/>
                    </a:solidFill>
                  </a:tcPr>
                </a:tc>
              </a:tr>
            </a:tbl>
          </a:graphicData>
        </a:graphic>
      </p:graphicFrame>
      <p:sp>
        <p:nvSpPr>
          <p:cNvPr id="5" name="Each organisation has its own data. Permissions also depend on the act">
            <a:extLst xmlns:a="http://schemas.openxmlformats.org/drawingml/2006/main">
              <a:ext uri="{FF2B5EF4-FFF2-40B4-BE49-F238E27FC236}">
                <a16:creationId xmlns:a16="http://schemas.microsoft.com/office/drawing/2014/main" id="{9A8A9295-00A5-4D05-A46E-81E21F4ED1E8}"/>
              </a:ext>
            </a:extLst>
          </p:cNvPr>
          <p:cNvSpPr>
            <a:spLocks xmlns:a="http://schemas.openxmlformats.org/drawingml/2006/main" noGrp="1"/>
          </p:cNvSpPr>
          <p:nvPr/>
        </p:nvSpPr>
        <p:spPr>
          <a:xfrm xmlns:a="http://schemas.openxmlformats.org/drawingml/2006/main">
            <a:off x="609600" y="5486400"/>
            <a:ext cx="108394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0">
                <a:solidFill>
                  <a:srgbClr val="B8C7D8"/>
                </a:solidFill>
                <a:latin typeface="Noto Sans"/>
                <a:ea typeface="Noto Sans"/>
                <a:cs typeface="Noto Sans"/>
              </a:defRPr>
            </a:pPr>
            <a:r>
              <a:rPr sz="1800" b="0">
                <a:solidFill>
                  <a:srgbClr val="B8C7D8"/>
                </a:solidFill>
                <a:latin typeface="Noto Sans"/>
                <a:ea typeface="Noto Sans"/>
                <a:cs typeface="Noto Sans"/>
              </a:rPr>
              <a:t>Each organisation has its own data. Permissions also depend on the action and record status.</a:t>
            </a:r>
          </a:p>
        </p:txBody>
      </p:sp>
    </p:spTree>
    <p:extLst>
      <p:ext uri="{BB962C8B-B14F-4D97-AF65-F5344CB8AC3E}">
        <p14:creationId xmlns:p14="http://schemas.microsoft.com/office/powerpoint/2010/main" val="788436590"/>
      </p:ext>
    </p:extLst>
  </p:cSld>
</p:sld>
</file>

<file path=ppt/slides/slide9.xml><?xml version="1.0" encoding="utf-8"?>
<p:sld xmlns:p="http://schemas.openxmlformats.org/presentationml/2006/main">
  <p:cSld>
    <p:bg>
      <p:bgPr>
        <a:solidFill xmlns:a="http://schemas.openxmlformats.org/drawingml/2006/main">
          <a:srgbClr val="0A1422"/>
        </a:solidFill>
      </p:bgPr>
    </p:bg>
    <p:spTree>
      <p:nvGrpSpPr>
        <p:cNvPr id="1" name=""/>
        <p:cNvGrpSpPr/>
        <p:nvPr/>
      </p:nvGrpSpPr>
      <p:grpSpPr>
        <a:xfrm xmlns:a="http://schemas.openxmlformats.org/drawingml/2006/main"/>
      </p:grpSpPr>
      <p:sp>
        <p:nvSpPr>
          <p:cNvPr id="16" name="Current scope and next development">
            <a:extLst xmlns:a="http://schemas.openxmlformats.org/drawingml/2006/main">
              <a:ext uri="{FF2B5EF4-FFF2-40B4-BE49-F238E27FC236}">
                <a16:creationId xmlns:a16="http://schemas.microsoft.com/office/drawing/2014/main" id="{AB533B52-7313-4673-8F9C-59A786A12557}"/>
              </a:ext>
            </a:extLst>
          </p:cNvPr>
          <p:cNvSpPr>
            <a:spLocks xmlns:a="http://schemas.openxmlformats.org/drawingml/2006/main" noGrp="1"/>
          </p:cNvSpPr>
          <p:nvPr/>
        </p:nvSpPr>
        <p:spPr>
          <a:xfrm xmlns:a="http://schemas.openxmlformats.org/drawingml/2006/main">
            <a:off x="609600" y="43815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150" b="1">
                <a:solidFill>
                  <a:srgbClr val="EEF4FA"/>
                </a:solidFill>
                <a:latin typeface="Noto Sans"/>
                <a:ea typeface="Noto Sans"/>
                <a:cs typeface="Noto Sans"/>
              </a:defRPr>
            </a:pPr>
            <a:r>
              <a:rPr sz="3150" b="1">
                <a:solidFill>
                  <a:srgbClr val="EEF4FA"/>
                </a:solidFill>
                <a:latin typeface="Noto Sans"/>
                <a:ea typeface="Noto Sans"/>
                <a:cs typeface="Noto Sans"/>
              </a:rPr>
              <a:t>Current scope and next development</a:t>
            </a:r>
          </a:p>
        </p:txBody>
      </p:sp>
      <p:sp>
        <p:nvSpPr>
          <p:cNvPr id="2" name="NWTS">
            <a:extLst xmlns:a="http://schemas.openxmlformats.org/drawingml/2006/main">
              <a:ext uri="{FF2B5EF4-FFF2-40B4-BE49-F238E27FC236}">
                <a16:creationId xmlns:a16="http://schemas.microsoft.com/office/drawing/2014/main" id="{FC1681C7-404E-4C3D-A697-09725825FCA1}"/>
              </a:ext>
            </a:extLst>
          </p:cNvPr>
          <p:cNvSpPr>
            <a:spLocks xmlns:a="http://schemas.openxmlformats.org/drawingml/2006/main" noGrp="1"/>
          </p:cNvSpPr>
          <p:nvPr/>
        </p:nvSpPr>
        <p:spPr>
          <a:xfrm xmlns:a="http://schemas.openxmlformats.org/drawingml/2006/main">
            <a:off x="609600" y="6496050"/>
            <a:ext cx="4286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050" b="0">
                <a:solidFill>
                  <a:srgbClr val="B8C7D8"/>
                </a:solidFill>
                <a:latin typeface="Noto Sans"/>
                <a:ea typeface="Noto Sans"/>
                <a:cs typeface="Noto Sans"/>
              </a:defRPr>
            </a:pPr>
            <a:r>
              <a:rPr sz="1050" b="0">
                <a:solidFill>
                  <a:srgbClr val="B8C7D8"/>
                </a:solidFill>
                <a:latin typeface="Noto Sans"/>
                <a:ea typeface="Noto Sans"/>
                <a:cs typeface="Noto Sans"/>
              </a:rPr>
              <a:t>NWTS</a:t>
            </a:r>
          </a:p>
        </p:txBody>
      </p:sp>
      <p:sp>
        <p:nvSpPr>
          <p:cNvPr id="3" name="09">
            <a:extLst xmlns:a="http://schemas.openxmlformats.org/drawingml/2006/main">
              <a:ext uri="{FF2B5EF4-FFF2-40B4-BE49-F238E27FC236}">
                <a16:creationId xmlns:a16="http://schemas.microsoft.com/office/drawing/2014/main" id="{46C75D53-EA1E-4676-97B7-F96680A4E233}"/>
              </a:ext>
            </a:extLst>
          </p:cNvPr>
          <p:cNvSpPr>
            <a:spLocks xmlns:a="http://schemas.openxmlformats.org/drawingml/2006/main" noGrp="1"/>
          </p:cNvSpPr>
          <p:nvPr/>
        </p:nvSpPr>
        <p:spPr>
          <a:xfrm xmlns:a="http://schemas.openxmlformats.org/drawingml/2006/main">
            <a:off x="11049000" y="6496050"/>
            <a:ext cx="5334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050" b="0">
                <a:solidFill>
                  <a:srgbClr val="B8C7D8"/>
                </a:solidFill>
                <a:latin typeface="Noto Sans"/>
                <a:ea typeface="Noto Sans"/>
                <a:cs typeface="Noto Sans"/>
              </a:defRPr>
            </a:pPr>
            <a:r>
              <a:rPr sz="1050" b="0">
                <a:solidFill>
                  <a:srgbClr val="B8C7D8"/>
                </a:solidFill>
                <a:latin typeface="Noto Sans"/>
                <a:ea typeface="Noto Sans"/>
                <a:cs typeface="Noto Sans"/>
              </a:rPr>
              <a:t>09</a:t>
            </a:r>
          </a:p>
        </p:txBody>
      </p:sp>
      <p:sp>
        <p:nvSpPr>
          <p:cNvPr id="4" name="Available in the prototype">
            <a:extLst xmlns:a="http://schemas.openxmlformats.org/drawingml/2006/main">
              <a:ext uri="{FF2B5EF4-FFF2-40B4-BE49-F238E27FC236}">
                <a16:creationId xmlns:a16="http://schemas.microsoft.com/office/drawing/2014/main" id="{94B2AC2B-5B23-44E9-9E11-D07B5A4F1008}"/>
              </a:ext>
            </a:extLst>
          </p:cNvPr>
          <p:cNvSpPr>
            <a:spLocks xmlns:a="http://schemas.openxmlformats.org/drawingml/2006/main" noGrp="1"/>
          </p:cNvSpPr>
          <p:nvPr/>
        </p:nvSpPr>
        <p:spPr>
          <a:xfrm xmlns:a="http://schemas.openxmlformats.org/drawingml/2006/main">
            <a:off x="609600" y="1752600"/>
            <a:ext cx="5238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1">
                <a:solidFill>
                  <a:srgbClr val="2ED3A0"/>
                </a:solidFill>
                <a:latin typeface="Noto Sans"/>
                <a:ea typeface="Noto Sans"/>
                <a:cs typeface="Noto Sans"/>
              </a:defRPr>
            </a:pPr>
            <a:r>
              <a:rPr sz="2100" b="1">
                <a:solidFill>
                  <a:srgbClr val="2ED3A0"/>
                </a:solidFill>
                <a:latin typeface="Noto Sans"/>
                <a:ea typeface="Noto Sans"/>
                <a:cs typeface="Noto Sans"/>
              </a:rPr>
              <a:t>Available in the prototype</a:t>
            </a:r>
          </a:p>
        </p:txBody>
      </p:sp>
      <p:sp>
        <p:nvSpPr>
          <p:cNvPr id="5" name="To define with a pilot partner">
            <a:extLst xmlns:a="http://schemas.openxmlformats.org/drawingml/2006/main">
              <a:ext uri="{FF2B5EF4-FFF2-40B4-BE49-F238E27FC236}">
                <a16:creationId xmlns:a16="http://schemas.microsoft.com/office/drawing/2014/main" id="{BE9AD125-95D9-448F-9B9B-02B405F91898}"/>
              </a:ext>
            </a:extLst>
          </p:cNvPr>
          <p:cNvSpPr>
            <a:spLocks xmlns:a="http://schemas.openxmlformats.org/drawingml/2006/main" noGrp="1"/>
          </p:cNvSpPr>
          <p:nvPr/>
        </p:nvSpPr>
        <p:spPr>
          <a:xfrm xmlns:a="http://schemas.openxmlformats.org/drawingml/2006/main">
            <a:off x="6419850" y="1752600"/>
            <a:ext cx="51625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1">
                <a:solidFill>
                  <a:srgbClr val="A58BFF"/>
                </a:solidFill>
                <a:latin typeface="Noto Sans"/>
                <a:ea typeface="Noto Sans"/>
                <a:cs typeface="Noto Sans"/>
              </a:defRPr>
            </a:pPr>
            <a:r>
              <a:rPr sz="2100" b="1">
                <a:solidFill>
                  <a:srgbClr val="A58BFF"/>
                </a:solidFill>
                <a:latin typeface="Noto Sans"/>
                <a:ea typeface="Noto Sans"/>
                <a:cs typeface="Noto Sans"/>
              </a:rPr>
              <a:t>To define with a pilot partner</a:t>
            </a:r>
          </a:p>
        </p:txBody>
      </p:sp>
      <p:sp>
        <p:nvSpPr>
          <p:cNvPr id="6" name="Three operational workspaces">
            <a:extLst xmlns:a="http://schemas.openxmlformats.org/drawingml/2006/main">
              <a:ext uri="{FF2B5EF4-FFF2-40B4-BE49-F238E27FC236}">
                <a16:creationId xmlns:a16="http://schemas.microsoft.com/office/drawing/2014/main" id="{4C924442-A207-4C14-ABD2-AC8135A8A3DA}"/>
              </a:ext>
            </a:extLst>
          </p:cNvPr>
          <p:cNvSpPr>
            <a:spLocks xmlns:a="http://schemas.openxmlformats.org/drawingml/2006/main" noGrp="1"/>
          </p:cNvSpPr>
          <p:nvPr/>
        </p:nvSpPr>
        <p:spPr>
          <a:xfrm xmlns:a="http://schemas.openxmlformats.org/drawingml/2006/main">
            <a:off x="609600" y="2657475"/>
            <a:ext cx="51435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EEF4FA"/>
                </a:solidFill>
                <a:latin typeface="Noto Sans"/>
                <a:ea typeface="Noto Sans"/>
                <a:cs typeface="Noto Sans"/>
              </a:defRPr>
            </a:pPr>
            <a:r>
              <a:rPr sz="1875" b="0">
                <a:solidFill>
                  <a:srgbClr val="EEF4FA"/>
                </a:solidFill>
                <a:latin typeface="Noto Sans"/>
                <a:ea typeface="Noto Sans"/>
                <a:cs typeface="Noto Sans"/>
              </a:rPr>
              <a:t>Three operational workspaces</a:t>
            </a:r>
          </a:p>
        </p:txBody>
      </p:sp>
      <p:sp>
        <p:nvSpPr>
          <p:cNvPr id="7" name="Receipt and transfer records">
            <a:extLst xmlns:a="http://schemas.openxmlformats.org/drawingml/2006/main">
              <a:ext uri="{FF2B5EF4-FFF2-40B4-BE49-F238E27FC236}">
                <a16:creationId xmlns:a16="http://schemas.microsoft.com/office/drawing/2014/main" id="{B1A3B465-F9FC-4743-BA25-63A8965D6744}"/>
              </a:ext>
            </a:extLst>
          </p:cNvPr>
          <p:cNvSpPr>
            <a:spLocks xmlns:a="http://schemas.openxmlformats.org/drawingml/2006/main" noGrp="1"/>
          </p:cNvSpPr>
          <p:nvPr/>
        </p:nvSpPr>
        <p:spPr>
          <a:xfrm xmlns:a="http://schemas.openxmlformats.org/drawingml/2006/main">
            <a:off x="609600" y="3190875"/>
            <a:ext cx="51435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EEF4FA"/>
                </a:solidFill>
                <a:latin typeface="Noto Sans"/>
                <a:ea typeface="Noto Sans"/>
                <a:cs typeface="Noto Sans"/>
              </a:defRPr>
            </a:pPr>
            <a:r>
              <a:rPr sz="1875" b="0">
                <a:solidFill>
                  <a:srgbClr val="EEF4FA"/>
                </a:solidFill>
                <a:latin typeface="Noto Sans"/>
                <a:ea typeface="Noto Sans"/>
                <a:cs typeface="Noto Sans"/>
              </a:rPr>
              <a:t>Receipt and transfer records</a:t>
            </a:r>
          </a:p>
        </p:txBody>
      </p:sp>
      <p:sp>
        <p:nvSpPr>
          <p:cNvPr id="8" name="Recorded measurements and alert handling">
            <a:extLst xmlns:a="http://schemas.openxmlformats.org/drawingml/2006/main">
              <a:ext uri="{FF2B5EF4-FFF2-40B4-BE49-F238E27FC236}">
                <a16:creationId xmlns:a16="http://schemas.microsoft.com/office/drawing/2014/main" id="{48C231F2-9880-4E8E-B0EF-1AF5FE8B193B}"/>
              </a:ext>
            </a:extLst>
          </p:cNvPr>
          <p:cNvSpPr>
            <a:spLocks xmlns:a="http://schemas.openxmlformats.org/drawingml/2006/main" noGrp="1"/>
          </p:cNvSpPr>
          <p:nvPr/>
        </p:nvSpPr>
        <p:spPr>
          <a:xfrm xmlns:a="http://schemas.openxmlformats.org/drawingml/2006/main">
            <a:off x="609600" y="3724275"/>
            <a:ext cx="51435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EEF4FA"/>
                </a:solidFill>
                <a:latin typeface="Noto Sans"/>
                <a:ea typeface="Noto Sans"/>
                <a:cs typeface="Noto Sans"/>
              </a:defRPr>
            </a:pPr>
            <a:r>
              <a:rPr sz="1875" b="0">
                <a:solidFill>
                  <a:srgbClr val="EEF4FA"/>
                </a:solidFill>
                <a:latin typeface="Noto Sans"/>
                <a:ea typeface="Noto Sans"/>
                <a:cs typeface="Noto Sans"/>
              </a:rPr>
              <a:t>Recorded measurements and alert handling</a:t>
            </a:r>
          </a:p>
        </p:txBody>
      </p:sp>
      <p:sp>
        <p:nvSpPr>
          <p:cNvPr id="9" name="Stock verification and correction records">
            <a:extLst xmlns:a="http://schemas.openxmlformats.org/drawingml/2006/main">
              <a:ext uri="{FF2B5EF4-FFF2-40B4-BE49-F238E27FC236}">
                <a16:creationId xmlns:a16="http://schemas.microsoft.com/office/drawing/2014/main" id="{188A6F11-63E1-42C0-9290-FAD301CA4411}"/>
              </a:ext>
            </a:extLst>
          </p:cNvPr>
          <p:cNvSpPr>
            <a:spLocks xmlns:a="http://schemas.openxmlformats.org/drawingml/2006/main" noGrp="1"/>
          </p:cNvSpPr>
          <p:nvPr/>
        </p:nvSpPr>
        <p:spPr>
          <a:xfrm xmlns:a="http://schemas.openxmlformats.org/drawingml/2006/main">
            <a:off x="609600" y="4257675"/>
            <a:ext cx="51435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EEF4FA"/>
                </a:solidFill>
                <a:latin typeface="Noto Sans"/>
                <a:ea typeface="Noto Sans"/>
                <a:cs typeface="Noto Sans"/>
              </a:defRPr>
            </a:pPr>
            <a:r>
              <a:rPr sz="1875" b="0">
                <a:solidFill>
                  <a:srgbClr val="EEF4FA"/>
                </a:solidFill>
                <a:latin typeface="Noto Sans"/>
                <a:ea typeface="Noto Sans"/>
                <a:cs typeface="Noto Sans"/>
              </a:rPr>
              <a:t>Stock verification and correction records</a:t>
            </a:r>
          </a:p>
        </p:txBody>
      </p:sp>
      <p:sp>
        <p:nvSpPr>
          <p:cNvPr id="10" name="Organisation access and user roles">
            <a:extLst xmlns:a="http://schemas.openxmlformats.org/drawingml/2006/main">
              <a:ext uri="{FF2B5EF4-FFF2-40B4-BE49-F238E27FC236}">
                <a16:creationId xmlns:a16="http://schemas.microsoft.com/office/drawing/2014/main" id="{2BDF7134-EB97-4C19-A2AD-D41B53D57E77}"/>
              </a:ext>
            </a:extLst>
          </p:cNvPr>
          <p:cNvSpPr>
            <a:spLocks xmlns:a="http://schemas.openxmlformats.org/drawingml/2006/main" noGrp="1"/>
          </p:cNvSpPr>
          <p:nvPr/>
        </p:nvSpPr>
        <p:spPr>
          <a:xfrm xmlns:a="http://schemas.openxmlformats.org/drawingml/2006/main">
            <a:off x="609600" y="4791075"/>
            <a:ext cx="51435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EEF4FA"/>
                </a:solidFill>
                <a:latin typeface="Noto Sans"/>
                <a:ea typeface="Noto Sans"/>
                <a:cs typeface="Noto Sans"/>
              </a:defRPr>
            </a:pPr>
            <a:r>
              <a:rPr sz="1875" b="0">
                <a:solidFill>
                  <a:srgbClr val="EEF4FA"/>
                </a:solidFill>
                <a:latin typeface="Noto Sans"/>
                <a:ea typeface="Noto Sans"/>
                <a:cs typeface="Noto Sans"/>
              </a:rPr>
              <a:t>Organisation access and user roles</a:t>
            </a:r>
          </a:p>
        </p:txBody>
      </p:sp>
      <p:sp>
        <p:nvSpPr>
          <p:cNvPr id="11" name="Tracking each physical container individually">
            <a:extLst xmlns:a="http://schemas.openxmlformats.org/drawingml/2006/main">
              <a:ext uri="{FF2B5EF4-FFF2-40B4-BE49-F238E27FC236}">
                <a16:creationId xmlns:a16="http://schemas.microsoft.com/office/drawing/2014/main" id="{129F735A-D7BD-4827-8C78-6B5E9A9F4F73}"/>
              </a:ext>
            </a:extLst>
          </p:cNvPr>
          <p:cNvSpPr>
            <a:spLocks xmlns:a="http://schemas.openxmlformats.org/drawingml/2006/main" noGrp="1"/>
          </p:cNvSpPr>
          <p:nvPr/>
        </p:nvSpPr>
        <p:spPr>
          <a:xfrm xmlns:a="http://schemas.openxmlformats.org/drawingml/2006/main">
            <a:off x="6419850" y="2657475"/>
            <a:ext cx="516255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EEF4FA"/>
                </a:solidFill>
                <a:latin typeface="Noto Sans"/>
                <a:ea typeface="Noto Sans"/>
                <a:cs typeface="Noto Sans"/>
              </a:defRPr>
            </a:pPr>
            <a:r>
              <a:rPr sz="1875" b="0">
                <a:solidFill>
                  <a:srgbClr val="EEF4FA"/>
                </a:solidFill>
                <a:latin typeface="Noto Sans"/>
                <a:ea typeface="Noto Sans"/>
                <a:cs typeface="Noto Sans"/>
              </a:rPr>
              <a:t>Tracking each physical container individually</a:t>
            </a:r>
          </a:p>
        </p:txBody>
      </p:sp>
      <p:sp>
        <p:nvSpPr>
          <p:cNvPr id="12" name="Sensor and external-system integrations">
            <a:extLst xmlns:a="http://schemas.openxmlformats.org/drawingml/2006/main">
              <a:ext uri="{FF2B5EF4-FFF2-40B4-BE49-F238E27FC236}">
                <a16:creationId xmlns:a16="http://schemas.microsoft.com/office/drawing/2014/main" id="{385F4229-9332-46E3-BC25-99D35A1E68F4}"/>
              </a:ext>
            </a:extLst>
          </p:cNvPr>
          <p:cNvSpPr>
            <a:spLocks xmlns:a="http://schemas.openxmlformats.org/drawingml/2006/main" noGrp="1"/>
          </p:cNvSpPr>
          <p:nvPr/>
        </p:nvSpPr>
        <p:spPr>
          <a:xfrm xmlns:a="http://schemas.openxmlformats.org/drawingml/2006/main">
            <a:off x="6419850" y="3333750"/>
            <a:ext cx="516255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EEF4FA"/>
                </a:solidFill>
                <a:latin typeface="Noto Sans"/>
                <a:ea typeface="Noto Sans"/>
                <a:cs typeface="Noto Sans"/>
              </a:defRPr>
            </a:pPr>
            <a:r>
              <a:rPr sz="1875" b="0">
                <a:solidFill>
                  <a:srgbClr val="EEF4FA"/>
                </a:solidFill>
                <a:latin typeface="Noto Sans"/>
                <a:ea typeface="Noto Sans"/>
                <a:cs typeface="Noto Sans"/>
              </a:rPr>
              <a:t>Sensor and external-system integrations</a:t>
            </a:r>
          </a:p>
        </p:txBody>
      </p:sp>
      <p:sp>
        <p:nvSpPr>
          <p:cNvPr id="13" name="Background notifications">
            <a:extLst xmlns:a="http://schemas.openxmlformats.org/drawingml/2006/main">
              <a:ext uri="{FF2B5EF4-FFF2-40B4-BE49-F238E27FC236}">
                <a16:creationId xmlns:a16="http://schemas.microsoft.com/office/drawing/2014/main" id="{2C40F68A-4C94-41F9-A733-747D34CC797F}"/>
              </a:ext>
            </a:extLst>
          </p:cNvPr>
          <p:cNvSpPr>
            <a:spLocks xmlns:a="http://schemas.openxmlformats.org/drawingml/2006/main" noGrp="1"/>
          </p:cNvSpPr>
          <p:nvPr/>
        </p:nvSpPr>
        <p:spPr>
          <a:xfrm xmlns:a="http://schemas.openxmlformats.org/drawingml/2006/main">
            <a:off x="6419850" y="4010025"/>
            <a:ext cx="516255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EEF4FA"/>
                </a:solidFill>
                <a:latin typeface="Noto Sans"/>
                <a:ea typeface="Noto Sans"/>
                <a:cs typeface="Noto Sans"/>
              </a:defRPr>
            </a:pPr>
            <a:r>
              <a:rPr sz="1875" b="0">
                <a:solidFill>
                  <a:srgbClr val="EEF4FA"/>
                </a:solidFill>
                <a:latin typeface="Noto Sans"/>
                <a:ea typeface="Noto Sans"/>
                <a:cs typeface="Noto Sans"/>
              </a:rPr>
              <a:t>Background notifications</a:t>
            </a:r>
          </a:p>
        </p:txBody>
      </p:sp>
      <p:sp>
        <p:nvSpPr>
          <p:cNvPr id="14" name="Site-specific validation and deployment">
            <a:extLst xmlns:a="http://schemas.openxmlformats.org/drawingml/2006/main">
              <a:ext uri="{FF2B5EF4-FFF2-40B4-BE49-F238E27FC236}">
                <a16:creationId xmlns:a16="http://schemas.microsoft.com/office/drawing/2014/main" id="{D2D4F714-3E23-4E8F-8DC5-F37BE8300679}"/>
              </a:ext>
            </a:extLst>
          </p:cNvPr>
          <p:cNvSpPr>
            <a:spLocks xmlns:a="http://schemas.openxmlformats.org/drawingml/2006/main" noGrp="1"/>
          </p:cNvSpPr>
          <p:nvPr/>
        </p:nvSpPr>
        <p:spPr>
          <a:xfrm xmlns:a="http://schemas.openxmlformats.org/drawingml/2006/main">
            <a:off x="6419850" y="4686300"/>
            <a:ext cx="516255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EEF4FA"/>
                </a:solidFill>
                <a:latin typeface="Noto Sans"/>
                <a:ea typeface="Noto Sans"/>
                <a:cs typeface="Noto Sans"/>
              </a:defRPr>
            </a:pPr>
            <a:r>
              <a:rPr sz="1875" b="0">
                <a:solidFill>
                  <a:srgbClr val="EEF4FA"/>
                </a:solidFill>
                <a:latin typeface="Noto Sans"/>
                <a:ea typeface="Noto Sans"/>
                <a:cs typeface="Noto Sans"/>
              </a:rPr>
              <a:t>Site-specific validation and deployment</a:t>
            </a:r>
          </a:p>
        </p:txBody>
      </p:sp>
      <p:sp>
        <p:nvSpPr>
          <p:cNvPr id="15" name="A pilot should test the agreed workflow with demonstration or approved">
            <a:extLst xmlns:a="http://schemas.openxmlformats.org/drawingml/2006/main">
              <a:ext uri="{FF2B5EF4-FFF2-40B4-BE49-F238E27FC236}">
                <a16:creationId xmlns:a16="http://schemas.microsoft.com/office/drawing/2014/main" id="{86542122-D268-4102-B79E-69B94DD35CE5}"/>
              </a:ext>
            </a:extLst>
          </p:cNvPr>
          <p:cNvSpPr>
            <a:spLocks xmlns:a="http://schemas.openxmlformats.org/drawingml/2006/main" noGrp="1"/>
          </p:cNvSpPr>
          <p:nvPr/>
        </p:nvSpPr>
        <p:spPr>
          <a:xfrm xmlns:a="http://schemas.openxmlformats.org/drawingml/2006/main">
            <a:off x="609600" y="5848350"/>
            <a:ext cx="109728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0">
                <a:solidFill>
                  <a:srgbClr val="B8C7D8"/>
                </a:solidFill>
                <a:latin typeface="Noto Sans"/>
                <a:ea typeface="Noto Sans"/>
                <a:cs typeface="Noto Sans"/>
              </a:defRPr>
            </a:pPr>
            <a:r>
              <a:rPr sz="1650" b="0">
                <a:solidFill>
                  <a:srgbClr val="B8C7D8"/>
                </a:solidFill>
                <a:latin typeface="Noto Sans"/>
                <a:ea typeface="Noto Sans"/>
                <a:cs typeface="Noto Sans"/>
              </a:rPr>
              <a:t>A pilot should test the agreed workflow with demonstration or approved test data.</a:t>
            </a:r>
          </a:p>
        </p:txBody>
      </p:sp>
    </p:spTree>
    <p:extLst>
      <p:ext uri="{BB962C8B-B14F-4D97-AF65-F5344CB8AC3E}">
        <p14:creationId xmlns:p14="http://schemas.microsoft.com/office/powerpoint/2010/main" val="1243371528"/>
      </p:ext>
    </p:extLst>
  </p:cSld>
</p:sld>
</file>

<file path=ppt/slides/slide10.xml><?xml version="1.0" encoding="utf-8"?>
<p:sld xmlns:p="http://schemas.openxmlformats.org/presentationml/2006/main">
  <p:cSld>
    <p:bg>
      <p:bgPr>
        <a:solidFill xmlns:a="http://schemas.openxmlformats.org/drawingml/2006/main">
          <a:srgbClr val="0A1422"/>
        </a:solidFill>
      </p:bgPr>
    </p:bg>
    <p:spTree>
      <p:nvGrpSpPr>
        <p:cNvPr id="1" name=""/>
        <p:cNvGrpSpPr/>
        <p:nvPr/>
      </p:nvGrpSpPr>
      <p:grpSpPr>
        <a:xfrm xmlns:a="http://schemas.openxmlformats.org/drawingml/2006/main"/>
      </p:grpSpPr>
      <p:sp>
        <p:nvSpPr>
          <p:cNvPr id="15" name="A focused pilot">
            <a:extLst xmlns:a="http://schemas.openxmlformats.org/drawingml/2006/main">
              <a:ext uri="{FF2B5EF4-FFF2-40B4-BE49-F238E27FC236}">
                <a16:creationId xmlns:a16="http://schemas.microsoft.com/office/drawing/2014/main" id="{D67EA4D9-1104-4101-9A78-B718B7DF3FB3}"/>
              </a:ext>
            </a:extLst>
          </p:cNvPr>
          <p:cNvSpPr>
            <a:spLocks xmlns:a="http://schemas.openxmlformats.org/drawingml/2006/main" noGrp="1"/>
          </p:cNvSpPr>
          <p:nvPr/>
        </p:nvSpPr>
        <p:spPr>
          <a:xfrm xmlns:a="http://schemas.openxmlformats.org/drawingml/2006/main">
            <a:off x="609600" y="43815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150" b="1">
                <a:solidFill>
                  <a:srgbClr val="EEF4FA"/>
                </a:solidFill>
                <a:latin typeface="Noto Sans"/>
                <a:ea typeface="Noto Sans"/>
                <a:cs typeface="Noto Sans"/>
              </a:defRPr>
            </a:pPr>
            <a:r>
              <a:rPr sz="3150" b="1">
                <a:solidFill>
                  <a:srgbClr val="EEF4FA"/>
                </a:solidFill>
                <a:latin typeface="Noto Sans"/>
                <a:ea typeface="Noto Sans"/>
                <a:cs typeface="Noto Sans"/>
              </a:rPr>
              <a:t>A focused pilot</a:t>
            </a:r>
          </a:p>
        </p:txBody>
      </p:sp>
      <p:sp>
        <p:nvSpPr>
          <p:cNvPr id="2" name="NWTS">
            <a:extLst xmlns:a="http://schemas.openxmlformats.org/drawingml/2006/main">
              <a:ext uri="{FF2B5EF4-FFF2-40B4-BE49-F238E27FC236}">
                <a16:creationId xmlns:a16="http://schemas.microsoft.com/office/drawing/2014/main" id="{715E49DE-6F78-4DCB-AE46-A6DAFD2DB1F5}"/>
              </a:ext>
            </a:extLst>
          </p:cNvPr>
          <p:cNvSpPr>
            <a:spLocks xmlns:a="http://schemas.openxmlformats.org/drawingml/2006/main" noGrp="1"/>
          </p:cNvSpPr>
          <p:nvPr/>
        </p:nvSpPr>
        <p:spPr>
          <a:xfrm xmlns:a="http://schemas.openxmlformats.org/drawingml/2006/main">
            <a:off x="609600" y="6496050"/>
            <a:ext cx="4286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050" b="0">
                <a:solidFill>
                  <a:srgbClr val="B8C7D8"/>
                </a:solidFill>
                <a:latin typeface="Noto Sans"/>
                <a:ea typeface="Noto Sans"/>
                <a:cs typeface="Noto Sans"/>
              </a:defRPr>
            </a:pPr>
            <a:r>
              <a:rPr sz="1050" b="0">
                <a:solidFill>
                  <a:srgbClr val="B8C7D8"/>
                </a:solidFill>
                <a:latin typeface="Noto Sans"/>
                <a:ea typeface="Noto Sans"/>
                <a:cs typeface="Noto Sans"/>
              </a:rPr>
              <a:t>NWTS</a:t>
            </a:r>
          </a:p>
        </p:txBody>
      </p:sp>
      <p:sp>
        <p:nvSpPr>
          <p:cNvPr id="3" name="10">
            <a:extLst xmlns:a="http://schemas.openxmlformats.org/drawingml/2006/main">
              <a:ext uri="{FF2B5EF4-FFF2-40B4-BE49-F238E27FC236}">
                <a16:creationId xmlns:a16="http://schemas.microsoft.com/office/drawing/2014/main" id="{47F65E8E-63BB-429F-B917-3690C29B530E}"/>
              </a:ext>
            </a:extLst>
          </p:cNvPr>
          <p:cNvSpPr>
            <a:spLocks xmlns:a="http://schemas.openxmlformats.org/drawingml/2006/main" noGrp="1"/>
          </p:cNvSpPr>
          <p:nvPr/>
        </p:nvSpPr>
        <p:spPr>
          <a:xfrm xmlns:a="http://schemas.openxmlformats.org/drawingml/2006/main">
            <a:off x="11049000" y="6496050"/>
            <a:ext cx="5334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050" b="0">
                <a:solidFill>
                  <a:srgbClr val="B8C7D8"/>
                </a:solidFill>
                <a:latin typeface="Noto Sans"/>
                <a:ea typeface="Noto Sans"/>
                <a:cs typeface="Noto Sans"/>
              </a:defRPr>
            </a:pPr>
            <a:r>
              <a:rPr sz="1050" b="0">
                <a:solidFill>
                  <a:srgbClr val="B8C7D8"/>
                </a:solidFill>
                <a:latin typeface="Noto Sans"/>
                <a:ea typeface="Noto Sans"/>
                <a:cs typeface="Noto Sans"/>
              </a:rPr>
              <a:t>10</a:t>
            </a:r>
          </a:p>
        </p:txBody>
      </p:sp>
      <p:sp>
        <p:nvSpPr>
          <p:cNvPr id="4" name="One organisation. One agreed workflow. Clear acceptance criteria.">
            <a:extLst xmlns:a="http://schemas.openxmlformats.org/drawingml/2006/main">
              <a:ext uri="{FF2B5EF4-FFF2-40B4-BE49-F238E27FC236}">
                <a16:creationId xmlns:a16="http://schemas.microsoft.com/office/drawing/2014/main" id="{AA4F3D25-53ED-476E-8210-607B9E32F4AB}"/>
              </a:ext>
            </a:extLst>
          </p:cNvPr>
          <p:cNvSpPr>
            <a:spLocks xmlns:a="http://schemas.openxmlformats.org/drawingml/2006/main" noGrp="1"/>
          </p:cNvSpPr>
          <p:nvPr/>
        </p:nvSpPr>
        <p:spPr>
          <a:xfrm xmlns:a="http://schemas.openxmlformats.org/drawingml/2006/main">
            <a:off x="609600" y="1524000"/>
            <a:ext cx="109728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325" b="0">
                <a:solidFill>
                  <a:srgbClr val="B8C7D8"/>
                </a:solidFill>
                <a:latin typeface="Noto Sans"/>
                <a:ea typeface="Noto Sans"/>
                <a:cs typeface="Noto Sans"/>
              </a:defRPr>
            </a:pPr>
            <a:r>
              <a:rPr sz="2325" b="0">
                <a:solidFill>
                  <a:srgbClr val="B8C7D8"/>
                </a:solidFill>
                <a:latin typeface="Noto Sans"/>
                <a:ea typeface="Noto Sans"/>
                <a:cs typeface="Noto Sans"/>
              </a:rPr>
              <a:t>One organisation. One agreed workflow. Clear acceptance criteria.</a:t>
            </a:r>
          </a:p>
        </p:txBody>
      </p:sp>
      <p:sp>
        <p:nvSpPr>
          <p:cNvPr id="5" name="1">
            <a:extLst xmlns:a="http://schemas.openxmlformats.org/drawingml/2006/main">
              <a:ext uri="{FF2B5EF4-FFF2-40B4-BE49-F238E27FC236}">
                <a16:creationId xmlns:a16="http://schemas.microsoft.com/office/drawing/2014/main" id="{E1945234-0CBF-4BC0-888A-D40C4B958448}"/>
              </a:ext>
            </a:extLst>
          </p:cNvPr>
          <p:cNvSpPr>
            <a:spLocks xmlns:a="http://schemas.openxmlformats.org/drawingml/2006/main" noGrp="1"/>
          </p:cNvSpPr>
          <p:nvPr/>
        </p:nvSpPr>
        <p:spPr>
          <a:xfrm xmlns:a="http://schemas.openxmlformats.org/drawingml/2006/main">
            <a:off x="609600" y="2686050"/>
            <a:ext cx="5524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925" b="1">
                <a:solidFill>
                  <a:srgbClr val="2BB8F2"/>
                </a:solidFill>
                <a:latin typeface="Noto Sans"/>
                <a:ea typeface="Noto Sans"/>
                <a:cs typeface="Noto Sans"/>
              </a:defRPr>
            </a:pPr>
            <a:r>
              <a:rPr sz="2925" b="1">
                <a:solidFill>
                  <a:srgbClr val="2BB8F2"/>
                </a:solidFill>
                <a:latin typeface="Noto Sans"/>
                <a:ea typeface="Noto Sans"/>
                <a:cs typeface="Noto Sans"/>
              </a:rPr>
              <a:t>1</a:t>
            </a:r>
          </a:p>
        </p:txBody>
      </p:sp>
      <p:sp>
        <p:nvSpPr>
          <p:cNvPr id="6" name="Map the process">
            <a:extLst xmlns:a="http://schemas.openxmlformats.org/drawingml/2006/main">
              <a:ext uri="{FF2B5EF4-FFF2-40B4-BE49-F238E27FC236}">
                <a16:creationId xmlns:a16="http://schemas.microsoft.com/office/drawing/2014/main" id="{8865978C-B3D1-4D5F-836B-2175B1A77F33}"/>
              </a:ext>
            </a:extLst>
          </p:cNvPr>
          <p:cNvSpPr>
            <a:spLocks xmlns:a="http://schemas.openxmlformats.org/drawingml/2006/main" noGrp="1"/>
          </p:cNvSpPr>
          <p:nvPr/>
        </p:nvSpPr>
        <p:spPr>
          <a:xfrm xmlns:a="http://schemas.openxmlformats.org/drawingml/2006/main">
            <a:off x="1428750" y="2695575"/>
            <a:ext cx="3714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1">
                <a:solidFill>
                  <a:srgbClr val="EEF4FA"/>
                </a:solidFill>
                <a:latin typeface="Noto Sans"/>
                <a:ea typeface="Noto Sans"/>
                <a:cs typeface="Noto Sans"/>
              </a:defRPr>
            </a:pPr>
            <a:r>
              <a:rPr sz="2100" b="1">
                <a:solidFill>
                  <a:srgbClr val="EEF4FA"/>
                </a:solidFill>
                <a:latin typeface="Noto Sans"/>
                <a:ea typeface="Noto Sans"/>
                <a:cs typeface="Noto Sans"/>
              </a:rPr>
              <a:t>Map the process</a:t>
            </a:r>
          </a:p>
        </p:txBody>
      </p:sp>
      <p:sp>
        <p:nvSpPr>
          <p:cNvPr id="7" name="Confirm terminology, roles, locations and required records.">
            <a:extLst xmlns:a="http://schemas.openxmlformats.org/drawingml/2006/main">
              <a:ext uri="{FF2B5EF4-FFF2-40B4-BE49-F238E27FC236}">
                <a16:creationId xmlns:a16="http://schemas.microsoft.com/office/drawing/2014/main" id="{C6E27090-86B3-4C83-9AE3-1F17B60ABF5A}"/>
              </a:ext>
            </a:extLst>
          </p:cNvPr>
          <p:cNvSpPr>
            <a:spLocks xmlns:a="http://schemas.openxmlformats.org/drawingml/2006/main" noGrp="1"/>
          </p:cNvSpPr>
          <p:nvPr/>
        </p:nvSpPr>
        <p:spPr>
          <a:xfrm xmlns:a="http://schemas.openxmlformats.org/drawingml/2006/main">
            <a:off x="5314950" y="2714625"/>
            <a:ext cx="62674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B8C7D8"/>
                </a:solidFill>
                <a:latin typeface="Noto Sans"/>
                <a:ea typeface="Noto Sans"/>
                <a:cs typeface="Noto Sans"/>
              </a:defRPr>
            </a:pPr>
            <a:r>
              <a:rPr sz="1875" b="0">
                <a:solidFill>
                  <a:srgbClr val="B8C7D8"/>
                </a:solidFill>
                <a:latin typeface="Noto Sans"/>
                <a:ea typeface="Noto Sans"/>
                <a:cs typeface="Noto Sans"/>
              </a:rPr>
              <a:t>Confirm terminology, roles, locations and required records.</a:t>
            </a:r>
          </a:p>
        </p:txBody>
      </p:sp>
      <p:sp>
        <p:nvSpPr>
          <p:cNvPr id="8" name="2">
            <a:extLst xmlns:a="http://schemas.openxmlformats.org/drawingml/2006/main">
              <a:ext uri="{FF2B5EF4-FFF2-40B4-BE49-F238E27FC236}">
                <a16:creationId xmlns:a16="http://schemas.microsoft.com/office/drawing/2014/main" id="{80239B4F-1640-499D-B2F5-A8C1E6DE91A5}"/>
              </a:ext>
            </a:extLst>
          </p:cNvPr>
          <p:cNvSpPr>
            <a:spLocks xmlns:a="http://schemas.openxmlformats.org/drawingml/2006/main" noGrp="1"/>
          </p:cNvSpPr>
          <p:nvPr/>
        </p:nvSpPr>
        <p:spPr>
          <a:xfrm xmlns:a="http://schemas.openxmlformats.org/drawingml/2006/main">
            <a:off x="609600" y="3695700"/>
            <a:ext cx="5524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925" b="1">
                <a:solidFill>
                  <a:srgbClr val="2ED3A0"/>
                </a:solidFill>
                <a:latin typeface="Noto Sans"/>
                <a:ea typeface="Noto Sans"/>
                <a:cs typeface="Noto Sans"/>
              </a:defRPr>
            </a:pPr>
            <a:r>
              <a:rPr sz="2925" b="1">
                <a:solidFill>
                  <a:srgbClr val="2ED3A0"/>
                </a:solidFill>
                <a:latin typeface="Noto Sans"/>
                <a:ea typeface="Noto Sans"/>
                <a:cs typeface="Noto Sans"/>
              </a:rPr>
              <a:t>2</a:t>
            </a:r>
          </a:p>
        </p:txBody>
      </p:sp>
      <p:sp>
        <p:nvSpPr>
          <p:cNvPr id="9" name="Run a demonstration">
            <a:extLst xmlns:a="http://schemas.openxmlformats.org/drawingml/2006/main">
              <a:ext uri="{FF2B5EF4-FFF2-40B4-BE49-F238E27FC236}">
                <a16:creationId xmlns:a16="http://schemas.microsoft.com/office/drawing/2014/main" id="{1B8952F4-E276-4C26-866E-E88CDAC913EF}"/>
              </a:ext>
            </a:extLst>
          </p:cNvPr>
          <p:cNvSpPr>
            <a:spLocks xmlns:a="http://schemas.openxmlformats.org/drawingml/2006/main" noGrp="1"/>
          </p:cNvSpPr>
          <p:nvPr/>
        </p:nvSpPr>
        <p:spPr>
          <a:xfrm xmlns:a="http://schemas.openxmlformats.org/drawingml/2006/main">
            <a:off x="1428750" y="3705225"/>
            <a:ext cx="3714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1">
                <a:solidFill>
                  <a:srgbClr val="EEF4FA"/>
                </a:solidFill>
                <a:latin typeface="Noto Sans"/>
                <a:ea typeface="Noto Sans"/>
                <a:cs typeface="Noto Sans"/>
              </a:defRPr>
            </a:pPr>
            <a:r>
              <a:rPr sz="2100" b="1">
                <a:solidFill>
                  <a:srgbClr val="EEF4FA"/>
                </a:solidFill>
                <a:latin typeface="Noto Sans"/>
                <a:ea typeface="Noto Sans"/>
                <a:cs typeface="Noto Sans"/>
              </a:rPr>
              <a:t>Run a demonstration</a:t>
            </a:r>
          </a:p>
        </p:txBody>
      </p:sp>
      <p:sp>
        <p:nvSpPr>
          <p:cNvPr id="10" name="Follow one sample shipment through receipt and transfer.">
            <a:extLst xmlns:a="http://schemas.openxmlformats.org/drawingml/2006/main">
              <a:ext uri="{FF2B5EF4-FFF2-40B4-BE49-F238E27FC236}">
                <a16:creationId xmlns:a16="http://schemas.microsoft.com/office/drawing/2014/main" id="{1CAF30A5-AAED-41B4-AF2A-F77001890E79}"/>
              </a:ext>
            </a:extLst>
          </p:cNvPr>
          <p:cNvSpPr>
            <a:spLocks xmlns:a="http://schemas.openxmlformats.org/drawingml/2006/main" noGrp="1"/>
          </p:cNvSpPr>
          <p:nvPr/>
        </p:nvSpPr>
        <p:spPr>
          <a:xfrm xmlns:a="http://schemas.openxmlformats.org/drawingml/2006/main">
            <a:off x="5314950" y="3724275"/>
            <a:ext cx="62674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B8C7D8"/>
                </a:solidFill>
                <a:latin typeface="Noto Sans"/>
                <a:ea typeface="Noto Sans"/>
                <a:cs typeface="Noto Sans"/>
              </a:defRPr>
            </a:pPr>
            <a:r>
              <a:rPr sz="1875" b="0">
                <a:solidFill>
                  <a:srgbClr val="B8C7D8"/>
                </a:solidFill>
                <a:latin typeface="Noto Sans"/>
                <a:ea typeface="Noto Sans"/>
                <a:cs typeface="Noto Sans"/>
              </a:rPr>
              <a:t>Follow one sample shipment through receipt and transfer.</a:t>
            </a:r>
          </a:p>
        </p:txBody>
      </p:sp>
      <p:sp>
        <p:nvSpPr>
          <p:cNvPr id="11" name="3">
            <a:extLst xmlns:a="http://schemas.openxmlformats.org/drawingml/2006/main">
              <a:ext uri="{FF2B5EF4-FFF2-40B4-BE49-F238E27FC236}">
                <a16:creationId xmlns:a16="http://schemas.microsoft.com/office/drawing/2014/main" id="{4DD9C3F6-4499-4F16-9154-D11326032BC1}"/>
              </a:ext>
            </a:extLst>
          </p:cNvPr>
          <p:cNvSpPr>
            <a:spLocks xmlns:a="http://schemas.openxmlformats.org/drawingml/2006/main" noGrp="1"/>
          </p:cNvSpPr>
          <p:nvPr/>
        </p:nvSpPr>
        <p:spPr>
          <a:xfrm xmlns:a="http://schemas.openxmlformats.org/drawingml/2006/main">
            <a:off x="609600" y="4705350"/>
            <a:ext cx="5524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925" b="1">
                <a:solidFill>
                  <a:srgbClr val="A58BFF"/>
                </a:solidFill>
                <a:latin typeface="Noto Sans"/>
                <a:ea typeface="Noto Sans"/>
                <a:cs typeface="Noto Sans"/>
              </a:defRPr>
            </a:pPr>
            <a:r>
              <a:rPr sz="2925" b="1">
                <a:solidFill>
                  <a:srgbClr val="A58BFF"/>
                </a:solidFill>
                <a:latin typeface="Noto Sans"/>
                <a:ea typeface="Noto Sans"/>
                <a:cs typeface="Noto Sans"/>
              </a:rPr>
              <a:t>3</a:t>
            </a:r>
          </a:p>
        </p:txBody>
      </p:sp>
      <p:sp>
        <p:nvSpPr>
          <p:cNvPr id="12" name="Review the outcome">
            <a:extLst xmlns:a="http://schemas.openxmlformats.org/drawingml/2006/main">
              <a:ext uri="{FF2B5EF4-FFF2-40B4-BE49-F238E27FC236}">
                <a16:creationId xmlns:a16="http://schemas.microsoft.com/office/drawing/2014/main" id="{87A1A79D-8E9F-4657-AA57-42E195B463AF}"/>
              </a:ext>
            </a:extLst>
          </p:cNvPr>
          <p:cNvSpPr>
            <a:spLocks xmlns:a="http://schemas.openxmlformats.org/drawingml/2006/main" noGrp="1"/>
          </p:cNvSpPr>
          <p:nvPr/>
        </p:nvSpPr>
        <p:spPr>
          <a:xfrm xmlns:a="http://schemas.openxmlformats.org/drawingml/2006/main">
            <a:off x="1428750" y="4714875"/>
            <a:ext cx="3714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1">
                <a:solidFill>
                  <a:srgbClr val="EEF4FA"/>
                </a:solidFill>
                <a:latin typeface="Noto Sans"/>
                <a:ea typeface="Noto Sans"/>
                <a:cs typeface="Noto Sans"/>
              </a:defRPr>
            </a:pPr>
            <a:r>
              <a:rPr sz="2100" b="1">
                <a:solidFill>
                  <a:srgbClr val="EEF4FA"/>
                </a:solidFill>
                <a:latin typeface="Noto Sans"/>
                <a:ea typeface="Noto Sans"/>
                <a:cs typeface="Noto Sans"/>
              </a:rPr>
              <a:t>Review the outcome</a:t>
            </a:r>
          </a:p>
        </p:txBody>
      </p:sp>
      <p:sp>
        <p:nvSpPr>
          <p:cNvPr id="13" name="Check quantities, permissions and exception handling together.">
            <a:extLst xmlns:a="http://schemas.openxmlformats.org/drawingml/2006/main">
              <a:ext uri="{FF2B5EF4-FFF2-40B4-BE49-F238E27FC236}">
                <a16:creationId xmlns:a16="http://schemas.microsoft.com/office/drawing/2014/main" id="{53E35022-B3B8-4716-BF3D-93A300EF7037}"/>
              </a:ext>
            </a:extLst>
          </p:cNvPr>
          <p:cNvSpPr>
            <a:spLocks xmlns:a="http://schemas.openxmlformats.org/drawingml/2006/main" noGrp="1"/>
          </p:cNvSpPr>
          <p:nvPr/>
        </p:nvSpPr>
        <p:spPr>
          <a:xfrm xmlns:a="http://schemas.openxmlformats.org/drawingml/2006/main">
            <a:off x="5314950" y="4733925"/>
            <a:ext cx="62674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B8C7D8"/>
                </a:solidFill>
                <a:latin typeface="Noto Sans"/>
                <a:ea typeface="Noto Sans"/>
                <a:cs typeface="Noto Sans"/>
              </a:defRPr>
            </a:pPr>
            <a:r>
              <a:rPr sz="1875" b="0">
                <a:solidFill>
                  <a:srgbClr val="B8C7D8"/>
                </a:solidFill>
                <a:latin typeface="Noto Sans"/>
                <a:ea typeface="Noto Sans"/>
                <a:cs typeface="Noto Sans"/>
              </a:rPr>
              <a:t>Check quantities, permissions and exception handling together.</a:t>
            </a:r>
          </a:p>
        </p:txBody>
      </p:sp>
      <p:sp>
        <p:nvSpPr>
          <p:cNvPr id="14" name="Next step: a working session with an operational owner.">
            <a:extLst xmlns:a="http://schemas.openxmlformats.org/drawingml/2006/main">
              <a:ext uri="{FF2B5EF4-FFF2-40B4-BE49-F238E27FC236}">
                <a16:creationId xmlns:a16="http://schemas.microsoft.com/office/drawing/2014/main" id="{D36E328C-A695-4516-9AB4-570D8BAE9D37}"/>
              </a:ext>
            </a:extLst>
          </p:cNvPr>
          <p:cNvSpPr>
            <a:spLocks xmlns:a="http://schemas.openxmlformats.org/drawingml/2006/main" noGrp="1"/>
          </p:cNvSpPr>
          <p:nvPr/>
        </p:nvSpPr>
        <p:spPr>
          <a:xfrm xmlns:a="http://schemas.openxmlformats.org/drawingml/2006/main">
            <a:off x="609600" y="5991225"/>
            <a:ext cx="109728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2BB8F2"/>
                </a:solidFill>
                <a:latin typeface="Noto Sans"/>
                <a:ea typeface="Noto Sans"/>
                <a:cs typeface="Noto Sans"/>
              </a:defRPr>
            </a:pPr>
            <a:r>
              <a:rPr sz="1725" b="0">
                <a:solidFill>
                  <a:srgbClr val="2BB8F2"/>
                </a:solidFill>
                <a:latin typeface="Noto Sans"/>
                <a:ea typeface="Noto Sans"/>
                <a:cs typeface="Noto Sans"/>
              </a:rPr>
              <a:t>Next step: a working session with an operational owner.</a:t>
            </a:r>
          </a:p>
        </p:txBody>
      </p:sp>
    </p:spTree>
    <p:extLst>
      <p:ext uri="{BB962C8B-B14F-4D97-AF65-F5344CB8AC3E}">
        <p14:creationId xmlns:p14="http://schemas.microsoft.com/office/powerpoint/2010/main" val="1312587093"/>
      </p:ext>
    </p:extLst>
  </p:cSld>
</p:sld>
</file>

<file path=ppt/slides/slide11.xml><?xml version="1.0" encoding="utf-8"?>
<p:sld xmlns:p="http://schemas.openxmlformats.org/presentationml/2006/main">
  <p:cSld>
    <p:bg>
      <p:bgPr>
        <a:solidFill xmlns:a="http://schemas.openxmlformats.org/drawingml/2006/main">
          <a:srgbClr val="0A1422"/>
        </a:solidFill>
      </p:bgPr>
    </p:bg>
    <p:spTree>
      <p:nvGrpSpPr>
        <p:cNvPr id="1" name=""/>
        <p:cNvGrpSpPr/>
        <p:nvPr/>
      </p:nvGrpSpPr>
      <p:grpSpPr>
        <a:xfrm xmlns:a="http://schemas.openxmlformats.org/drawingml/2006/main"/>
      </p:grpSpPr>
      <p:sp>
        <p:nvSpPr>
          <p:cNvPr id="5" name="Function overview: operations">
            <a:extLst xmlns:a="http://schemas.openxmlformats.org/drawingml/2006/main">
              <a:ext uri="{FF2B5EF4-FFF2-40B4-BE49-F238E27FC236}">
                <a16:creationId xmlns:a16="http://schemas.microsoft.com/office/drawing/2014/main" id="{7007241D-940D-466F-91F6-AF166C00D467}"/>
              </a:ext>
            </a:extLst>
          </p:cNvPr>
          <p:cNvSpPr>
            <a:spLocks xmlns:a="http://schemas.openxmlformats.org/drawingml/2006/main" noGrp="1"/>
          </p:cNvSpPr>
          <p:nvPr/>
        </p:nvSpPr>
        <p:spPr>
          <a:xfrm xmlns:a="http://schemas.openxmlformats.org/drawingml/2006/main">
            <a:off x="609600" y="43815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150" b="1">
                <a:solidFill>
                  <a:srgbClr val="EEF4FA"/>
                </a:solidFill>
                <a:latin typeface="Noto Sans"/>
                <a:ea typeface="Noto Sans"/>
                <a:cs typeface="Noto Sans"/>
              </a:defRPr>
            </a:pPr>
            <a:r>
              <a:rPr sz="3150" b="1">
                <a:solidFill>
                  <a:srgbClr val="EEF4FA"/>
                </a:solidFill>
                <a:latin typeface="Noto Sans"/>
                <a:ea typeface="Noto Sans"/>
                <a:cs typeface="Noto Sans"/>
              </a:rPr>
              <a:t>Function overview: operations</a:t>
            </a:r>
          </a:p>
        </p:txBody>
      </p:sp>
      <p:sp>
        <p:nvSpPr>
          <p:cNvPr id="2" name="Appendix / NWTS">
            <a:extLst xmlns:a="http://schemas.openxmlformats.org/drawingml/2006/main">
              <a:ext uri="{FF2B5EF4-FFF2-40B4-BE49-F238E27FC236}">
                <a16:creationId xmlns:a16="http://schemas.microsoft.com/office/drawing/2014/main" id="{7C02C5F5-7A30-4254-BD83-53925613242E}"/>
              </a:ext>
            </a:extLst>
          </p:cNvPr>
          <p:cNvSpPr>
            <a:spLocks xmlns:a="http://schemas.openxmlformats.org/drawingml/2006/main" noGrp="1"/>
          </p:cNvSpPr>
          <p:nvPr/>
        </p:nvSpPr>
        <p:spPr>
          <a:xfrm xmlns:a="http://schemas.openxmlformats.org/drawingml/2006/main">
            <a:off x="609600" y="6496050"/>
            <a:ext cx="4286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050" b="0">
                <a:solidFill>
                  <a:srgbClr val="B8C7D8"/>
                </a:solidFill>
                <a:latin typeface="Noto Sans"/>
                <a:ea typeface="Noto Sans"/>
                <a:cs typeface="Noto Sans"/>
              </a:defRPr>
            </a:pPr>
            <a:r>
              <a:rPr sz="1050" b="0">
                <a:solidFill>
                  <a:srgbClr val="B8C7D8"/>
                </a:solidFill>
                <a:latin typeface="Noto Sans"/>
                <a:ea typeface="Noto Sans"/>
                <a:cs typeface="Noto Sans"/>
              </a:rPr>
              <a:t>Appendix / NWTS</a:t>
            </a:r>
          </a:p>
        </p:txBody>
      </p:sp>
      <p:sp>
        <p:nvSpPr>
          <p:cNvPr id="3" name="11">
            <a:extLst xmlns:a="http://schemas.openxmlformats.org/drawingml/2006/main">
              <a:ext uri="{FF2B5EF4-FFF2-40B4-BE49-F238E27FC236}">
                <a16:creationId xmlns:a16="http://schemas.microsoft.com/office/drawing/2014/main" id="{CDB25A31-B1E0-43A4-AC01-13A07B472CA1}"/>
              </a:ext>
            </a:extLst>
          </p:cNvPr>
          <p:cNvSpPr>
            <a:spLocks xmlns:a="http://schemas.openxmlformats.org/drawingml/2006/main" noGrp="1"/>
          </p:cNvSpPr>
          <p:nvPr/>
        </p:nvSpPr>
        <p:spPr>
          <a:xfrm xmlns:a="http://schemas.openxmlformats.org/drawingml/2006/main">
            <a:off x="11049000" y="6496050"/>
            <a:ext cx="5334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050" b="0">
                <a:solidFill>
                  <a:srgbClr val="B8C7D8"/>
                </a:solidFill>
                <a:latin typeface="Noto Sans"/>
                <a:ea typeface="Noto Sans"/>
                <a:cs typeface="Noto Sans"/>
              </a:defRPr>
            </a:pPr>
            <a:r>
              <a:rPr sz="1050" b="0">
                <a:solidFill>
                  <a:srgbClr val="B8C7D8"/>
                </a:solidFill>
                <a:latin typeface="Noto Sans"/>
                <a:ea typeface="Noto Sans"/>
                <a:cs typeface="Noto Sans"/>
              </a:rPr>
              <a:t>11</a:t>
            </a:r>
          </a:p>
        </p:txBody>
      </p:sp>
      <p:graphicFrame>
        <p:nvGraphicFramePr>
          <p:cNvPr id="8" name=""/>
          <p:cNvGraphicFramePr/>
          <p:nvPr/>
        </p:nvGraphicFramePr>
        <p:xfrm>
          <a:off xmlns:a="http://schemas.openxmlformats.org/drawingml/2006/main" x="609600" y="1752600"/>
          <a:ext xmlns:a="http://schemas.openxmlformats.org/drawingml/2006/main" cx="10972800" cy="4000500"/>
        </p:xfrm>
        <a:graphic xmlns:a="http://schemas.openxmlformats.org/drawingml/2006/main">
          <a:graphicData uri="http://schemas.openxmlformats.org/drawingml/2006/table">
            <a:tbl>
              <a:tblPr/>
              <a:tblGrid>
                <a:gridCol w="2143125"/>
                <a:gridCol w="5572125"/>
                <a:gridCol w="3257550"/>
              </a:tblGrid>
              <a:tr h="571500">
                <a:tc>
                  <a:txBody>
                    <a:bodyPr/>
                    <a:lstStyle/>
                    <a:p>
                      <a:r>
                        <a:rPr sz="1725" b="1">
                          <a:solidFill>
                            <a:srgbClr val="2BB8F2"/>
                          </a:solidFill>
                          <a:latin typeface="Noto Sans"/>
                          <a:ea typeface="Noto Sans"/>
                          <a:cs typeface="Noto Sans"/>
                        </a:rPr>
                        <a:t>Area</a:t>
                      </a:r>
                    </a:p>
                  </a:txBody>
                  <a:tcPr marL="152400" marR="133350" marT="114300" marB="95250" anchor="ctr">
                    <a:solidFill>
                      <a:srgbClr val="203A50"/>
                    </a:solidFill>
                  </a:tcPr>
                </a:tc>
                <a:tc>
                  <a:txBody>
                    <a:bodyPr/>
                    <a:lstStyle/>
                    <a:p>
                      <a:r>
                        <a:rPr sz="1725" b="1">
                          <a:solidFill>
                            <a:srgbClr val="2BB8F2"/>
                          </a:solidFill>
                          <a:latin typeface="Noto Sans"/>
                          <a:ea typeface="Noto Sans"/>
                          <a:cs typeface="Noto Sans"/>
                        </a:rPr>
                        <a:t>Current functions</a:t>
                      </a:r>
                    </a:p>
                  </a:txBody>
                  <a:tcPr marL="152400" marR="133350" marT="114300" marB="95250" anchor="ctr">
                    <a:solidFill>
                      <a:srgbClr val="203A50"/>
                    </a:solidFill>
                  </a:tcPr>
                </a:tc>
                <a:tc>
                  <a:txBody>
                    <a:bodyPr/>
                    <a:lstStyle/>
                    <a:p>
                      <a:r>
                        <a:rPr sz="1725" b="1">
                          <a:solidFill>
                            <a:srgbClr val="2BB8F2"/>
                          </a:solidFill>
                          <a:latin typeface="Noto Sans"/>
                          <a:ea typeface="Noto Sans"/>
                          <a:cs typeface="Noto Sans"/>
                        </a:rPr>
                        <a:t>Result</a:t>
                      </a:r>
                    </a:p>
                  </a:txBody>
                  <a:tcPr marL="152400" marR="133350" marT="114300" marB="95250" anchor="ctr">
                    <a:solidFill>
                      <a:srgbClr val="203A50"/>
                    </a:solidFill>
                  </a:tcPr>
                </a:tc>
              </a:tr>
              <a:tr h="571500">
                <a:tc>
                  <a:txBody>
                    <a:bodyPr/>
                    <a:lstStyle/>
                    <a:p>
                      <a:r>
                        <a:rPr sz="1725" b="0">
                          <a:solidFill>
                            <a:srgbClr val="EEF4FA"/>
                          </a:solidFill>
                          <a:latin typeface="Noto Sans"/>
                          <a:ea typeface="Noto Sans"/>
                          <a:cs typeface="Noto Sans"/>
                        </a:rPr>
                        <a:t>Shipments</a:t>
                      </a:r>
                    </a:p>
                  </a:txBody>
                  <a:tcPr marL="152400" marR="133350" marT="114300" marB="95250" anchor="ctr">
                    <a:solidFill>
                      <a:srgbClr val="12223A"/>
                    </a:solidFill>
                  </a:tcPr>
                </a:tc>
                <a:tc>
                  <a:txBody>
                    <a:bodyPr/>
                    <a:lstStyle/>
                    <a:p>
                      <a:r>
                        <a:rPr sz="1725" b="0">
                          <a:solidFill>
                            <a:srgbClr val="EEF4FA"/>
                          </a:solidFill>
                          <a:latin typeface="Noto Sans"/>
                          <a:ea typeface="Noto Sans"/>
                          <a:cs typeface="Noto Sans"/>
                        </a:rPr>
                        <a:t>Arrival, search, IN/OUT, departure review</a:t>
                      </a:r>
                    </a:p>
                  </a:txBody>
                  <a:tcPr marL="152400" marR="133350" marT="114300" marB="95250" anchor="ctr">
                    <a:solidFill>
                      <a:srgbClr val="12223A"/>
                    </a:solidFill>
                  </a:tcPr>
                </a:tc>
                <a:tc>
                  <a:txBody>
                    <a:bodyPr/>
                    <a:lstStyle/>
                    <a:p>
                      <a:r>
                        <a:rPr sz="1725" b="0">
                          <a:solidFill>
                            <a:srgbClr val="EEF4FA"/>
                          </a:solidFill>
                          <a:latin typeface="Noto Sans"/>
                          <a:ea typeface="Noto Sans"/>
                          <a:cs typeface="Noto Sans"/>
                        </a:rPr>
                        <a:t>Transport record</a:t>
                      </a:r>
                    </a:p>
                  </a:txBody>
                  <a:tcPr marL="152400" marR="133350" marT="114300" marB="95250" anchor="ctr">
                    <a:solidFill>
                      <a:srgbClr val="12223A"/>
                    </a:solidFill>
                  </a:tcPr>
                </a:tc>
              </a:tr>
              <a:tr h="571500">
                <a:tc>
                  <a:txBody>
                    <a:bodyPr/>
                    <a:lstStyle/>
                    <a:p>
                      <a:r>
                        <a:rPr sz="1725" b="0">
                          <a:solidFill>
                            <a:srgbClr val="EEF4FA"/>
                          </a:solidFill>
                          <a:latin typeface="Noto Sans"/>
                          <a:ea typeface="Noto Sans"/>
                          <a:cs typeface="Noto Sans"/>
                        </a:rPr>
                        <a:t>Container profiles</a:t>
                      </a:r>
                    </a:p>
                  </a:txBody>
                  <a:tcPr marL="152400" marR="133350" marT="114300" marB="95250" anchor="ctr">
                    <a:solidFill>
                      <a:srgbClr val="0A1422"/>
                    </a:solidFill>
                  </a:tcPr>
                </a:tc>
                <a:tc>
                  <a:txBody>
                    <a:bodyPr/>
                    <a:lstStyle/>
                    <a:p>
                      <a:r>
                        <a:rPr sz="1725" b="0">
                          <a:solidFill>
                            <a:srgbClr val="EEF4FA"/>
                          </a:solidFill>
                          <a:latin typeface="Noto Sans"/>
                          <a:ea typeface="Noto Sans"/>
                          <a:cs typeface="Noto Sans"/>
                        </a:rPr>
                        <a:t>Quantity, origin, waste and container definitions</a:t>
                      </a:r>
                    </a:p>
                  </a:txBody>
                  <a:tcPr marL="152400" marR="133350" marT="114300" marB="95250" anchor="ctr">
                    <a:solidFill>
                      <a:srgbClr val="0A1422"/>
                    </a:solidFill>
                  </a:tcPr>
                </a:tc>
                <a:tc>
                  <a:txBody>
                    <a:bodyPr/>
                    <a:lstStyle/>
                    <a:p>
                      <a:r>
                        <a:rPr sz="1725" b="0">
                          <a:solidFill>
                            <a:srgbClr val="EEF4FA"/>
                          </a:solidFill>
                          <a:latin typeface="Noto Sans"/>
                          <a:ea typeface="Noto Sans"/>
                          <a:cs typeface="Noto Sans"/>
                        </a:rPr>
                        <a:t>Structured content record</a:t>
                      </a:r>
                    </a:p>
                  </a:txBody>
                  <a:tcPr marL="152400" marR="133350" marT="114300" marB="95250" anchor="ctr">
                    <a:solidFill>
                      <a:srgbClr val="0A1422"/>
                    </a:solidFill>
                  </a:tcPr>
                </a:tc>
              </a:tr>
              <a:tr h="571500">
                <a:tc>
                  <a:txBody>
                    <a:bodyPr/>
                    <a:lstStyle/>
                    <a:p>
                      <a:r>
                        <a:rPr sz="1725" b="0">
                          <a:solidFill>
                            <a:srgbClr val="EEF4FA"/>
                          </a:solidFill>
                          <a:latin typeface="Noto Sans"/>
                          <a:ea typeface="Noto Sans"/>
                          <a:cs typeface="Noto Sans"/>
                        </a:rPr>
                        <a:t>Pre-storage</a:t>
                      </a:r>
                    </a:p>
                  </a:txBody>
                  <a:tcPr marL="152400" marR="133350" marT="114300" marB="95250" anchor="ctr">
                    <a:solidFill>
                      <a:srgbClr val="12223A"/>
                    </a:solidFill>
                  </a:tcPr>
                </a:tc>
                <a:tc>
                  <a:txBody>
                    <a:bodyPr/>
                    <a:lstStyle/>
                    <a:p>
                      <a:r>
                        <a:rPr sz="1725" b="0">
                          <a:solidFill>
                            <a:srgbClr val="EEF4FA"/>
                          </a:solidFill>
                          <a:latin typeface="Noto Sans"/>
                          <a:ea typeface="Noto Sans"/>
                          <a:cs typeface="Noto Sans"/>
                        </a:rPr>
                        <a:t>Incoming queue, receipt and hall records</a:t>
                      </a:r>
                    </a:p>
                  </a:txBody>
                  <a:tcPr marL="152400" marR="133350" marT="114300" marB="95250" anchor="ctr">
                    <a:solidFill>
                      <a:srgbClr val="12223A"/>
                    </a:solidFill>
                  </a:tcPr>
                </a:tc>
                <a:tc>
                  <a:txBody>
                    <a:bodyPr/>
                    <a:lstStyle/>
                    <a:p>
                      <a:r>
                        <a:rPr sz="1725" b="0">
                          <a:solidFill>
                            <a:srgbClr val="EEF4FA"/>
                          </a:solidFill>
                          <a:latin typeface="Noto Sans"/>
                          <a:ea typeface="Noto Sans"/>
                          <a:cs typeface="Noto Sans"/>
                        </a:rPr>
                        <a:t>Recorded location and quantity</a:t>
                      </a:r>
                    </a:p>
                  </a:txBody>
                  <a:tcPr marL="152400" marR="133350" marT="114300" marB="95250" anchor="ctr">
                    <a:solidFill>
                      <a:srgbClr val="12223A"/>
                    </a:solidFill>
                  </a:tcPr>
                </a:tc>
              </a:tr>
              <a:tr h="571500">
                <a:tc>
                  <a:txBody>
                    <a:bodyPr/>
                    <a:lstStyle/>
                    <a:p>
                      <a:r>
                        <a:rPr sz="1725" b="0">
                          <a:solidFill>
                            <a:srgbClr val="EEF4FA"/>
                          </a:solidFill>
                          <a:latin typeface="Noto Sans"/>
                          <a:ea typeface="Noto Sans"/>
                          <a:cs typeface="Noto Sans"/>
                        </a:rPr>
                        <a:t>Transfers</a:t>
                      </a:r>
                    </a:p>
                  </a:txBody>
                  <a:tcPr marL="152400" marR="133350" marT="114300" marB="95250" anchor="ctr">
                    <a:solidFill>
                      <a:srgbClr val="0A1422"/>
                    </a:solidFill>
                  </a:tcPr>
                </a:tc>
                <a:tc>
                  <a:txBody>
                    <a:bodyPr/>
                    <a:lstStyle/>
                    <a:p>
                      <a:r>
                        <a:rPr sz="1725" b="0">
                          <a:solidFill>
                            <a:srgbClr val="EEF4FA"/>
                          </a:solidFill>
                          <a:latin typeface="Noto Sans"/>
                          <a:ea typeface="Noto Sans"/>
                          <a:cs typeface="Noto Sans"/>
                        </a:rPr>
                        <a:t>Request, response, sources and final confirmation</a:t>
                      </a:r>
                    </a:p>
                  </a:txBody>
                  <a:tcPr marL="152400" marR="133350" marT="114300" marB="95250" anchor="ctr">
                    <a:solidFill>
                      <a:srgbClr val="0A1422"/>
                    </a:solidFill>
                  </a:tcPr>
                </a:tc>
                <a:tc>
                  <a:txBody>
                    <a:bodyPr/>
                    <a:lstStyle/>
                    <a:p>
                      <a:r>
                        <a:rPr sz="1725" b="0">
                          <a:solidFill>
                            <a:srgbClr val="EEF4FA"/>
                          </a:solidFill>
                          <a:latin typeface="Noto Sans"/>
                          <a:ea typeface="Noto Sans"/>
                          <a:cs typeface="Noto Sans"/>
                        </a:rPr>
                        <a:t>Documented handover</a:t>
                      </a:r>
                    </a:p>
                  </a:txBody>
                  <a:tcPr marL="152400" marR="133350" marT="114300" marB="95250" anchor="ctr">
                    <a:solidFill>
                      <a:srgbClr val="0A1422"/>
                    </a:solidFill>
                  </a:tcPr>
                </a:tc>
              </a:tr>
              <a:tr h="571500">
                <a:tc>
                  <a:txBody>
                    <a:bodyPr/>
                    <a:lstStyle/>
                    <a:p>
                      <a:r>
                        <a:rPr sz="1725" b="0">
                          <a:solidFill>
                            <a:srgbClr val="EEF4FA"/>
                          </a:solidFill>
                          <a:latin typeface="Noto Sans"/>
                          <a:ea typeface="Noto Sans"/>
                          <a:cs typeface="Noto Sans"/>
                        </a:rPr>
                        <a:t>Final storage</a:t>
                      </a:r>
                    </a:p>
                  </a:txBody>
                  <a:tcPr marL="152400" marR="133350" marT="114300" marB="95250" anchor="ctr">
                    <a:solidFill>
                      <a:srgbClr val="12223A"/>
                    </a:solidFill>
                  </a:tcPr>
                </a:tc>
                <a:tc>
                  <a:txBody>
                    <a:bodyPr/>
                    <a:lstStyle/>
                    <a:p>
                      <a:r>
                        <a:rPr sz="1725" b="0">
                          <a:solidFill>
                            <a:srgbClr val="EEF4FA"/>
                          </a:solidFill>
                          <a:latin typeface="Noto Sans"/>
                          <a:ea typeface="Noto Sans"/>
                          <a:cs typeface="Noto Sans"/>
                        </a:rPr>
                        <a:t>Room records, receipts and capacity view</a:t>
                      </a:r>
                    </a:p>
                  </a:txBody>
                  <a:tcPr marL="152400" marR="133350" marT="114300" marB="95250" anchor="ctr">
                    <a:solidFill>
                      <a:srgbClr val="12223A"/>
                    </a:solidFill>
                  </a:tcPr>
                </a:tc>
                <a:tc>
                  <a:txBody>
                    <a:bodyPr/>
                    <a:lstStyle/>
                    <a:p>
                      <a:r>
                        <a:rPr sz="1725" b="0">
                          <a:solidFill>
                            <a:srgbClr val="EEF4FA"/>
                          </a:solidFill>
                          <a:latin typeface="Noto Sans"/>
                          <a:ea typeface="Noto Sans"/>
                          <a:cs typeface="Noto Sans"/>
                        </a:rPr>
                        <a:t>Recorded final-storage stock</a:t>
                      </a:r>
                    </a:p>
                  </a:txBody>
                  <a:tcPr marL="152400" marR="133350" marT="114300" marB="95250" anchor="ctr">
                    <a:solidFill>
                      <a:srgbClr val="12223A"/>
                    </a:solidFill>
                  </a:tcPr>
                </a:tc>
              </a:tr>
              <a:tr h="571500">
                <a:tc>
                  <a:txBody>
                    <a:bodyPr/>
                    <a:lstStyle/>
                    <a:p>
                      <a:r>
                        <a:rPr sz="1725" b="0">
                          <a:solidFill>
                            <a:srgbClr val="EEF4FA"/>
                          </a:solidFill>
                          <a:latin typeface="Noto Sans"/>
                          <a:ea typeface="Noto Sans"/>
                          <a:cs typeface="Noto Sans"/>
                        </a:rPr>
                        <a:t>History</a:t>
                      </a:r>
                    </a:p>
                  </a:txBody>
                  <a:tcPr marL="152400" marR="133350" marT="114300" marB="95250" anchor="ctr">
                    <a:solidFill>
                      <a:srgbClr val="0A1422"/>
                    </a:solidFill>
                  </a:tcPr>
                </a:tc>
                <a:tc>
                  <a:txBody>
                    <a:bodyPr/>
                    <a:lstStyle/>
                    <a:p>
                      <a:r>
                        <a:rPr sz="1725" b="0">
                          <a:solidFill>
                            <a:srgbClr val="EEF4FA"/>
                          </a:solidFill>
                          <a:latin typeface="Noto Sans"/>
                          <a:ea typeface="Noto Sans"/>
                          <a:cs typeface="Noto Sans"/>
                        </a:rPr>
                        <a:t>Shipment events, receipts, transfers and corrections</a:t>
                      </a:r>
                    </a:p>
                  </a:txBody>
                  <a:tcPr marL="152400" marR="133350" marT="114300" marB="95250" anchor="ctr">
                    <a:solidFill>
                      <a:srgbClr val="0A1422"/>
                    </a:solidFill>
                  </a:tcPr>
                </a:tc>
                <a:tc>
                  <a:txBody>
                    <a:bodyPr/>
                    <a:lstStyle/>
                    <a:p>
                      <a:r>
                        <a:rPr sz="1725" b="0">
                          <a:solidFill>
                            <a:srgbClr val="EEF4FA"/>
                          </a:solidFill>
                          <a:latin typeface="Noto Sans"/>
                          <a:ea typeface="Noto Sans"/>
                          <a:cs typeface="Noto Sans"/>
                        </a:rPr>
                        <a:t>Review of recorded activity</a:t>
                      </a:r>
                    </a:p>
                  </a:txBody>
                  <a:tcPr marL="152400" marR="133350" marT="114300" marB="95250" anchor="ctr">
                    <a:solidFill>
                      <a:srgbClr val="0A1422"/>
                    </a:solidFill>
                  </a:tcPr>
                </a:tc>
              </a:tr>
            </a:tbl>
          </a:graphicData>
        </a:graphic>
      </p:graphicFrame>
    </p:spTree>
    <p:extLst>
      <p:ext uri="{BB962C8B-B14F-4D97-AF65-F5344CB8AC3E}">
        <p14:creationId xmlns:p14="http://schemas.microsoft.com/office/powerpoint/2010/main" val="543837256"/>
      </p:ext>
    </p:extLst>
  </p:cSld>
</p:sld>
</file>

<file path=ppt/slides/slide12.xml><?xml version="1.0" encoding="utf-8"?>
<p:sld xmlns:p="http://schemas.openxmlformats.org/presentationml/2006/main">
  <p:cSld>
    <p:bg>
      <p:bgPr>
        <a:solidFill xmlns:a="http://schemas.openxmlformats.org/drawingml/2006/main">
          <a:srgbClr val="0A1422"/>
        </a:solidFill>
      </p:bgPr>
    </p:bg>
    <p:spTree>
      <p:nvGrpSpPr>
        <p:cNvPr id="1" name=""/>
        <p:cNvGrpSpPr/>
        <p:nvPr/>
      </p:nvGrpSpPr>
      <p:grpSpPr>
        <a:xfrm xmlns:a="http://schemas.openxmlformats.org/drawingml/2006/main"/>
      </p:grpSpPr>
      <p:sp>
        <p:nvSpPr>
          <p:cNvPr id="5" name="Function overview: oversight">
            <a:extLst xmlns:a="http://schemas.openxmlformats.org/drawingml/2006/main">
              <a:ext uri="{FF2B5EF4-FFF2-40B4-BE49-F238E27FC236}">
                <a16:creationId xmlns:a16="http://schemas.microsoft.com/office/drawing/2014/main" id="{7F96F25C-3485-4698-ADEF-FC4C5AAA6154}"/>
              </a:ext>
            </a:extLst>
          </p:cNvPr>
          <p:cNvSpPr>
            <a:spLocks xmlns:a="http://schemas.openxmlformats.org/drawingml/2006/main" noGrp="1"/>
          </p:cNvSpPr>
          <p:nvPr/>
        </p:nvSpPr>
        <p:spPr>
          <a:xfrm xmlns:a="http://schemas.openxmlformats.org/drawingml/2006/main">
            <a:off x="609600" y="43815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150" b="1">
                <a:solidFill>
                  <a:srgbClr val="EEF4FA"/>
                </a:solidFill>
                <a:latin typeface="Noto Sans"/>
                <a:ea typeface="Noto Sans"/>
                <a:cs typeface="Noto Sans"/>
              </a:defRPr>
            </a:pPr>
            <a:r>
              <a:rPr sz="3150" b="1">
                <a:solidFill>
                  <a:srgbClr val="EEF4FA"/>
                </a:solidFill>
                <a:latin typeface="Noto Sans"/>
                <a:ea typeface="Noto Sans"/>
                <a:cs typeface="Noto Sans"/>
              </a:rPr>
              <a:t>Function overview: oversight</a:t>
            </a:r>
          </a:p>
        </p:txBody>
      </p:sp>
      <p:sp>
        <p:nvSpPr>
          <p:cNvPr id="2" name="Appendix / NWTS">
            <a:extLst xmlns:a="http://schemas.openxmlformats.org/drawingml/2006/main">
              <a:ext uri="{FF2B5EF4-FFF2-40B4-BE49-F238E27FC236}">
                <a16:creationId xmlns:a16="http://schemas.microsoft.com/office/drawing/2014/main" id="{9501438B-9751-4F0E-945F-F484230F210F}"/>
              </a:ext>
            </a:extLst>
          </p:cNvPr>
          <p:cNvSpPr>
            <a:spLocks xmlns:a="http://schemas.openxmlformats.org/drawingml/2006/main" noGrp="1"/>
          </p:cNvSpPr>
          <p:nvPr/>
        </p:nvSpPr>
        <p:spPr>
          <a:xfrm xmlns:a="http://schemas.openxmlformats.org/drawingml/2006/main">
            <a:off x="609600" y="6496050"/>
            <a:ext cx="4286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050" b="0">
                <a:solidFill>
                  <a:srgbClr val="B8C7D8"/>
                </a:solidFill>
                <a:latin typeface="Noto Sans"/>
                <a:ea typeface="Noto Sans"/>
                <a:cs typeface="Noto Sans"/>
              </a:defRPr>
            </a:pPr>
            <a:r>
              <a:rPr sz="1050" b="0">
                <a:solidFill>
                  <a:srgbClr val="B8C7D8"/>
                </a:solidFill>
                <a:latin typeface="Noto Sans"/>
                <a:ea typeface="Noto Sans"/>
                <a:cs typeface="Noto Sans"/>
              </a:rPr>
              <a:t>Appendix / NWTS</a:t>
            </a:r>
          </a:p>
        </p:txBody>
      </p:sp>
      <p:sp>
        <p:nvSpPr>
          <p:cNvPr id="3" name="12">
            <a:extLst xmlns:a="http://schemas.openxmlformats.org/drawingml/2006/main">
              <a:ext uri="{FF2B5EF4-FFF2-40B4-BE49-F238E27FC236}">
                <a16:creationId xmlns:a16="http://schemas.microsoft.com/office/drawing/2014/main" id="{363D24F0-0539-4F07-95FB-343C8F8DE98E}"/>
              </a:ext>
            </a:extLst>
          </p:cNvPr>
          <p:cNvSpPr>
            <a:spLocks xmlns:a="http://schemas.openxmlformats.org/drawingml/2006/main" noGrp="1"/>
          </p:cNvSpPr>
          <p:nvPr/>
        </p:nvSpPr>
        <p:spPr>
          <a:xfrm xmlns:a="http://schemas.openxmlformats.org/drawingml/2006/main">
            <a:off x="11049000" y="6496050"/>
            <a:ext cx="5334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050" b="0">
                <a:solidFill>
                  <a:srgbClr val="B8C7D8"/>
                </a:solidFill>
                <a:latin typeface="Noto Sans"/>
                <a:ea typeface="Noto Sans"/>
                <a:cs typeface="Noto Sans"/>
              </a:defRPr>
            </a:pPr>
            <a:r>
              <a:rPr sz="1050" b="0">
                <a:solidFill>
                  <a:srgbClr val="B8C7D8"/>
                </a:solidFill>
                <a:latin typeface="Noto Sans"/>
                <a:ea typeface="Noto Sans"/>
                <a:cs typeface="Noto Sans"/>
              </a:rPr>
              <a:t>12</a:t>
            </a:r>
          </a:p>
        </p:txBody>
      </p:sp>
      <p:graphicFrame>
        <p:nvGraphicFramePr>
          <p:cNvPr id="8" name=""/>
          <p:cNvGraphicFramePr/>
          <p:nvPr/>
        </p:nvGraphicFramePr>
        <p:xfrm>
          <a:off xmlns:a="http://schemas.openxmlformats.org/drawingml/2006/main" x="609600" y="1752600"/>
          <a:ext xmlns:a="http://schemas.openxmlformats.org/drawingml/2006/main" cx="10972800" cy="4000500"/>
        </p:xfrm>
        <a:graphic xmlns:a="http://schemas.openxmlformats.org/drawingml/2006/main">
          <a:graphicData uri="http://schemas.openxmlformats.org/drawingml/2006/table">
            <a:tbl>
              <a:tblPr/>
              <a:tblGrid>
                <a:gridCol w="2428875"/>
                <a:gridCol w="5143500"/>
                <a:gridCol w="3400425"/>
              </a:tblGrid>
              <a:tr h="571500">
                <a:tc>
                  <a:txBody>
                    <a:bodyPr/>
                    <a:lstStyle/>
                    <a:p>
                      <a:r>
                        <a:rPr sz="1725" b="1">
                          <a:solidFill>
                            <a:srgbClr val="2BB8F2"/>
                          </a:solidFill>
                          <a:latin typeface="Noto Sans"/>
                          <a:ea typeface="Noto Sans"/>
                          <a:cs typeface="Noto Sans"/>
                        </a:rPr>
                        <a:t>Area</a:t>
                      </a:r>
                    </a:p>
                  </a:txBody>
                  <a:tcPr marL="152400" marR="133350" marT="114300" marB="95250" anchor="ctr">
                    <a:solidFill>
                      <a:srgbClr val="203A50"/>
                    </a:solidFill>
                  </a:tcPr>
                </a:tc>
                <a:tc>
                  <a:txBody>
                    <a:bodyPr/>
                    <a:lstStyle/>
                    <a:p>
                      <a:r>
                        <a:rPr sz="1725" b="1">
                          <a:solidFill>
                            <a:srgbClr val="2BB8F2"/>
                          </a:solidFill>
                          <a:latin typeface="Noto Sans"/>
                          <a:ea typeface="Noto Sans"/>
                          <a:cs typeface="Noto Sans"/>
                        </a:rPr>
                        <a:t>Current functions</a:t>
                      </a:r>
                    </a:p>
                  </a:txBody>
                  <a:tcPr marL="152400" marR="133350" marT="114300" marB="95250" anchor="ctr">
                    <a:solidFill>
                      <a:srgbClr val="203A50"/>
                    </a:solidFill>
                  </a:tcPr>
                </a:tc>
                <a:tc>
                  <a:txBody>
                    <a:bodyPr/>
                    <a:lstStyle/>
                    <a:p>
                      <a:r>
                        <a:rPr sz="1725" b="1">
                          <a:solidFill>
                            <a:srgbClr val="2BB8F2"/>
                          </a:solidFill>
                          <a:latin typeface="Noto Sans"/>
                          <a:ea typeface="Noto Sans"/>
                          <a:cs typeface="Noto Sans"/>
                        </a:rPr>
                        <a:t>Important boundary</a:t>
                      </a:r>
                    </a:p>
                  </a:txBody>
                  <a:tcPr marL="152400" marR="133350" marT="114300" marB="95250" anchor="ctr">
                    <a:solidFill>
                      <a:srgbClr val="203A50"/>
                    </a:solidFill>
                  </a:tcPr>
                </a:tc>
              </a:tr>
              <a:tr h="571500">
                <a:tc>
                  <a:txBody>
                    <a:bodyPr/>
                    <a:lstStyle/>
                    <a:p>
                      <a:r>
                        <a:rPr sz="1725" b="0">
                          <a:solidFill>
                            <a:srgbClr val="EEF4FA"/>
                          </a:solidFill>
                          <a:latin typeface="Noto Sans"/>
                          <a:ea typeface="Noto Sans"/>
                          <a:cs typeface="Noto Sans"/>
                        </a:rPr>
                        <a:t>Conditions</a:t>
                      </a:r>
                    </a:p>
                  </a:txBody>
                  <a:tcPr marL="152400" marR="133350" marT="114300" marB="95250" anchor="ctr">
                    <a:solidFill>
                      <a:srgbClr val="12223A"/>
                    </a:solidFill>
                  </a:tcPr>
                </a:tc>
                <a:tc>
                  <a:txBody>
                    <a:bodyPr/>
                    <a:lstStyle/>
                    <a:p>
                      <a:r>
                        <a:rPr sz="1725" b="0">
                          <a:solidFill>
                            <a:srgbClr val="EEF4FA"/>
                          </a:solidFill>
                          <a:latin typeface="Noto Sans"/>
                          <a:ea typeface="Noto Sans"/>
                          <a:cs typeface="Noto Sans"/>
                        </a:rPr>
                        <a:t>Measurements, rule versions and alerts</a:t>
                      </a:r>
                    </a:p>
                  </a:txBody>
                  <a:tcPr marL="152400" marR="133350" marT="114300" marB="95250" anchor="ctr">
                    <a:solidFill>
                      <a:srgbClr val="12223A"/>
                    </a:solidFill>
                  </a:tcPr>
                </a:tc>
                <a:tc>
                  <a:txBody>
                    <a:bodyPr/>
                    <a:lstStyle/>
                    <a:p>
                      <a:r>
                        <a:rPr sz="1725" b="0">
                          <a:solidFill>
                            <a:srgbClr val="EEF4FA"/>
                          </a:solidFill>
                          <a:latin typeface="Noto Sans"/>
                          <a:ea typeface="Noto Sans"/>
                          <a:cs typeface="Noto Sans"/>
                        </a:rPr>
                        <a:t>User-recorded values</a:t>
                      </a:r>
                    </a:p>
                  </a:txBody>
                  <a:tcPr marL="152400" marR="133350" marT="114300" marB="95250" anchor="ctr">
                    <a:solidFill>
                      <a:srgbClr val="12223A"/>
                    </a:solidFill>
                  </a:tcPr>
                </a:tc>
              </a:tr>
              <a:tr h="571500">
                <a:tc>
                  <a:txBody>
                    <a:bodyPr/>
                    <a:lstStyle/>
                    <a:p>
                      <a:r>
                        <a:rPr sz="1725" b="0">
                          <a:solidFill>
                            <a:srgbClr val="EEF4FA"/>
                          </a:solidFill>
                          <a:latin typeface="Noto Sans"/>
                          <a:ea typeface="Noto Sans"/>
                          <a:cs typeface="Noto Sans"/>
                        </a:rPr>
                        <a:t>Alert handling</a:t>
                      </a:r>
                    </a:p>
                  </a:txBody>
                  <a:tcPr marL="152400" marR="133350" marT="114300" marB="95250" anchor="ctr">
                    <a:solidFill>
                      <a:srgbClr val="0A1422"/>
                    </a:solidFill>
                  </a:tcPr>
                </a:tc>
                <a:tc>
                  <a:txBody>
                    <a:bodyPr/>
                    <a:lstStyle/>
                    <a:p>
                      <a:r>
                        <a:rPr sz="1725" b="0">
                          <a:solidFill>
                            <a:srgbClr val="EEF4FA"/>
                          </a:solidFill>
                          <a:latin typeface="Noto Sans"/>
                          <a:ea typeface="Noto Sans"/>
                          <a:cs typeface="Noto Sans"/>
                        </a:rPr>
                        <a:t>Acknowledge, note, escalate and close</a:t>
                      </a:r>
                    </a:p>
                  </a:txBody>
                  <a:tcPr marL="152400" marR="133350" marT="114300" marB="95250" anchor="ctr">
                    <a:solidFill>
                      <a:srgbClr val="0A1422"/>
                    </a:solidFill>
                  </a:tcPr>
                </a:tc>
                <a:tc>
                  <a:txBody>
                    <a:bodyPr/>
                    <a:lstStyle/>
                    <a:p>
                      <a:r>
                        <a:rPr sz="1725" b="0">
                          <a:solidFill>
                            <a:srgbClr val="EEF4FA"/>
                          </a:solidFill>
                          <a:latin typeface="Noto Sans"/>
                          <a:ea typeface="Noto Sans"/>
                          <a:cs typeface="Noto Sans"/>
                        </a:rPr>
                        <a:t>Evaluation during application use</a:t>
                      </a:r>
                    </a:p>
                  </a:txBody>
                  <a:tcPr marL="152400" marR="133350" marT="114300" marB="95250" anchor="ctr">
                    <a:solidFill>
                      <a:srgbClr val="0A1422"/>
                    </a:solidFill>
                  </a:tcPr>
                </a:tc>
              </a:tr>
              <a:tr h="571500">
                <a:tc>
                  <a:txBody>
                    <a:bodyPr/>
                    <a:lstStyle/>
                    <a:p>
                      <a:r>
                        <a:rPr sz="1725" b="0">
                          <a:solidFill>
                            <a:srgbClr val="EEF4FA"/>
                          </a:solidFill>
                          <a:latin typeface="Noto Sans"/>
                          <a:ea typeface="Noto Sans"/>
                          <a:cs typeface="Noto Sans"/>
                        </a:rPr>
                        <a:t>Stock reconciliation</a:t>
                      </a:r>
                    </a:p>
                  </a:txBody>
                  <a:tcPr marL="152400" marR="133350" marT="114300" marB="95250" anchor="ctr">
                    <a:solidFill>
                      <a:srgbClr val="12223A"/>
                    </a:solidFill>
                  </a:tcPr>
                </a:tc>
                <a:tc>
                  <a:txBody>
                    <a:bodyPr/>
                    <a:lstStyle/>
                    <a:p>
                      <a:r>
                        <a:rPr sz="1725" b="0">
                          <a:solidFill>
                            <a:srgbClr val="EEF4FA"/>
                          </a:solidFill>
                          <a:latin typeface="Noto Sans"/>
                          <a:ea typeface="Noto Sans"/>
                          <a:cs typeface="Noto Sans"/>
                        </a:rPr>
                        <a:t>Counts, supported legacy links, correction reports</a:t>
                      </a:r>
                    </a:p>
                  </a:txBody>
                  <a:tcPr marL="152400" marR="133350" marT="114300" marB="95250" anchor="ctr">
                    <a:solidFill>
                      <a:srgbClr val="12223A"/>
                    </a:solidFill>
                  </a:tcPr>
                </a:tc>
                <a:tc>
                  <a:txBody>
                    <a:bodyPr/>
                    <a:lstStyle/>
                    <a:p>
                      <a:r>
                        <a:rPr sz="1725" b="0">
                          <a:solidFill>
                            <a:srgbClr val="EEF4FA"/>
                          </a:solidFill>
                          <a:latin typeface="Noto Sans"/>
                          <a:ea typeface="Noto Sans"/>
                          <a:cs typeface="Noto Sans"/>
                        </a:rPr>
                        <a:t>Corrections require Administrator rights</a:t>
                      </a:r>
                    </a:p>
                  </a:txBody>
                  <a:tcPr marL="152400" marR="133350" marT="114300" marB="95250" anchor="ctr">
                    <a:solidFill>
                      <a:srgbClr val="12223A"/>
                    </a:solidFill>
                  </a:tcPr>
                </a:tc>
              </a:tr>
              <a:tr h="571500">
                <a:tc>
                  <a:txBody>
                    <a:bodyPr/>
                    <a:lstStyle/>
                    <a:p>
                      <a:r>
                        <a:rPr sz="1725" b="0">
                          <a:solidFill>
                            <a:srgbClr val="EEF4FA"/>
                          </a:solidFill>
                          <a:latin typeface="Noto Sans"/>
                          <a:ea typeface="Noto Sans"/>
                          <a:cs typeface="Noto Sans"/>
                        </a:rPr>
                        <a:t>Overview and statistics</a:t>
                      </a:r>
                    </a:p>
                  </a:txBody>
                  <a:tcPr marL="152400" marR="133350" marT="114300" marB="95250" anchor="ctr">
                    <a:solidFill>
                      <a:srgbClr val="0A1422"/>
                    </a:solidFill>
                  </a:tcPr>
                </a:tc>
                <a:tc>
                  <a:txBody>
                    <a:bodyPr/>
                    <a:lstStyle/>
                    <a:p>
                      <a:r>
                        <a:rPr sz="1725" b="0">
                          <a:solidFill>
                            <a:srgbClr val="EEF4FA"/>
                          </a:solidFill>
                          <a:latin typeface="Noto Sans"/>
                          <a:ea typeface="Noto Sans"/>
                          <a:cs typeface="Noto Sans"/>
                        </a:rPr>
                        <a:t>Pending work, capacity and movement summaries</a:t>
                      </a:r>
                    </a:p>
                  </a:txBody>
                  <a:tcPr marL="152400" marR="133350" marT="114300" marB="95250" anchor="ctr">
                    <a:solidFill>
                      <a:srgbClr val="0A1422"/>
                    </a:solidFill>
                  </a:tcPr>
                </a:tc>
                <a:tc>
                  <a:txBody>
                    <a:bodyPr/>
                    <a:lstStyle/>
                    <a:p>
                      <a:r>
                        <a:rPr sz="1725" b="0">
                          <a:solidFill>
                            <a:srgbClr val="EEF4FA"/>
                          </a:solidFill>
                          <a:latin typeface="Noto Sans"/>
                          <a:ea typeface="Noto Sans"/>
                          <a:cs typeface="Noto Sans"/>
                        </a:rPr>
                        <a:t>Based on recorded data</a:t>
                      </a:r>
                    </a:p>
                  </a:txBody>
                  <a:tcPr marL="152400" marR="133350" marT="114300" marB="95250" anchor="ctr">
                    <a:solidFill>
                      <a:srgbClr val="0A1422"/>
                    </a:solidFill>
                  </a:tcPr>
                </a:tc>
              </a:tr>
              <a:tr h="571500">
                <a:tc>
                  <a:txBody>
                    <a:bodyPr/>
                    <a:lstStyle/>
                    <a:p>
                      <a:r>
                        <a:rPr sz="1725" b="0">
                          <a:solidFill>
                            <a:srgbClr val="EEF4FA"/>
                          </a:solidFill>
                          <a:latin typeface="Noto Sans"/>
                          <a:ea typeface="Noto Sans"/>
                          <a:cs typeface="Noto Sans"/>
                        </a:rPr>
                        <a:t>Administration</a:t>
                      </a:r>
                    </a:p>
                  </a:txBody>
                  <a:tcPr marL="152400" marR="133350" marT="114300" marB="95250" anchor="ctr">
                    <a:solidFill>
                      <a:srgbClr val="12223A"/>
                    </a:solidFill>
                  </a:tcPr>
                </a:tc>
                <a:tc>
                  <a:txBody>
                    <a:bodyPr/>
                    <a:lstStyle/>
                    <a:p>
                      <a:r>
                        <a:rPr sz="1725" b="0">
                          <a:solidFill>
                            <a:srgbClr val="EEF4FA"/>
                          </a:solidFill>
                          <a:latin typeface="Noto Sans"/>
                          <a:ea typeface="Noto Sans"/>
                          <a:cs typeface="Noto Sans"/>
                        </a:rPr>
                        <a:t>Accounts, roles, areas and shared definitions</a:t>
                      </a:r>
                    </a:p>
                  </a:txBody>
                  <a:tcPr marL="152400" marR="133350" marT="114300" marB="95250" anchor="ctr">
                    <a:solidFill>
                      <a:srgbClr val="12223A"/>
                    </a:solidFill>
                  </a:tcPr>
                </a:tc>
                <a:tc>
                  <a:txBody>
                    <a:bodyPr/>
                    <a:lstStyle/>
                    <a:p>
                      <a:r>
                        <a:rPr sz="1725" b="0">
                          <a:solidFill>
                            <a:srgbClr val="EEF4FA"/>
                          </a:solidFill>
                          <a:latin typeface="Noto Sans"/>
                          <a:ea typeface="Noto Sans"/>
                          <a:cs typeface="Noto Sans"/>
                        </a:rPr>
                        <a:t>Within one organisation</a:t>
                      </a:r>
                    </a:p>
                  </a:txBody>
                  <a:tcPr marL="152400" marR="133350" marT="114300" marB="95250" anchor="ctr">
                    <a:solidFill>
                      <a:srgbClr val="12223A"/>
                    </a:solidFill>
                  </a:tcPr>
                </a:tc>
              </a:tr>
              <a:tr h="571500">
                <a:tc>
                  <a:txBody>
                    <a:bodyPr/>
                    <a:lstStyle/>
                    <a:p>
                      <a:r>
                        <a:rPr sz="1725" b="0">
                          <a:solidFill>
                            <a:srgbClr val="EEF4FA"/>
                          </a:solidFill>
                          <a:latin typeface="Noto Sans"/>
                          <a:ea typeface="Noto Sans"/>
                          <a:cs typeface="Noto Sans"/>
                        </a:rPr>
                        <a:t>Interface</a:t>
                      </a:r>
                    </a:p>
                  </a:txBody>
                  <a:tcPr marL="152400" marR="133350" marT="114300" marB="95250" anchor="ctr">
                    <a:solidFill>
                      <a:srgbClr val="0A1422"/>
                    </a:solidFill>
                  </a:tcPr>
                </a:tc>
                <a:tc>
                  <a:txBody>
                    <a:bodyPr/>
                    <a:lstStyle/>
                    <a:p>
                      <a:r>
                        <a:rPr sz="1725" b="0">
                          <a:solidFill>
                            <a:srgbClr val="EEF4FA"/>
                          </a:solidFill>
                          <a:latin typeface="Noto Sans"/>
                          <a:ea typeface="Noto Sans"/>
                          <a:cs typeface="Noto Sans"/>
                        </a:rPr>
                        <a:t>English/German, dark/light, responsive navigation</a:t>
                      </a:r>
                    </a:p>
                  </a:txBody>
                  <a:tcPr marL="152400" marR="133350" marT="114300" marB="95250" anchor="ctr">
                    <a:solidFill>
                      <a:srgbClr val="0A1422"/>
                    </a:solidFill>
                  </a:tcPr>
                </a:tc>
                <a:tc>
                  <a:txBody>
                    <a:bodyPr/>
                    <a:lstStyle/>
                    <a:p>
                      <a:r>
                        <a:rPr sz="1725" b="0">
                          <a:solidFill>
                            <a:srgbClr val="EEF4FA"/>
                          </a:solidFill>
                          <a:latin typeface="Noto Sans"/>
                          <a:ea typeface="Noto Sans"/>
                          <a:cs typeface="Noto Sans"/>
                        </a:rPr>
                        <a:t>Stored record names keep their original text</a:t>
                      </a:r>
                    </a:p>
                  </a:txBody>
                  <a:tcPr marL="152400" marR="133350" marT="114300" marB="95250" anchor="ctr">
                    <a:solidFill>
                      <a:srgbClr val="0A1422"/>
                    </a:solidFill>
                  </a:tcPr>
                </a:tc>
              </a:tr>
            </a:tbl>
          </a:graphicData>
        </a:graphic>
      </p:graphicFrame>
    </p:spTree>
    <p:extLst>
      <p:ext uri="{BB962C8B-B14F-4D97-AF65-F5344CB8AC3E}">
        <p14:creationId xmlns:p14="http://schemas.microsoft.com/office/powerpoint/2010/main" val="1355246204"/>
      </p:ext>
    </p:extLst>
  </p:cSld>
</p:sld>
</file>

<file path=ppt/slides/slide13.xml><?xml version="1.0" encoding="utf-8"?>
<p:sld xmlns:p="http://schemas.openxmlformats.org/presentationml/2006/main">
  <p:cSld>
    <p:bg>
      <p:bgPr>
        <a:solidFill xmlns:a="http://schemas.openxmlformats.org/drawingml/2006/main">
          <a:srgbClr val="0A1422"/>
        </a:solidFill>
      </p:bgPr>
    </p:bg>
    <p:spTree>
      <p:nvGrpSpPr>
        <p:cNvPr id="1" name=""/>
        <p:cNvGrpSpPr/>
        <p:nvPr/>
      </p:nvGrpSpPr>
      <p:grpSpPr>
        <a:xfrm xmlns:a="http://schemas.openxmlformats.org/drawingml/2006/main"/>
      </p:grpSpPr>
      <p:sp>
        <p:nvSpPr>
          <p:cNvPr id="6" name="Permission summary">
            <a:extLst xmlns:a="http://schemas.openxmlformats.org/drawingml/2006/main">
              <a:ext uri="{FF2B5EF4-FFF2-40B4-BE49-F238E27FC236}">
                <a16:creationId xmlns:a16="http://schemas.microsoft.com/office/drawing/2014/main" id="{05EE197F-260F-407A-B34F-C14F0A3C4527}"/>
              </a:ext>
            </a:extLst>
          </p:cNvPr>
          <p:cNvSpPr>
            <a:spLocks xmlns:a="http://schemas.openxmlformats.org/drawingml/2006/main" noGrp="1"/>
          </p:cNvSpPr>
          <p:nvPr/>
        </p:nvSpPr>
        <p:spPr>
          <a:xfrm xmlns:a="http://schemas.openxmlformats.org/drawingml/2006/main">
            <a:off x="609600" y="43815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150" b="1">
                <a:solidFill>
                  <a:srgbClr val="EEF4FA"/>
                </a:solidFill>
                <a:latin typeface="Noto Sans"/>
                <a:ea typeface="Noto Sans"/>
                <a:cs typeface="Noto Sans"/>
              </a:defRPr>
            </a:pPr>
            <a:r>
              <a:rPr sz="3150" b="1">
                <a:solidFill>
                  <a:srgbClr val="EEF4FA"/>
                </a:solidFill>
                <a:latin typeface="Noto Sans"/>
                <a:ea typeface="Noto Sans"/>
                <a:cs typeface="Noto Sans"/>
              </a:rPr>
              <a:t>Permission summary</a:t>
            </a:r>
          </a:p>
        </p:txBody>
      </p:sp>
      <p:sp>
        <p:nvSpPr>
          <p:cNvPr id="2" name="Appendix / NWTS">
            <a:extLst xmlns:a="http://schemas.openxmlformats.org/drawingml/2006/main">
              <a:ext uri="{FF2B5EF4-FFF2-40B4-BE49-F238E27FC236}">
                <a16:creationId xmlns:a16="http://schemas.microsoft.com/office/drawing/2014/main" id="{12C8231F-D62D-4B71-BC94-566F484BF2C9}"/>
              </a:ext>
            </a:extLst>
          </p:cNvPr>
          <p:cNvSpPr>
            <a:spLocks xmlns:a="http://schemas.openxmlformats.org/drawingml/2006/main" noGrp="1"/>
          </p:cNvSpPr>
          <p:nvPr/>
        </p:nvSpPr>
        <p:spPr>
          <a:xfrm xmlns:a="http://schemas.openxmlformats.org/drawingml/2006/main">
            <a:off x="609600" y="6496050"/>
            <a:ext cx="4286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050" b="0">
                <a:solidFill>
                  <a:srgbClr val="B8C7D8"/>
                </a:solidFill>
                <a:latin typeface="Noto Sans"/>
                <a:ea typeface="Noto Sans"/>
                <a:cs typeface="Noto Sans"/>
              </a:defRPr>
            </a:pPr>
            <a:r>
              <a:rPr sz="1050" b="0">
                <a:solidFill>
                  <a:srgbClr val="B8C7D8"/>
                </a:solidFill>
                <a:latin typeface="Noto Sans"/>
                <a:ea typeface="Noto Sans"/>
                <a:cs typeface="Noto Sans"/>
              </a:rPr>
              <a:t>Appendix / NWTS</a:t>
            </a:r>
          </a:p>
        </p:txBody>
      </p:sp>
      <p:sp>
        <p:nvSpPr>
          <p:cNvPr id="3" name="13">
            <a:extLst xmlns:a="http://schemas.openxmlformats.org/drawingml/2006/main">
              <a:ext uri="{FF2B5EF4-FFF2-40B4-BE49-F238E27FC236}">
                <a16:creationId xmlns:a16="http://schemas.microsoft.com/office/drawing/2014/main" id="{4DE9F25C-9122-4EFE-888C-7ABD72B50816}"/>
              </a:ext>
            </a:extLst>
          </p:cNvPr>
          <p:cNvSpPr>
            <a:spLocks xmlns:a="http://schemas.openxmlformats.org/drawingml/2006/main" noGrp="1"/>
          </p:cNvSpPr>
          <p:nvPr/>
        </p:nvSpPr>
        <p:spPr>
          <a:xfrm xmlns:a="http://schemas.openxmlformats.org/drawingml/2006/main">
            <a:off x="11049000" y="6496050"/>
            <a:ext cx="5334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050" b="0">
                <a:solidFill>
                  <a:srgbClr val="B8C7D8"/>
                </a:solidFill>
                <a:latin typeface="Noto Sans"/>
                <a:ea typeface="Noto Sans"/>
                <a:cs typeface="Noto Sans"/>
              </a:defRPr>
            </a:pPr>
            <a:r>
              <a:rPr sz="1050" b="0">
                <a:solidFill>
                  <a:srgbClr val="B8C7D8"/>
                </a:solidFill>
                <a:latin typeface="Noto Sans"/>
                <a:ea typeface="Noto Sans"/>
                <a:cs typeface="Noto Sans"/>
              </a:rPr>
              <a:t>13</a:t>
            </a:r>
          </a:p>
        </p:txBody>
      </p:sp>
      <p:graphicFrame>
        <p:nvGraphicFramePr>
          <p:cNvPr id="9" name=""/>
          <p:cNvGraphicFramePr/>
          <p:nvPr/>
        </p:nvGraphicFramePr>
        <p:xfrm>
          <a:off xmlns:a="http://schemas.openxmlformats.org/drawingml/2006/main" x="609600" y="1752600"/>
          <a:ext xmlns:a="http://schemas.openxmlformats.org/drawingml/2006/main" cx="10972800" cy="4000500"/>
        </p:xfrm>
        <a:graphic xmlns:a="http://schemas.openxmlformats.org/drawingml/2006/main">
          <a:graphicData uri="http://schemas.openxmlformats.org/drawingml/2006/table">
            <a:tbl>
              <a:tblPr/>
              <a:tblGrid>
                <a:gridCol w="4191000"/>
                <a:gridCol w="2238375"/>
                <a:gridCol w="2047875"/>
                <a:gridCol w="2495550"/>
              </a:tblGrid>
              <a:tr h="571500">
                <a:tc>
                  <a:txBody>
                    <a:bodyPr/>
                    <a:lstStyle/>
                    <a:p>
                      <a:r>
                        <a:rPr sz="1650" b="1">
                          <a:solidFill>
                            <a:srgbClr val="2BB8F2"/>
                          </a:solidFill>
                          <a:latin typeface="Noto Sans"/>
                          <a:ea typeface="Noto Sans"/>
                          <a:cs typeface="Noto Sans"/>
                        </a:rPr>
                        <a:t>Action</a:t>
                      </a:r>
                    </a:p>
                  </a:txBody>
                  <a:tcPr marL="152400" marR="133350" marT="114300" marB="95250" anchor="ctr">
                    <a:solidFill>
                      <a:srgbClr val="203A50"/>
                    </a:solidFill>
                  </a:tcPr>
                </a:tc>
                <a:tc>
                  <a:txBody>
                    <a:bodyPr/>
                    <a:lstStyle/>
                    <a:p>
                      <a:r>
                        <a:rPr sz="1650" b="1">
                          <a:solidFill>
                            <a:srgbClr val="2BB8F2"/>
                          </a:solidFill>
                          <a:latin typeface="Noto Sans"/>
                          <a:ea typeface="Noto Sans"/>
                          <a:cs typeface="Noto Sans"/>
                        </a:rPr>
                        <a:t>Employee</a:t>
                      </a:r>
                    </a:p>
                  </a:txBody>
                  <a:tcPr marL="152400" marR="133350" marT="114300" marB="95250" anchor="ctr">
                    <a:solidFill>
                      <a:srgbClr val="203A50"/>
                    </a:solidFill>
                  </a:tcPr>
                </a:tc>
                <a:tc>
                  <a:txBody>
                    <a:bodyPr/>
                    <a:lstStyle/>
                    <a:p>
                      <a:r>
                        <a:rPr sz="1650" b="1">
                          <a:solidFill>
                            <a:srgbClr val="2BB8F2"/>
                          </a:solidFill>
                          <a:latin typeface="Noto Sans"/>
                          <a:ea typeface="Noto Sans"/>
                          <a:cs typeface="Noto Sans"/>
                        </a:rPr>
                        <a:t>Supervision</a:t>
                      </a:r>
                    </a:p>
                  </a:txBody>
                  <a:tcPr marL="152400" marR="133350" marT="114300" marB="95250" anchor="ctr">
                    <a:solidFill>
                      <a:srgbClr val="203A50"/>
                    </a:solidFill>
                  </a:tcPr>
                </a:tc>
                <a:tc>
                  <a:txBody>
                    <a:bodyPr/>
                    <a:lstStyle/>
                    <a:p>
                      <a:r>
                        <a:rPr sz="1650" b="1">
                          <a:solidFill>
                            <a:srgbClr val="2BB8F2"/>
                          </a:solidFill>
                          <a:latin typeface="Noto Sans"/>
                          <a:ea typeface="Noto Sans"/>
                          <a:cs typeface="Noto Sans"/>
                        </a:rPr>
                        <a:t>Administrator</a:t>
                      </a:r>
                    </a:p>
                  </a:txBody>
                  <a:tcPr marL="152400" marR="133350" marT="114300" marB="95250" anchor="ctr">
                    <a:solidFill>
                      <a:srgbClr val="203A50"/>
                    </a:solidFill>
                  </a:tcPr>
                </a:tc>
              </a:tr>
              <a:tr h="571500">
                <a:tc>
                  <a:txBody>
                    <a:bodyPr/>
                    <a:lstStyle/>
                    <a:p>
                      <a:r>
                        <a:rPr sz="1650" b="0">
                          <a:solidFill>
                            <a:srgbClr val="EEF4FA"/>
                          </a:solidFill>
                          <a:latin typeface="Noto Sans"/>
                          <a:ea typeface="Noto Sans"/>
                          <a:cs typeface="Noto Sans"/>
                        </a:rPr>
                        <a:t>Daily operational tasks</a:t>
                      </a:r>
                    </a:p>
                  </a:txBody>
                  <a:tcPr marL="152400" marR="133350" marT="114300" marB="95250" anchor="ctr">
                    <a:solidFill>
                      <a:srgbClr val="12223A"/>
                    </a:solidFill>
                  </a:tcPr>
                </a:tc>
                <a:tc>
                  <a:txBody>
                    <a:bodyPr/>
                    <a:lstStyle/>
                    <a:p>
                      <a:r>
                        <a:rPr sz="1650" b="0">
                          <a:solidFill>
                            <a:srgbClr val="EEF4FA"/>
                          </a:solidFill>
                          <a:latin typeface="Noto Sans"/>
                          <a:ea typeface="Noto Sans"/>
                          <a:cs typeface="Noto Sans"/>
                        </a:rPr>
                        <a:t>Assigned area</a:t>
                      </a:r>
                    </a:p>
                  </a:txBody>
                  <a:tcPr marL="152400" marR="133350" marT="114300" marB="95250" anchor="ctr">
                    <a:solidFill>
                      <a:srgbClr val="12223A"/>
                    </a:solidFill>
                  </a:tcPr>
                </a:tc>
                <a:tc>
                  <a:txBody>
                    <a:bodyPr/>
                    <a:lstStyle/>
                    <a:p>
                      <a:r>
                        <a:rPr sz="1650" b="0">
                          <a:solidFill>
                            <a:srgbClr val="EEF4FA"/>
                          </a:solidFill>
                          <a:latin typeface="Noto Sans"/>
                          <a:ea typeface="Noto Sans"/>
                          <a:cs typeface="Noto Sans"/>
                        </a:rPr>
                        <a:t>All areas</a:t>
                      </a:r>
                    </a:p>
                  </a:txBody>
                  <a:tcPr marL="152400" marR="133350" marT="114300" marB="95250" anchor="ctr">
                    <a:solidFill>
                      <a:srgbClr val="12223A"/>
                    </a:solidFill>
                  </a:tcPr>
                </a:tc>
                <a:tc>
                  <a:txBody>
                    <a:bodyPr/>
                    <a:lstStyle/>
                    <a:p>
                      <a:r>
                        <a:rPr sz="1650" b="0">
                          <a:solidFill>
                            <a:srgbClr val="EEF4FA"/>
                          </a:solidFill>
                          <a:latin typeface="Noto Sans"/>
                          <a:ea typeface="Noto Sans"/>
                          <a:cs typeface="Noto Sans"/>
                        </a:rPr>
                        <a:t>All areas</a:t>
                      </a:r>
                    </a:p>
                  </a:txBody>
                  <a:tcPr marL="152400" marR="133350" marT="114300" marB="95250" anchor="ctr">
                    <a:solidFill>
                      <a:srgbClr val="12223A"/>
                    </a:solidFill>
                  </a:tcPr>
                </a:tc>
              </a:tr>
              <a:tr h="571500">
                <a:tc>
                  <a:txBody>
                    <a:bodyPr/>
                    <a:lstStyle/>
                    <a:p>
                      <a:r>
                        <a:rPr sz="1650" b="0">
                          <a:solidFill>
                            <a:srgbClr val="EEF4FA"/>
                          </a:solidFill>
                          <a:latin typeface="Noto Sans"/>
                          <a:ea typeface="Noto Sans"/>
                          <a:cs typeface="Noto Sans"/>
                        </a:rPr>
                        <a:t>Prepare Container Profiles</a:t>
                      </a:r>
                    </a:p>
                  </a:txBody>
                  <a:tcPr marL="152400" marR="133350" marT="114300" marB="95250" anchor="ctr">
                    <a:solidFill>
                      <a:srgbClr val="0A1422"/>
                    </a:solidFill>
                  </a:tcPr>
                </a:tc>
                <a:tc>
                  <a:txBody>
                    <a:bodyPr/>
                    <a:lstStyle/>
                    <a:p>
                      <a:r>
                        <a:rPr sz="1650" b="0">
                          <a:solidFill>
                            <a:srgbClr val="EEF4FA"/>
                          </a:solidFill>
                          <a:latin typeface="Noto Sans"/>
                          <a:ea typeface="Noto Sans"/>
                          <a:cs typeface="Noto Sans"/>
                        </a:rPr>
                        <a:t>No</a:t>
                      </a:r>
                    </a:p>
                  </a:txBody>
                  <a:tcPr marL="152400" marR="133350" marT="114300" marB="95250" anchor="ctr">
                    <a:solidFill>
                      <a:srgbClr val="0A1422"/>
                    </a:solidFill>
                  </a:tcPr>
                </a:tc>
                <a:tc>
                  <a:txBody>
                    <a:bodyPr/>
                    <a:lstStyle/>
                    <a:p>
                      <a:r>
                        <a:rPr sz="1650" b="0">
                          <a:solidFill>
                            <a:srgbClr val="EEF4FA"/>
                          </a:solidFill>
                          <a:latin typeface="Noto Sans"/>
                          <a:ea typeface="Noto Sans"/>
                          <a:cs typeface="Noto Sans"/>
                        </a:rPr>
                        <a:t>While IN</a:t>
                      </a:r>
                    </a:p>
                  </a:txBody>
                  <a:tcPr marL="152400" marR="133350" marT="114300" marB="95250" anchor="ctr">
                    <a:solidFill>
                      <a:srgbClr val="0A1422"/>
                    </a:solidFill>
                  </a:tcPr>
                </a:tc>
                <a:tc>
                  <a:txBody>
                    <a:bodyPr/>
                    <a:lstStyle/>
                    <a:p>
                      <a:r>
                        <a:rPr sz="1650" b="0">
                          <a:solidFill>
                            <a:srgbClr val="EEF4FA"/>
                          </a:solidFill>
                          <a:latin typeface="Noto Sans"/>
                          <a:ea typeface="Noto Sans"/>
                          <a:cs typeface="Noto Sans"/>
                        </a:rPr>
                        <a:t>Yes*</a:t>
                      </a:r>
                    </a:p>
                  </a:txBody>
                  <a:tcPr marL="152400" marR="133350" marT="114300" marB="95250" anchor="ctr">
                    <a:solidFill>
                      <a:srgbClr val="0A1422"/>
                    </a:solidFill>
                  </a:tcPr>
                </a:tc>
              </a:tr>
              <a:tr h="571500">
                <a:tc>
                  <a:txBody>
                    <a:bodyPr/>
                    <a:lstStyle/>
                    <a:p>
                      <a:r>
                        <a:rPr sz="1650" b="0">
                          <a:solidFill>
                            <a:srgbClr val="EEF4FA"/>
                          </a:solidFill>
                          <a:latin typeface="Noto Sans"/>
                          <a:ea typeface="Noto Sans"/>
                          <a:cs typeface="Noto Sans"/>
                        </a:rPr>
                        <a:t>Correct an OUT shipment</a:t>
                      </a:r>
                    </a:p>
                  </a:txBody>
                  <a:tcPr marL="152400" marR="133350" marT="114300" marB="95250" anchor="ctr">
                    <a:solidFill>
                      <a:srgbClr val="12223A"/>
                    </a:solidFill>
                  </a:tcPr>
                </a:tc>
                <a:tc>
                  <a:txBody>
                    <a:bodyPr/>
                    <a:lstStyle/>
                    <a:p>
                      <a:r>
                        <a:rPr sz="1650" b="0">
                          <a:solidFill>
                            <a:srgbClr val="EEF4FA"/>
                          </a:solidFill>
                          <a:latin typeface="Noto Sans"/>
                          <a:ea typeface="Noto Sans"/>
                          <a:cs typeface="Noto Sans"/>
                        </a:rPr>
                        <a:t>No</a:t>
                      </a:r>
                    </a:p>
                  </a:txBody>
                  <a:tcPr marL="152400" marR="133350" marT="114300" marB="95250" anchor="ctr">
                    <a:solidFill>
                      <a:srgbClr val="12223A"/>
                    </a:solidFill>
                  </a:tcPr>
                </a:tc>
                <a:tc>
                  <a:txBody>
                    <a:bodyPr/>
                    <a:lstStyle/>
                    <a:p>
                      <a:r>
                        <a:rPr sz="1650" b="0">
                          <a:solidFill>
                            <a:srgbClr val="EEF4FA"/>
                          </a:solidFill>
                          <a:latin typeface="Noto Sans"/>
                          <a:ea typeface="Noto Sans"/>
                          <a:cs typeface="Noto Sans"/>
                        </a:rPr>
                        <a:t>No</a:t>
                      </a:r>
                    </a:p>
                  </a:txBody>
                  <a:tcPr marL="152400" marR="133350" marT="114300" marB="95250" anchor="ctr">
                    <a:solidFill>
                      <a:srgbClr val="12223A"/>
                    </a:solidFill>
                  </a:tcPr>
                </a:tc>
                <a:tc>
                  <a:txBody>
                    <a:bodyPr/>
                    <a:lstStyle/>
                    <a:p>
                      <a:r>
                        <a:rPr sz="1650" b="0">
                          <a:solidFill>
                            <a:srgbClr val="EEF4FA"/>
                          </a:solidFill>
                          <a:latin typeface="Noto Sans"/>
                          <a:ea typeface="Noto Sans"/>
                          <a:cs typeface="Noto Sans"/>
                        </a:rPr>
                        <a:t>Yes*</a:t>
                      </a:r>
                    </a:p>
                  </a:txBody>
                  <a:tcPr marL="152400" marR="133350" marT="114300" marB="95250" anchor="ctr">
                    <a:solidFill>
                      <a:srgbClr val="12223A"/>
                    </a:solidFill>
                  </a:tcPr>
                </a:tc>
              </a:tr>
              <a:tr h="571500">
                <a:tc>
                  <a:txBody>
                    <a:bodyPr/>
                    <a:lstStyle/>
                    <a:p>
                      <a:r>
                        <a:rPr sz="1650" b="0">
                          <a:solidFill>
                            <a:srgbClr val="EEF4FA"/>
                          </a:solidFill>
                          <a:latin typeface="Noto Sans"/>
                          <a:ea typeface="Noto Sans"/>
                          <a:cs typeface="Noto Sans"/>
                        </a:rPr>
                        <a:t>Create Employee accounts</a:t>
                      </a:r>
                    </a:p>
                  </a:txBody>
                  <a:tcPr marL="152400" marR="133350" marT="114300" marB="95250" anchor="ctr">
                    <a:solidFill>
                      <a:srgbClr val="0A1422"/>
                    </a:solidFill>
                  </a:tcPr>
                </a:tc>
                <a:tc>
                  <a:txBody>
                    <a:bodyPr/>
                    <a:lstStyle/>
                    <a:p>
                      <a:r>
                        <a:rPr sz="1650" b="0">
                          <a:solidFill>
                            <a:srgbClr val="EEF4FA"/>
                          </a:solidFill>
                          <a:latin typeface="Noto Sans"/>
                          <a:ea typeface="Noto Sans"/>
                          <a:cs typeface="Noto Sans"/>
                        </a:rPr>
                        <a:t>No</a:t>
                      </a:r>
                    </a:p>
                  </a:txBody>
                  <a:tcPr marL="152400" marR="133350" marT="114300" marB="95250" anchor="ctr">
                    <a:solidFill>
                      <a:srgbClr val="0A1422"/>
                    </a:solidFill>
                  </a:tcPr>
                </a:tc>
                <a:tc>
                  <a:txBody>
                    <a:bodyPr/>
                    <a:lstStyle/>
                    <a:p>
                      <a:r>
                        <a:rPr sz="1650" b="0">
                          <a:solidFill>
                            <a:srgbClr val="EEF4FA"/>
                          </a:solidFill>
                          <a:latin typeface="Noto Sans"/>
                          <a:ea typeface="Noto Sans"/>
                          <a:cs typeface="Noto Sans"/>
                        </a:rPr>
                        <a:t>Yes</a:t>
                      </a:r>
                    </a:p>
                  </a:txBody>
                  <a:tcPr marL="152400" marR="133350" marT="114300" marB="95250" anchor="ctr">
                    <a:solidFill>
                      <a:srgbClr val="0A1422"/>
                    </a:solidFill>
                  </a:tcPr>
                </a:tc>
                <a:tc>
                  <a:txBody>
                    <a:bodyPr/>
                    <a:lstStyle/>
                    <a:p>
                      <a:r>
                        <a:rPr sz="1650" b="0">
                          <a:solidFill>
                            <a:srgbClr val="EEF4FA"/>
                          </a:solidFill>
                          <a:latin typeface="Noto Sans"/>
                          <a:ea typeface="Noto Sans"/>
                          <a:cs typeface="Noto Sans"/>
                        </a:rPr>
                        <a:t>Yes</a:t>
                      </a:r>
                    </a:p>
                  </a:txBody>
                  <a:tcPr marL="152400" marR="133350" marT="114300" marB="95250" anchor="ctr">
                    <a:solidFill>
                      <a:srgbClr val="0A1422"/>
                    </a:solidFill>
                  </a:tcPr>
                </a:tc>
              </a:tr>
              <a:tr h="571500">
                <a:tc>
                  <a:txBody>
                    <a:bodyPr/>
                    <a:lstStyle/>
                    <a:p>
                      <a:r>
                        <a:rPr sz="1650" b="0">
                          <a:solidFill>
                            <a:srgbClr val="EEF4FA"/>
                          </a:solidFill>
                          <a:latin typeface="Noto Sans"/>
                          <a:ea typeface="Noto Sans"/>
                          <a:cs typeface="Noto Sans"/>
                        </a:rPr>
                        <a:t>Change accounts / definitions</a:t>
                      </a:r>
                    </a:p>
                  </a:txBody>
                  <a:tcPr marL="152400" marR="133350" marT="114300" marB="95250" anchor="ctr">
                    <a:solidFill>
                      <a:srgbClr val="12223A"/>
                    </a:solidFill>
                  </a:tcPr>
                </a:tc>
                <a:tc>
                  <a:txBody>
                    <a:bodyPr/>
                    <a:lstStyle/>
                    <a:p>
                      <a:r>
                        <a:rPr sz="1650" b="0">
                          <a:solidFill>
                            <a:srgbClr val="EEF4FA"/>
                          </a:solidFill>
                          <a:latin typeface="Noto Sans"/>
                          <a:ea typeface="Noto Sans"/>
                          <a:cs typeface="Noto Sans"/>
                        </a:rPr>
                        <a:t>No</a:t>
                      </a:r>
                    </a:p>
                  </a:txBody>
                  <a:tcPr marL="152400" marR="133350" marT="114300" marB="95250" anchor="ctr">
                    <a:solidFill>
                      <a:srgbClr val="12223A"/>
                    </a:solidFill>
                  </a:tcPr>
                </a:tc>
                <a:tc>
                  <a:txBody>
                    <a:bodyPr/>
                    <a:lstStyle/>
                    <a:p>
                      <a:r>
                        <a:rPr sz="1650" b="0">
                          <a:solidFill>
                            <a:srgbClr val="EEF4FA"/>
                          </a:solidFill>
                          <a:latin typeface="Noto Sans"/>
                          <a:ea typeface="Noto Sans"/>
                          <a:cs typeface="Noto Sans"/>
                        </a:rPr>
                        <a:t>No</a:t>
                      </a:r>
                    </a:p>
                  </a:txBody>
                  <a:tcPr marL="152400" marR="133350" marT="114300" marB="95250" anchor="ctr">
                    <a:solidFill>
                      <a:srgbClr val="12223A"/>
                    </a:solidFill>
                  </a:tcPr>
                </a:tc>
                <a:tc>
                  <a:txBody>
                    <a:bodyPr/>
                    <a:lstStyle/>
                    <a:p>
                      <a:r>
                        <a:rPr sz="1650" b="0">
                          <a:solidFill>
                            <a:srgbClr val="EEF4FA"/>
                          </a:solidFill>
                          <a:latin typeface="Noto Sans"/>
                          <a:ea typeface="Noto Sans"/>
                          <a:cs typeface="Noto Sans"/>
                        </a:rPr>
                        <a:t>Yes</a:t>
                      </a:r>
                    </a:p>
                  </a:txBody>
                  <a:tcPr marL="152400" marR="133350" marT="114300" marB="95250" anchor="ctr">
                    <a:solidFill>
                      <a:srgbClr val="12223A"/>
                    </a:solidFill>
                  </a:tcPr>
                </a:tc>
              </a:tr>
              <a:tr h="571500">
                <a:tc>
                  <a:txBody>
                    <a:bodyPr/>
                    <a:lstStyle/>
                    <a:p>
                      <a:r>
                        <a:rPr sz="1650" b="0">
                          <a:solidFill>
                            <a:srgbClr val="EEF4FA"/>
                          </a:solidFill>
                          <a:latin typeface="Noto Sans"/>
                          <a:ea typeface="Noto Sans"/>
                          <a:cs typeface="Noto Sans"/>
                        </a:rPr>
                        <a:t>Verify stock / apply correction</a:t>
                      </a:r>
                    </a:p>
                  </a:txBody>
                  <a:tcPr marL="152400" marR="133350" marT="114300" marB="95250" anchor="ctr">
                    <a:solidFill>
                      <a:srgbClr val="0A1422"/>
                    </a:solidFill>
                  </a:tcPr>
                </a:tc>
                <a:tc>
                  <a:txBody>
                    <a:bodyPr/>
                    <a:lstStyle/>
                    <a:p>
                      <a:r>
                        <a:rPr sz="1650" b="0">
                          <a:solidFill>
                            <a:srgbClr val="EEF4FA"/>
                          </a:solidFill>
                          <a:latin typeface="Noto Sans"/>
                          <a:ea typeface="Noto Sans"/>
                          <a:cs typeface="Noto Sans"/>
                        </a:rPr>
                        <a:t>No</a:t>
                      </a:r>
                    </a:p>
                  </a:txBody>
                  <a:tcPr marL="152400" marR="133350" marT="114300" marB="95250" anchor="ctr">
                    <a:solidFill>
                      <a:srgbClr val="0A1422"/>
                    </a:solidFill>
                  </a:tcPr>
                </a:tc>
                <a:tc>
                  <a:txBody>
                    <a:bodyPr/>
                    <a:lstStyle/>
                    <a:p>
                      <a:r>
                        <a:rPr sz="1650" b="0">
                          <a:solidFill>
                            <a:srgbClr val="EEF4FA"/>
                          </a:solidFill>
                          <a:latin typeface="Noto Sans"/>
                          <a:ea typeface="Noto Sans"/>
                          <a:cs typeface="Noto Sans"/>
                        </a:rPr>
                        <a:t>Verify</a:t>
                      </a:r>
                    </a:p>
                  </a:txBody>
                  <a:tcPr marL="152400" marR="133350" marT="114300" marB="95250" anchor="ctr">
                    <a:solidFill>
                      <a:srgbClr val="0A1422"/>
                    </a:solidFill>
                  </a:tcPr>
                </a:tc>
                <a:tc>
                  <a:txBody>
                    <a:bodyPr/>
                    <a:lstStyle/>
                    <a:p>
                      <a:r>
                        <a:rPr sz="1650" b="0">
                          <a:solidFill>
                            <a:srgbClr val="EEF4FA"/>
                          </a:solidFill>
                          <a:latin typeface="Noto Sans"/>
                          <a:ea typeface="Noto Sans"/>
                          <a:cs typeface="Noto Sans"/>
                        </a:rPr>
                        <a:t>Verify + correct</a:t>
                      </a:r>
                    </a:p>
                  </a:txBody>
                  <a:tcPr marL="152400" marR="133350" marT="114300" marB="95250" anchor="ctr">
                    <a:solidFill>
                      <a:srgbClr val="0A1422"/>
                    </a:solidFill>
                  </a:tcPr>
                </a:tc>
              </a:tr>
            </a:tbl>
          </a:graphicData>
        </a:graphic>
      </p:graphicFrame>
      <p:sp>
        <p:nvSpPr>
          <p:cNvPr id="5" name="* Subject to the record state and additional checks. This is a summary">
            <a:extLst xmlns:a="http://schemas.openxmlformats.org/drawingml/2006/main">
              <a:ext uri="{FF2B5EF4-FFF2-40B4-BE49-F238E27FC236}">
                <a16:creationId xmlns:a16="http://schemas.microsoft.com/office/drawing/2014/main" id="{65A61C40-010A-4BEE-889B-CEC18576B517}"/>
              </a:ext>
            </a:extLst>
          </p:cNvPr>
          <p:cNvSpPr>
            <a:spLocks xmlns:a="http://schemas.openxmlformats.org/drawingml/2006/main" noGrp="1"/>
          </p:cNvSpPr>
          <p:nvPr/>
        </p:nvSpPr>
        <p:spPr>
          <a:xfrm xmlns:a="http://schemas.openxmlformats.org/drawingml/2006/main">
            <a:off x="609600" y="5953125"/>
            <a:ext cx="109728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b="0">
                <a:solidFill>
                  <a:srgbClr val="B8C7D8"/>
                </a:solidFill>
                <a:latin typeface="Noto Sans"/>
                <a:ea typeface="Noto Sans"/>
                <a:cs typeface="Noto Sans"/>
              </a:defRPr>
            </a:pPr>
            <a:r>
              <a:rPr sz="1500" b="0">
                <a:solidFill>
                  <a:srgbClr val="B8C7D8"/>
                </a:solidFill>
                <a:latin typeface="Noto Sans"/>
                <a:ea typeface="Noto Sans"/>
                <a:cs typeface="Noto Sans"/>
              </a:rPr>
              <a:t>* Subject to the record state and additional checks. This is a summary of current application rules.</a:t>
            </a:r>
          </a:p>
        </p:txBody>
      </p:sp>
    </p:spTree>
    <p:extLst>
      <p:ext uri="{BB962C8B-B14F-4D97-AF65-F5344CB8AC3E}">
        <p14:creationId xmlns:p14="http://schemas.microsoft.com/office/powerpoint/2010/main" val="661080495"/>
      </p:ext>
    </p:extLst>
  </p:cSld>
</p:sld>
</file>

<file path=ppt/slides/slide14.xml><?xml version="1.0" encoding="utf-8"?>
<p:sld xmlns:p="http://schemas.openxmlformats.org/presentationml/2006/main">
  <p:cSld>
    <p:bg>
      <p:bgPr>
        <a:solidFill xmlns:a="http://schemas.openxmlformats.org/drawingml/2006/main">
          <a:srgbClr val="0A1422"/>
        </a:solidFill>
      </p:bgPr>
    </p:bg>
    <p:spTree>
      <p:nvGrpSpPr>
        <p:cNvPr id="1" name=""/>
        <p:cNvGrpSpPr/>
        <p:nvPr/>
      </p:nvGrpSpPr>
      <p:grpSpPr>
        <a:xfrm xmlns:a="http://schemas.openxmlformats.org/drawingml/2006/main"/>
      </p:grpSpPr>
      <p:sp>
        <p:nvSpPr>
          <p:cNvPr id="6" name="Demonstration: one shipment">
            <a:extLst xmlns:a="http://schemas.openxmlformats.org/drawingml/2006/main">
              <a:ext uri="{FF2B5EF4-FFF2-40B4-BE49-F238E27FC236}">
                <a16:creationId xmlns:a16="http://schemas.microsoft.com/office/drawing/2014/main" id="{257C306B-FA34-44D2-9676-D2F29CF3FAFD}"/>
              </a:ext>
            </a:extLst>
          </p:cNvPr>
          <p:cNvSpPr>
            <a:spLocks xmlns:a="http://schemas.openxmlformats.org/drawingml/2006/main" noGrp="1"/>
          </p:cNvSpPr>
          <p:nvPr/>
        </p:nvSpPr>
        <p:spPr>
          <a:xfrm xmlns:a="http://schemas.openxmlformats.org/drawingml/2006/main">
            <a:off x="609600" y="43815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150" b="1">
                <a:solidFill>
                  <a:srgbClr val="EEF4FA"/>
                </a:solidFill>
                <a:latin typeface="Noto Sans"/>
                <a:ea typeface="Noto Sans"/>
                <a:cs typeface="Noto Sans"/>
              </a:defRPr>
            </a:pPr>
            <a:r>
              <a:rPr sz="3150" b="1">
                <a:solidFill>
                  <a:srgbClr val="EEF4FA"/>
                </a:solidFill>
                <a:latin typeface="Noto Sans"/>
                <a:ea typeface="Noto Sans"/>
                <a:cs typeface="Noto Sans"/>
              </a:rPr>
              <a:t>Demonstration: one shipment</a:t>
            </a:r>
          </a:p>
        </p:txBody>
      </p:sp>
      <p:sp>
        <p:nvSpPr>
          <p:cNvPr id="2" name="Appendix / NWTS">
            <a:extLst xmlns:a="http://schemas.openxmlformats.org/drawingml/2006/main">
              <a:ext uri="{FF2B5EF4-FFF2-40B4-BE49-F238E27FC236}">
                <a16:creationId xmlns:a16="http://schemas.microsoft.com/office/drawing/2014/main" id="{EDA074F3-BDA4-4114-8973-302C2365F0AD}"/>
              </a:ext>
            </a:extLst>
          </p:cNvPr>
          <p:cNvSpPr>
            <a:spLocks xmlns:a="http://schemas.openxmlformats.org/drawingml/2006/main" noGrp="1"/>
          </p:cNvSpPr>
          <p:nvPr/>
        </p:nvSpPr>
        <p:spPr>
          <a:xfrm xmlns:a="http://schemas.openxmlformats.org/drawingml/2006/main">
            <a:off x="609600" y="6496050"/>
            <a:ext cx="4286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050" b="0">
                <a:solidFill>
                  <a:srgbClr val="B8C7D8"/>
                </a:solidFill>
                <a:latin typeface="Noto Sans"/>
                <a:ea typeface="Noto Sans"/>
                <a:cs typeface="Noto Sans"/>
              </a:defRPr>
            </a:pPr>
            <a:r>
              <a:rPr sz="1050" b="0">
                <a:solidFill>
                  <a:srgbClr val="B8C7D8"/>
                </a:solidFill>
                <a:latin typeface="Noto Sans"/>
                <a:ea typeface="Noto Sans"/>
                <a:cs typeface="Noto Sans"/>
              </a:rPr>
              <a:t>Appendix / NWTS</a:t>
            </a:r>
          </a:p>
        </p:txBody>
      </p:sp>
      <p:sp>
        <p:nvSpPr>
          <p:cNvPr id="3" name="14">
            <a:extLst xmlns:a="http://schemas.openxmlformats.org/drawingml/2006/main">
              <a:ext uri="{FF2B5EF4-FFF2-40B4-BE49-F238E27FC236}">
                <a16:creationId xmlns:a16="http://schemas.microsoft.com/office/drawing/2014/main" id="{C4E637B3-50E0-4D80-9B11-F2544866ED0A}"/>
              </a:ext>
            </a:extLst>
          </p:cNvPr>
          <p:cNvSpPr>
            <a:spLocks xmlns:a="http://schemas.openxmlformats.org/drawingml/2006/main" noGrp="1"/>
          </p:cNvSpPr>
          <p:nvPr/>
        </p:nvSpPr>
        <p:spPr>
          <a:xfrm xmlns:a="http://schemas.openxmlformats.org/drawingml/2006/main">
            <a:off x="11049000" y="6496050"/>
            <a:ext cx="5334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050" b="0">
                <a:solidFill>
                  <a:srgbClr val="B8C7D8"/>
                </a:solidFill>
                <a:latin typeface="Noto Sans"/>
                <a:ea typeface="Noto Sans"/>
                <a:cs typeface="Noto Sans"/>
              </a:defRPr>
            </a:pPr>
            <a:r>
              <a:rPr sz="1050" b="0">
                <a:solidFill>
                  <a:srgbClr val="B8C7D8"/>
                </a:solidFill>
                <a:latin typeface="Noto Sans"/>
                <a:ea typeface="Noto Sans"/>
                <a:cs typeface="Noto Sans"/>
              </a:rPr>
              <a:t>14</a:t>
            </a:r>
          </a:p>
        </p:txBody>
      </p:sp>
      <p:graphicFrame>
        <p:nvGraphicFramePr>
          <p:cNvPr id="9" name=""/>
          <p:cNvGraphicFramePr/>
          <p:nvPr/>
        </p:nvGraphicFramePr>
        <p:xfrm>
          <a:off xmlns:a="http://schemas.openxmlformats.org/drawingml/2006/main" x="609600" y="1752600"/>
          <a:ext xmlns:a="http://schemas.openxmlformats.org/drawingml/2006/main" cx="10972800" cy="3714750"/>
        </p:xfrm>
        <a:graphic xmlns:a="http://schemas.openxmlformats.org/drawingml/2006/main">
          <a:graphicData uri="http://schemas.openxmlformats.org/drawingml/2006/table">
            <a:tbl>
              <a:tblPr/>
              <a:tblGrid>
                <a:gridCol w="2000250"/>
                <a:gridCol w="4762500"/>
                <a:gridCol w="4210050"/>
              </a:tblGrid>
              <a:tr h="619125">
                <a:tc>
                  <a:txBody>
                    <a:bodyPr/>
                    <a:lstStyle/>
                    <a:p>
                      <a:r>
                        <a:rPr sz="1725" b="1">
                          <a:solidFill>
                            <a:srgbClr val="2BB8F2"/>
                          </a:solidFill>
                          <a:latin typeface="Noto Sans"/>
                          <a:ea typeface="Noto Sans"/>
                          <a:cs typeface="Noto Sans"/>
                        </a:rPr>
                        <a:t>Stage</a:t>
                      </a:r>
                    </a:p>
                  </a:txBody>
                  <a:tcPr marL="152400" marR="133350" marT="114300" marB="95250" anchor="ctr">
                    <a:solidFill>
                      <a:srgbClr val="203A50"/>
                    </a:solidFill>
                  </a:tcPr>
                </a:tc>
                <a:tc>
                  <a:txBody>
                    <a:bodyPr/>
                    <a:lstStyle/>
                    <a:p>
                      <a:r>
                        <a:rPr sz="1725" b="1">
                          <a:solidFill>
                            <a:srgbClr val="2BB8F2"/>
                          </a:solidFill>
                          <a:latin typeface="Noto Sans"/>
                          <a:ea typeface="Noto Sans"/>
                          <a:cs typeface="Noto Sans"/>
                        </a:rPr>
                        <a:t>Example action</a:t>
                      </a:r>
                    </a:p>
                  </a:txBody>
                  <a:tcPr marL="152400" marR="133350" marT="114300" marB="95250" anchor="ctr">
                    <a:solidFill>
                      <a:srgbClr val="203A50"/>
                    </a:solidFill>
                  </a:tcPr>
                </a:tc>
                <a:tc>
                  <a:txBody>
                    <a:bodyPr/>
                    <a:lstStyle/>
                    <a:p>
                      <a:r>
                        <a:rPr sz="1725" b="1">
                          <a:solidFill>
                            <a:srgbClr val="2BB8F2"/>
                          </a:solidFill>
                          <a:latin typeface="Noto Sans"/>
                          <a:ea typeface="Noto Sans"/>
                          <a:cs typeface="Noto Sans"/>
                        </a:rPr>
                        <a:t>What the audience sees</a:t>
                      </a:r>
                    </a:p>
                  </a:txBody>
                  <a:tcPr marL="152400" marR="133350" marT="114300" marB="95250" anchor="ctr">
                    <a:solidFill>
                      <a:srgbClr val="203A50"/>
                    </a:solidFill>
                  </a:tcPr>
                </a:tc>
              </a:tr>
              <a:tr h="619125">
                <a:tc>
                  <a:txBody>
                    <a:bodyPr/>
                    <a:lstStyle/>
                    <a:p>
                      <a:r>
                        <a:rPr sz="1725" b="0">
                          <a:solidFill>
                            <a:srgbClr val="EEF4FA"/>
                          </a:solidFill>
                          <a:latin typeface="Noto Sans"/>
                          <a:ea typeface="Noto Sans"/>
                          <a:cs typeface="Noto Sans"/>
                        </a:rPr>
                        <a:t>Arrival</a:t>
                      </a:r>
                    </a:p>
                  </a:txBody>
                  <a:tcPr marL="152400" marR="133350" marT="114300" marB="95250" anchor="ctr">
                    <a:solidFill>
                      <a:srgbClr val="12223A"/>
                    </a:solidFill>
                  </a:tcPr>
                </a:tc>
                <a:tc>
                  <a:txBody>
                    <a:bodyPr/>
                    <a:lstStyle/>
                    <a:p>
                      <a:r>
                        <a:rPr sz="1725" b="0">
                          <a:solidFill>
                            <a:srgbClr val="EEF4FA"/>
                          </a:solidFill>
                          <a:latin typeface="Noto Sans"/>
                          <a:ea typeface="Noto Sans"/>
                          <a:cs typeface="Noto Sans"/>
                        </a:rPr>
                        <a:t>Record one demonstration truck</a:t>
                      </a:r>
                    </a:p>
                  </a:txBody>
                  <a:tcPr marL="152400" marR="133350" marT="114300" marB="95250" anchor="ctr">
                    <a:solidFill>
                      <a:srgbClr val="12223A"/>
                    </a:solidFill>
                  </a:tcPr>
                </a:tc>
                <a:tc>
                  <a:txBody>
                    <a:bodyPr/>
                    <a:lstStyle/>
                    <a:p>
                      <a:r>
                        <a:rPr sz="1725" b="0">
                          <a:solidFill>
                            <a:srgbClr val="EEF4FA"/>
                          </a:solidFill>
                          <a:latin typeface="Noto Sans"/>
                          <a:ea typeface="Noto Sans"/>
                          <a:cs typeface="Noto Sans"/>
                        </a:rPr>
                        <a:t>A shipment awaiting contents</a:t>
                      </a:r>
                    </a:p>
                  </a:txBody>
                  <a:tcPr marL="152400" marR="133350" marT="114300" marB="95250" anchor="ctr">
                    <a:solidFill>
                      <a:srgbClr val="12223A"/>
                    </a:solidFill>
                  </a:tcPr>
                </a:tc>
              </a:tr>
              <a:tr h="619125">
                <a:tc>
                  <a:txBody>
                    <a:bodyPr/>
                    <a:lstStyle/>
                    <a:p>
                      <a:r>
                        <a:rPr sz="1725" b="0">
                          <a:solidFill>
                            <a:srgbClr val="EEF4FA"/>
                          </a:solidFill>
                          <a:latin typeface="Noto Sans"/>
                          <a:ea typeface="Noto Sans"/>
                          <a:cs typeface="Noto Sans"/>
                        </a:rPr>
                        <a:t>Contents</a:t>
                      </a:r>
                    </a:p>
                  </a:txBody>
                  <a:tcPr marL="152400" marR="133350" marT="114300" marB="95250" anchor="ctr">
                    <a:solidFill>
                      <a:srgbClr val="0A1422"/>
                    </a:solidFill>
                  </a:tcPr>
                </a:tc>
                <a:tc>
                  <a:txBody>
                    <a:bodyPr/>
                    <a:lstStyle/>
                    <a:p>
                      <a:r>
                        <a:rPr sz="1725" b="0">
                          <a:solidFill>
                            <a:srgbClr val="EEF4FA"/>
                          </a:solidFill>
                          <a:latin typeface="Noto Sans"/>
                          <a:ea typeface="Noto Sans"/>
                          <a:cs typeface="Noto Sans"/>
                        </a:rPr>
                        <a:t>Add profiles of 15 and 12 containers</a:t>
                      </a:r>
                    </a:p>
                  </a:txBody>
                  <a:tcPr marL="152400" marR="133350" marT="114300" marB="95250" anchor="ctr">
                    <a:solidFill>
                      <a:srgbClr val="0A1422"/>
                    </a:solidFill>
                  </a:tcPr>
                </a:tc>
                <a:tc>
                  <a:txBody>
                    <a:bodyPr/>
                    <a:lstStyle/>
                    <a:p>
                      <a:r>
                        <a:rPr sz="1725" b="0">
                          <a:solidFill>
                            <a:srgbClr val="EEF4FA"/>
                          </a:solidFill>
                          <a:latin typeface="Noto Sans"/>
                          <a:ea typeface="Noto Sans"/>
                          <a:cs typeface="Noto Sans"/>
                        </a:rPr>
                        <a:t>27 containers in two groups</a:t>
                      </a:r>
                    </a:p>
                  </a:txBody>
                  <a:tcPr marL="152400" marR="133350" marT="114300" marB="95250" anchor="ctr">
                    <a:solidFill>
                      <a:srgbClr val="0A1422"/>
                    </a:solidFill>
                  </a:tcPr>
                </a:tc>
              </a:tr>
              <a:tr h="619125">
                <a:tc>
                  <a:txBody>
                    <a:bodyPr/>
                    <a:lstStyle/>
                    <a:p>
                      <a:r>
                        <a:rPr sz="1725" b="0">
                          <a:solidFill>
                            <a:srgbClr val="EEF4FA"/>
                          </a:solidFill>
                          <a:latin typeface="Noto Sans"/>
                          <a:ea typeface="Noto Sans"/>
                          <a:cs typeface="Noto Sans"/>
                        </a:rPr>
                        <a:t>Receipt</a:t>
                      </a:r>
                    </a:p>
                  </a:txBody>
                  <a:tcPr marL="152400" marR="133350" marT="114300" marB="95250" anchor="ctr">
                    <a:solidFill>
                      <a:srgbClr val="12223A"/>
                    </a:solidFill>
                  </a:tcPr>
                </a:tc>
                <a:tc>
                  <a:txBody>
                    <a:bodyPr/>
                    <a:lstStyle/>
                    <a:p>
                      <a:r>
                        <a:rPr sz="1725" b="0">
                          <a:solidFill>
                            <a:srgbClr val="EEF4FA"/>
                          </a:solidFill>
                          <a:latin typeface="Noto Sans"/>
                          <a:ea typeface="Noto Sans"/>
                          <a:cs typeface="Noto Sans"/>
                        </a:rPr>
                        <a:t>Receive each group into a compatible hall</a:t>
                      </a:r>
                    </a:p>
                  </a:txBody>
                  <a:tcPr marL="152400" marR="133350" marT="114300" marB="95250" anchor="ctr">
                    <a:solidFill>
                      <a:srgbClr val="12223A"/>
                    </a:solidFill>
                  </a:tcPr>
                </a:tc>
                <a:tc>
                  <a:txBody>
                    <a:bodyPr/>
                    <a:lstStyle/>
                    <a:p>
                      <a:r>
                        <a:rPr sz="1725" b="0">
                          <a:solidFill>
                            <a:srgbClr val="EEF4FA"/>
                          </a:solidFill>
                          <a:latin typeface="Noto Sans"/>
                          <a:ea typeface="Noto Sans"/>
                          <a:cs typeface="Noto Sans"/>
                        </a:rPr>
                        <a:t>Stock linked to the receipt</a:t>
                      </a:r>
                    </a:p>
                  </a:txBody>
                  <a:tcPr marL="152400" marR="133350" marT="114300" marB="95250" anchor="ctr">
                    <a:solidFill>
                      <a:srgbClr val="12223A"/>
                    </a:solidFill>
                  </a:tcPr>
                </a:tc>
              </a:tr>
              <a:tr h="619125">
                <a:tc>
                  <a:txBody>
                    <a:bodyPr/>
                    <a:lstStyle/>
                    <a:p>
                      <a:r>
                        <a:rPr sz="1725" b="0">
                          <a:solidFill>
                            <a:srgbClr val="EEF4FA"/>
                          </a:solidFill>
                          <a:latin typeface="Noto Sans"/>
                          <a:ea typeface="Noto Sans"/>
                          <a:cs typeface="Noto Sans"/>
                        </a:rPr>
                        <a:t>Transfer</a:t>
                      </a:r>
                    </a:p>
                  </a:txBody>
                  <a:tcPr marL="152400" marR="133350" marT="114300" marB="95250" anchor="ctr">
                    <a:solidFill>
                      <a:srgbClr val="0A1422"/>
                    </a:solidFill>
                  </a:tcPr>
                </a:tc>
                <a:tc>
                  <a:txBody>
                    <a:bodyPr/>
                    <a:lstStyle/>
                    <a:p>
                      <a:r>
                        <a:rPr sz="1725" b="0">
                          <a:solidFill>
                            <a:srgbClr val="EEF4FA"/>
                          </a:solidFill>
                          <a:latin typeface="Noto Sans"/>
                          <a:ea typeface="Noto Sans"/>
                          <a:cs typeface="Noto Sans"/>
                        </a:rPr>
                        <a:t>Request 5 from the group of 15</a:t>
                      </a:r>
                    </a:p>
                  </a:txBody>
                  <a:tcPr marL="152400" marR="133350" marT="114300" marB="95250" anchor="ctr">
                    <a:solidFill>
                      <a:srgbClr val="0A1422"/>
                    </a:solidFill>
                  </a:tcPr>
                </a:tc>
                <a:tc>
                  <a:txBody>
                    <a:bodyPr/>
                    <a:lstStyle/>
                    <a:p>
                      <a:r>
                        <a:rPr sz="1725" b="0">
                          <a:solidFill>
                            <a:srgbClr val="EEF4FA"/>
                          </a:solidFill>
                          <a:latin typeface="Noto Sans"/>
                          <a:ea typeface="Noto Sans"/>
                          <a:cs typeface="Noto Sans"/>
                        </a:rPr>
                        <a:t>Request and handover status</a:t>
                      </a:r>
                    </a:p>
                  </a:txBody>
                  <a:tcPr marL="152400" marR="133350" marT="114300" marB="95250" anchor="ctr">
                    <a:solidFill>
                      <a:srgbClr val="0A1422"/>
                    </a:solidFill>
                  </a:tcPr>
                </a:tc>
              </a:tr>
              <a:tr h="619125">
                <a:tc>
                  <a:txBody>
                    <a:bodyPr/>
                    <a:lstStyle/>
                    <a:p>
                      <a:r>
                        <a:rPr sz="1725" b="0">
                          <a:solidFill>
                            <a:srgbClr val="EEF4FA"/>
                          </a:solidFill>
                          <a:latin typeface="Noto Sans"/>
                          <a:ea typeface="Noto Sans"/>
                          <a:cs typeface="Noto Sans"/>
                        </a:rPr>
                        <a:t>Confirmation</a:t>
                      </a:r>
                    </a:p>
                  </a:txBody>
                  <a:tcPr marL="152400" marR="133350" marT="114300" marB="95250" anchor="ctr">
                    <a:solidFill>
                      <a:srgbClr val="12223A"/>
                    </a:solidFill>
                  </a:tcPr>
                </a:tc>
                <a:tc>
                  <a:txBody>
                    <a:bodyPr/>
                    <a:lstStyle/>
                    <a:p>
                      <a:r>
                        <a:rPr sz="1725" b="0">
                          <a:solidFill>
                            <a:srgbClr val="EEF4FA"/>
                          </a:solidFill>
                          <a:latin typeface="Noto Sans"/>
                          <a:ea typeface="Noto Sans"/>
                          <a:cs typeface="Noto Sans"/>
                        </a:rPr>
                        <a:t>Confirm receipt of those 5</a:t>
                      </a:r>
                    </a:p>
                  </a:txBody>
                  <a:tcPr marL="152400" marR="133350" marT="114300" marB="95250" anchor="ctr">
                    <a:solidFill>
                      <a:srgbClr val="12223A"/>
                    </a:solidFill>
                  </a:tcPr>
                </a:tc>
                <a:tc>
                  <a:txBody>
                    <a:bodyPr/>
                    <a:lstStyle/>
                    <a:p>
                      <a:r>
                        <a:rPr sz="1725" b="0">
                          <a:solidFill>
                            <a:srgbClr val="EEF4FA"/>
                          </a:solidFill>
                          <a:latin typeface="Noto Sans"/>
                          <a:ea typeface="Noto Sans"/>
                          <a:cs typeface="Noto Sans"/>
                        </a:rPr>
                        <a:t>22 in pre-storage, 5 in final storage</a:t>
                      </a:r>
                    </a:p>
                  </a:txBody>
                  <a:tcPr marL="152400" marR="133350" marT="114300" marB="95250" anchor="ctr">
                    <a:solidFill>
                      <a:srgbClr val="12223A"/>
                    </a:solidFill>
                  </a:tcPr>
                </a:tc>
              </a:tr>
            </a:tbl>
          </a:graphicData>
        </a:graphic>
      </p:graphicFrame>
      <p:sp>
        <p:nvSpPr>
          <p:cNvPr id="5" name="Illustrative scenario. Assumes empty starting stock and no other movem">
            <a:extLst xmlns:a="http://schemas.openxmlformats.org/drawingml/2006/main">
              <a:ext uri="{FF2B5EF4-FFF2-40B4-BE49-F238E27FC236}">
                <a16:creationId xmlns:a16="http://schemas.microsoft.com/office/drawing/2014/main" id="{DF45CB07-60B7-480C-BC03-8415E946ECAA}"/>
              </a:ext>
            </a:extLst>
          </p:cNvPr>
          <p:cNvSpPr>
            <a:spLocks xmlns:a="http://schemas.openxmlformats.org/drawingml/2006/main" noGrp="1"/>
          </p:cNvSpPr>
          <p:nvPr/>
        </p:nvSpPr>
        <p:spPr>
          <a:xfrm xmlns:a="http://schemas.openxmlformats.org/drawingml/2006/main">
            <a:off x="609600" y="5953125"/>
            <a:ext cx="109728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b="0">
                <a:solidFill>
                  <a:srgbClr val="B8C7D8"/>
                </a:solidFill>
                <a:latin typeface="Noto Sans"/>
                <a:ea typeface="Noto Sans"/>
                <a:cs typeface="Noto Sans"/>
              </a:defRPr>
            </a:pPr>
            <a:r>
              <a:rPr sz="1500" b="0">
                <a:solidFill>
                  <a:srgbClr val="B8C7D8"/>
                </a:solidFill>
                <a:latin typeface="Noto Sans"/>
                <a:ea typeface="Noto Sans"/>
                <a:cs typeface="Noto Sans"/>
              </a:rPr>
              <a:t>Illustrative scenario. Assumes empty starting stock and no other movements.</a:t>
            </a:r>
          </a:p>
        </p:txBody>
      </p:sp>
    </p:spTree>
    <p:extLst>
      <p:ext uri="{BB962C8B-B14F-4D97-AF65-F5344CB8AC3E}">
        <p14:creationId xmlns:p14="http://schemas.microsoft.com/office/powerpoint/2010/main" val="1230760061"/>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2026-09-24T19:39:38.8420000Z</dcterms:created>
  <dcterms:modified xsi:type="dcterms:W3CDTF">2026-09-24T19:39:38.8420000Z</dcterms:modified>
</coreProperties>
</file>