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a76e22b11f4fc7" /><Relationship Type="http://schemas.openxmlformats.org/officeDocument/2006/relationships/extended-properties" Target="/docProps/app.xml" Id="R97236cade43749e3" /><Relationship Type="http://schemas.openxmlformats.org/officeDocument/2006/relationships/officeDocument" Target="/ppt/presentation.xml" Id="R59f98df961ab4727" /></Relationships>
</file>

<file path=ppt/presentation.xml><?xml version="1.0" encoding="utf-8"?>
<p:presentation xmlns:p="http://schemas.openxmlformats.org/presentationml/2006/main">
  <p:sldMasterIdLst>
    <p:sldMasterId xmlns:r="http://schemas.openxmlformats.org/officeDocument/2006/relationships" id="2147483648" r:id="Ree7264b04db941da"/>
  </p:sldMasterIdLst>
  <p:notesMasterIdLst>
    <p:notesMasterId xmlns:r="http://schemas.openxmlformats.org/officeDocument/2006/relationships" r:id="Rac8705e8373e492c"/>
  </p:notesMasterIdLst>
  <p:sldIdLst>
    <p:sldId xmlns:r="http://schemas.openxmlformats.org/officeDocument/2006/relationships" id="256" r:id="R8d11ed35e6844d38"/>
    <p:sldId xmlns:r="http://schemas.openxmlformats.org/officeDocument/2006/relationships" id="257" r:id="R8b48321b992b44ae"/>
    <p:sldId xmlns:r="http://schemas.openxmlformats.org/officeDocument/2006/relationships" id="258" r:id="R1facbbe9293e4042"/>
    <p:sldId xmlns:r="http://schemas.openxmlformats.org/officeDocument/2006/relationships" id="259" r:id="Rd879ffbd7a4b44ef"/>
    <p:sldId xmlns:r="http://schemas.openxmlformats.org/officeDocument/2006/relationships" id="260" r:id="R0c0d62d2fc3d456b"/>
    <p:sldId xmlns:r="http://schemas.openxmlformats.org/officeDocument/2006/relationships" id="261" r:id="Rad456cb95c9d4e73"/>
    <p:sldId xmlns:r="http://schemas.openxmlformats.org/officeDocument/2006/relationships" id="262" r:id="R4d300f77cf144cf7"/>
    <p:sldId xmlns:r="http://schemas.openxmlformats.org/officeDocument/2006/relationships" id="263" r:id="R28de546a43c14102"/>
    <p:sldId xmlns:r="http://schemas.openxmlformats.org/officeDocument/2006/relationships" id="264" r:id="R5334088cdfe14c42"/>
    <p:sldId xmlns:r="http://schemas.openxmlformats.org/officeDocument/2006/relationships" id="265" r:id="Rb9bb6bd771614782"/>
    <p:sldId xmlns:r="http://schemas.openxmlformats.org/officeDocument/2006/relationships" id="266" r:id="R357170da788448d3"/>
    <p:sldId xmlns:r="http://schemas.openxmlformats.org/officeDocument/2006/relationships" id="267" r:id="R22a03b45ecaf4dce"/>
    <p:sldId xmlns:r="http://schemas.openxmlformats.org/officeDocument/2006/relationships" id="268" r:id="R45e2fd68b1e147a7"/>
    <p:sldId xmlns:r="http://schemas.openxmlformats.org/officeDocument/2006/relationships" id="269" r:id="R6ce69bbfeca941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25cff7b51045aa" /><Relationship Type="http://schemas.openxmlformats.org/officeDocument/2006/relationships/slideMaster" Target="/ppt/slideMasters/slideMaster1.xml" Id="Ree7264b04db941da" /><Relationship Type="http://schemas.openxmlformats.org/officeDocument/2006/relationships/notesMaster" Target="/ppt/notesMasters/notesMaster1.xml" Id="Rac8705e8373e492c" /><Relationship Type="http://schemas.openxmlformats.org/officeDocument/2006/relationships/presProps" Target="/ppt/presProps.xml" Id="R40ce56cd0ea64e8a" /><Relationship Type="http://schemas.openxmlformats.org/officeDocument/2006/relationships/tableStyles" Target="/ppt/tableStyles.xml" Id="Rd527826742f14d1b" /><Relationship Type="http://schemas.openxmlformats.org/officeDocument/2006/relationships/slide" Target="/ppt/slides/slide1.xml" Id="R8d11ed35e6844d38" /><Relationship Type="http://schemas.openxmlformats.org/officeDocument/2006/relationships/slide" Target="/ppt/slides/slide2.xml" Id="R8b48321b992b44ae" /><Relationship Type="http://schemas.openxmlformats.org/officeDocument/2006/relationships/slide" Target="/ppt/slides/slide3.xml" Id="R1facbbe9293e4042" /><Relationship Type="http://schemas.openxmlformats.org/officeDocument/2006/relationships/slide" Target="/ppt/slides/slide4.xml" Id="Rd879ffbd7a4b44ef" /><Relationship Type="http://schemas.openxmlformats.org/officeDocument/2006/relationships/slide" Target="/ppt/slides/slide5.xml" Id="R0c0d62d2fc3d456b" /><Relationship Type="http://schemas.openxmlformats.org/officeDocument/2006/relationships/slide" Target="/ppt/slides/slide6.xml" Id="Rad456cb95c9d4e73" /><Relationship Type="http://schemas.openxmlformats.org/officeDocument/2006/relationships/slide" Target="/ppt/slides/slide7.xml" Id="R4d300f77cf144cf7" /><Relationship Type="http://schemas.openxmlformats.org/officeDocument/2006/relationships/slide" Target="/ppt/slides/slide8.xml" Id="R28de546a43c14102" /><Relationship Type="http://schemas.openxmlformats.org/officeDocument/2006/relationships/slide" Target="/ppt/slides/slide9.xml" Id="R5334088cdfe14c42" /><Relationship Type="http://schemas.openxmlformats.org/officeDocument/2006/relationships/slide" Target="/ppt/slides/slide10.xml" Id="Rb9bb6bd771614782" /><Relationship Type="http://schemas.openxmlformats.org/officeDocument/2006/relationships/slide" Target="/ppt/slides/slide11.xml" Id="R357170da788448d3" /><Relationship Type="http://schemas.openxmlformats.org/officeDocument/2006/relationships/slide" Target="/ppt/slides/slide12.xml" Id="R22a03b45ecaf4dce" /><Relationship Type="http://schemas.openxmlformats.org/officeDocument/2006/relationships/slide" Target="/ppt/slides/slide13.xml" Id="R45e2fd68b1e147a7" /><Relationship Type="http://schemas.openxmlformats.org/officeDocument/2006/relationships/slide" Target="/ppt/slides/slide14.xml" Id="R6ce69bbfeca941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0994552a8e45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174da428c94976" /><Relationship Type="http://schemas.openxmlformats.org/officeDocument/2006/relationships/notesMaster" Target="/ppt/notesMasters/notesMaster1.xml" Id="Rb67a02f6431449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9ef80879f744a7" /><Relationship Type="http://schemas.openxmlformats.org/officeDocument/2006/relationships/notesMaster" Target="/ppt/notesMasters/notesMaster1.xml" Id="R302de95146354e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f3ea57651b45cd" /><Relationship Type="http://schemas.openxmlformats.org/officeDocument/2006/relationships/notesMaster" Target="/ppt/notesMasters/notesMaster1.xml" Id="Rf84ccb265d0e45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90e22e0d6748d9" /><Relationship Type="http://schemas.openxmlformats.org/officeDocument/2006/relationships/notesMaster" Target="/ppt/notesMasters/notesMaster1.xml" Id="R577c443fcf5d4b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814c450dee466c" /><Relationship Type="http://schemas.openxmlformats.org/officeDocument/2006/relationships/notesMaster" Target="/ppt/notesMasters/notesMaster1.xml" Id="R6c33d0bd0b2f4c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59a1a11a4648d0" /><Relationship Type="http://schemas.openxmlformats.org/officeDocument/2006/relationships/notesMaster" Target="/ppt/notesMasters/notesMaster1.xml" Id="R1e30fed56aad40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59aa9ec0b54324" /><Relationship Type="http://schemas.openxmlformats.org/officeDocument/2006/relationships/notesMaster" Target="/ppt/notesMasters/notesMaster1.xml" Id="Rbbe0e18fad6b42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492373fc8c47be" /><Relationship Type="http://schemas.openxmlformats.org/officeDocument/2006/relationships/notesMaster" Target="/ppt/notesMasters/notesMaster1.xml" Id="Rbf73d2bd6e9643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85e4e1163f49e5" /><Relationship Type="http://schemas.openxmlformats.org/officeDocument/2006/relationships/notesMaster" Target="/ppt/notesMasters/notesMaster1.xml" Id="Ra03f06c16892462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6bf3e38d514dd4" /><Relationship Type="http://schemas.openxmlformats.org/officeDocument/2006/relationships/notesMaster" Target="/ppt/notesMasters/notesMaster1.xml" Id="R8b709ee73a194e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7e8987b97048b5" /><Relationship Type="http://schemas.openxmlformats.org/officeDocument/2006/relationships/notesMaster" Target="/ppt/notesMasters/notesMaster1.xml" Id="R914a7c44791341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7eeee275d664bf6" /><Relationship Type="http://schemas.openxmlformats.org/officeDocument/2006/relationships/notesMaster" Target="/ppt/notesMasters/notesMaster1.xml" Id="Rafeb022101204b4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e72ed8455645cf" /><Relationship Type="http://schemas.openxmlformats.org/officeDocument/2006/relationships/notesMaster" Target="/ppt/notesMasters/notesMaster1.xml" Id="Re342bc6e0bbb43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db13ce5dda54954" /><Relationship Type="http://schemas.openxmlformats.org/officeDocument/2006/relationships/notesMaster" Target="/ppt/notesMasters/notesMaster1.xml" Id="R3ea499b19e5f40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NWTS verbindet Sendungsdaten mit den Abläufen im Zwischen- und Endlager. Diese Präsentation stellt den aktuellen Softwareprototyp und einen möglichen Pilotansatz vor. Das Titelbild ist eine konzeptionelle Illustration. Es zeigt weder eine reale Anlage noch technische Behälterspezifikationen.</a:t>
            </a:r>
          </a:p>
          <a:p xmlns:a="http://schemas.openxmlformats.org/drawingml/2006/main">
            <a:r>
              <a:t/>
            </a:r>
          </a:p>
          <a:p xmlns:a="http://schemas.openxmlformats.org/drawingml/2006/main">
            <a:r>
              <a:t>Projektgrundlage, 24. September 2026. Titelillustration: OpenAI ImageGen. Konzeptionelle Darstellung.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Beginnen Sie mit den betrieblichen Fragen, bevor Sie einzelne Funktionen zeigen. NWTS führt Datensätze aus drei Arbeitsbereichen innerhalb einer Organisation zusammen. Mitarbeitende arbeiten in ihrem zugewiesenen Bereich. Aufsicht und Administration können alle drei Bereiche überblicken. Der angestrebte Nutzen liegt in einer einfacheren Abstimmung und einem besseren Überblick über offene Aufgaben. Messbare Zeit- oder Kosteneinsparungen werden nicht behauptet. Fragen Sie, welche dieser Informationen heute am schwersten verfügbar ist.</a:t>
            </a:r>
          </a:p>
          <a:p xmlns:a="http://schemas.openxmlformats.org/drawingml/2006/main">
            <a:r>
              <a:t/>
            </a:r>
          </a:p>
          <a:p xmlns:a="http://schemas.openxmlformats.org/drawingml/2006/main">
            <a:r>
              <a:t>Projektgrundlage, 24. September 2026. NWTS-Projekt: README.md; lib/workspaces.cjs; prisma/schema.prisma; lib/server/. Anwendungsbilder: lokale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Erläutern Sie die drei Arbeitsbereiche nacheinander. Schritt 1 erfasst den LKW und seine Ladung. Schritt 2 dokumentiert die Annahme in einer Halle und bearbeitet die Übergabe aus dem Zwischenlager. Schritt 3 fordert einen Transfer an und bestätigt die Annahme. Die LKW-Abfahrt ist ein eigenes Ereignis: OUT bedeutet, dass der LKW die Entladezone verlassen hat. Daraus folgt keine bestätigte Endlagerung. Das Anwendungsbild zeigt den Prozessüberblick mit Demonstrationswerten.</a:t>
            </a:r>
          </a:p>
          <a:p xmlns:a="http://schemas.openxmlformats.org/drawingml/2006/main">
            <a:r>
              <a:t/>
            </a:r>
          </a:p>
          <a:p xmlns:a="http://schemas.openxmlformats.org/drawingml/2006/main">
            <a:r>
              <a:t>Projektgrundlage, 24. September 2026. NWTS-Projekt: README.md; lib/workspaces.cjs; prisma/schema.prisma; lib/server/. Anwendungsbilder: lokale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Nutzen Sie die Beispielsendung mit 27 Containern. Ein Mitarbeiter im Bereich Sendungen erfasst Ankunft und LKW-Daten. Aufsicht oder Administration legt die Containerprofile anhand vorhandener Stammdaten an. Ein Profil fasst mehrere Container mit gemeinsamen Merkmalen zusammen. Es ist kein Seriennachweis für jeden einzelnen physischen Container. Nach der Abfahrt darf nur die Administration die zulässigen Sendungskorrekturen durchführen. Die Erfassung der Ladung bestätigt noch keine physische Annahme.</a:t>
            </a:r>
          </a:p>
          <a:p xmlns:a="http://schemas.openxmlformats.org/drawingml/2006/main">
            <a:r>
              <a:t/>
            </a:r>
          </a:p>
          <a:p xmlns:a="http://schemas.openxmlformats.org/drawingml/2006/main">
            <a:r>
              <a:t>Projektgrundlage, 24. September 2026. NWTS-Projekt: README.md; lib/workspaces.cjs; prisma/schema.prisma; lib/server/. Anwendungsbilder: lokale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Zeigen Sie die Hallenübersicht und öffnen Sie anschließend eine Halle. Unterscheiden Sie zwischen der Ankunft auf dem Gelände und der Annahme im Lager. Verknüpfte Annahmedatensätze verbinden Containerprofile mit einer Halle. Für Transfers nutzt die Anwendung erfasste Quellen und Mengen. Kapazitätswerte beruhen auf konfigurierter Grundfläche und Containerstellfläche. Sie sind Planungshinweise und kein validierter Belegungsplan. Die gezeigten Zähler gehören zum aktuellen Demodatensatz und nicht zum vollständig durchgespielten Beispielszenario.</a:t>
            </a:r>
          </a:p>
          <a:p xmlns:a="http://schemas.openxmlformats.org/drawingml/2006/main">
            <a:r>
              <a:t/>
            </a:r>
          </a:p>
          <a:p xmlns:a="http://schemas.openxmlformats.org/drawingml/2006/main">
            <a:r>
              <a:t>Projektgrundlage, 24. September 2026. NWTS-Projekt: README.md; lib/workspaces.cjs; prisma/schema.prisma; lib/server/. Anwendungsbilder: lokale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Erklären Sie die Richtung des Transfers. Der Bereich Endlager erstellt die Anfrage, das Zwischenlager antwortet, anschließend bestätigt das Endlager die Annahme. Die Software prüft zulässige Statuswechsel und erfasste Mengen. Dieser Ablauf dokumentiert den Endlagerprozess in der Anwendung. Er bescheinigt weder die physische Einlagerung noch die Erfüllung standortspezifischer Annahmebedingungen. Nutzen Sie in einer Live-Demonstration kompatible Demostammdaten und eine kleine Menge aus einer verknüpften Annahme.</a:t>
            </a:r>
          </a:p>
          <a:p xmlns:a="http://schemas.openxmlformats.org/drawingml/2006/main">
            <a:r>
              <a:t/>
            </a:r>
          </a:p>
          <a:p xmlns:a="http://schemas.openxmlformats.org/drawingml/2006/main">
            <a:r>
              <a:t>Projektgrundlage, 24. September 2026. NWTS-Projekt: README.md; lib/workspaces.cjs; prisma/schema.prisma; lib/server/. Anwendungsbilder: lokale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Benutzer erfasst einen Messwert. Die Anwendung vergleicht ihn mit den konfigurierten Bereichen. Alarme können Quittierung, Notizen, Rückkehr in den Sollbereich und Abschluss dokumentieren. Kritische Alarme dürfen nur Aufsicht oder Administration unter den vorgesehenen Bedingungen schließen. Regelversionen enthalten einen Freigabeverweis. Standardwerte der Demo sind keine betrieblichen Grenzwerte. Eskalationen werden bei Nutzung der Anwendung ausgewertet. Ein dauerhaft laufender Benachrichtigungsdienst und eine Sensoranbindung gehören nicht zur aktuellen Implementierung.</a:t>
            </a:r>
          </a:p>
          <a:p xmlns:a="http://schemas.openxmlformats.org/drawingml/2006/main">
            <a:r>
              <a:t/>
            </a:r>
          </a:p>
          <a:p xmlns:a="http://schemas.openxmlformats.org/drawingml/2006/main">
            <a:r>
              <a:t>Projektgrundlage, 24. September 2026. NWTS-Projekt: README.md; lib/workspaces.cjs; prisma/schema.prisma; lib/server/. Anwendungsbilder: lokale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Unterscheiden Sie Rolle und Arbeitsbereich. Ein Mitarbeiter ist den Sendungen, dem Zwischenlager oder dem Endlager zugeordnet. Aufsicht und Administration können alle drei Bereiche aufrufen, haben aber unterschiedliche Änderungsrechte. Die Aufsicht erstellt Mitarbeiterkonten und Containerprofile. Die Administration verwaltet Stammdaten und bestehende Konten und verfügt über zusätzliche Korrekturrechte. Verantwortliche Personen einer Halle oder eines Raums sind betriebliche Datensätze und nicht automatisch Anmeldekonten. Eine ausführlichere Rechteübersicht folgt im Anhang.</a:t>
            </a:r>
          </a:p>
          <a:p xmlns:a="http://schemas.openxmlformats.org/drawingml/2006/main">
            <a:r>
              <a:t/>
            </a:r>
          </a:p>
          <a:p xmlns:a="http://schemas.openxmlformats.org/drawingml/2006/main">
            <a:r>
              <a:t>Projektgrundlage, 24. September 2026. NWTS-Projekt: README.md; lib/workspaces.cjs; prisma/schema.prisma; lib/server/. Anwendungsbilder: lokale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Stellen Sie die Software als funktionsfähigen Prototyp vor. Der aktuelle Projektstand enthält zusätzlich zum älteren Konzept Bestandsprüfungen, Korrekturberichte, verknüpfte Annahmen, Transferquellen und Alarmereignisse. Diese Datensätze verbessern die Übersicht, belegen aber keinen vollständigen und unabhängig validierten Prüfpfad für jeden historischen oder physischen Container. Integrationen und Standortvalidierung benötigen einen eigenen Umfang. Behaupten Sie keine Zertifizierung, garantierte Sicherheit oder Produktionsreife. Klären Sie, welche offenen Punkte für den Partner entscheidend sind.</a:t>
            </a:r>
          </a:p>
          <a:p xmlns:a="http://schemas.openxmlformats.org/drawingml/2006/main">
            <a:r>
              <a:t/>
            </a:r>
          </a:p>
          <a:p xmlns:a="http://schemas.openxmlformats.org/drawingml/2006/main">
            <a:r>
              <a:t>Projektgrundlage, 24. September 2026. NWTS-Projekt: README.md; lib/workspaces.cjs; prisma/schema.prisma; lib/server/. Anwendungsbilder: lokale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Schlagen Sie einen begrenzten Pilotversuch vor. Der Partner benennt eine betrieblich verantwortliche Person und beschreibt einen typischen Ablauf. Vereinbaren Sie vorab Erfolgskriterien: Datensätze sind auffindbar, Mengen stimmen überein, berechtigte Personen können handeln und Ausnahmen bleiben sichtbar. Bereitstellung, Integrationen, Preise und Projektdauer benötigen eine gesonderte Vereinbarung. Technische Partner interessieren sich möglicherweise stärker für Schnittstellen, spätere Nutzer eher für den Arbeitsalltag.</a:t>
            </a:r>
          </a:p>
          <a:p xmlns:a="http://schemas.openxmlformats.org/drawingml/2006/main">
            <a:r>
              <a:t/>
            </a:r>
          </a:p>
          <a:p xmlns:a="http://schemas.openxmlformats.org/drawingml/2006/main">
            <a:r>
              <a:t>Projektgrundlage, 24. September 2026. Vorschlag für einen Pilotversuch.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Übersicht beschreibt die aktuelle Software und keine vertraglich zugesicherten Leistungen. Ein Datensatz kann mehrere Container mit gemeinsamen Merkmalen umfassen. Neuere Annahme- und Transferverknüpfungen ermöglichen die Zuordnung zur Quelle. Älteren Daten können solche Verknüpfungen fehlen. Die Anwendung weist auf diese Grenzen hin. Die Sendungsaktivität zeigt ausgewählte Ereignistypen mit begrenzten Ergebnislisten. Sie ist kein universelles unveränderbares Auditprotokoll. Verbindliche Abnahmekriterien werden für den Pilot vereinbart.</a:t>
            </a:r>
          </a:p>
          <a:p xmlns:a="http://schemas.openxmlformats.org/drawingml/2006/main">
            <a:r>
              <a:t/>
            </a:r>
          </a:p>
          <a:p xmlns:a="http://schemas.openxmlformats.org/drawingml/2006/main">
            <a:r>
              <a:t>Projektgrundlage, 24. September 2026. NWTS-Projekt: README.md; lib/workspaces.cjs; prisma/schema.prisma; lib/server/. Anwendungsbilder: lokale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Vertiefen Sie nur die für das Publikum relevanten Funktionen. Der Bestandsabgleich vergleicht eine erfasste Zählung mit der Systemmenge und ermöglicht einen Korrekturbericht durch die Administration. Er bestätigt nicht die physische Zählung. Eine unterstützte Altverknüpfung dokumentiert eine bewusste Zuordnungsentscheidung und errät keine Herkunft. Statistiken beschreiben erfasste Bewegungen und Mengen. Die Kapazität beruht auf konfigurierter Fläche und Stellfläche. Die Oberflächensprache übersetzt keine frei eingegebenen Namen und nicht jede historische Freitextnotiz.</a:t>
            </a:r>
          </a:p>
          <a:p xmlns:a="http://schemas.openxmlformats.org/drawingml/2006/main">
            <a:r>
              <a:t/>
            </a:r>
          </a:p>
          <a:p xmlns:a="http://schemas.openxmlformats.org/drawingml/2006/main">
            <a:r>
              <a:t>Projektgrundlage, 24. September 2026. NWTS-Projekt: README.md; lib/workspaces.cjs; prisma/schema.prisma; lib/server/. Anwendungsbilder: lokale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Nutzen Sie diese Tabelle für vertiefende Zugriffsfragen nach dem Hauptteil. Alle Rechte gelten innerhalb der eigenen Organisation. Der Zugang zu einem Arbeitsbereich erlaubt nicht jede Aktion. Angenommene Profile, aktive Transfers und weitere Datensatzbedingungen können Änderungen einschränken. Mitarbeitende erfassen Messwerte in ihrem Bereich. Kritische Alarme dürfen nur Aufsicht oder Administration unter den geltenden Abschlussbedingungen schließen. Das derzeitige Mitarbeitermodell weist einen Arbeitsbereich zu, keine mehreren zeitweisen Vertretungsbereiche.</a:t>
            </a:r>
          </a:p>
          <a:p xmlns:a="http://schemas.openxmlformats.org/drawingml/2006/main">
            <a:r>
              <a:t/>
            </a:r>
          </a:p>
          <a:p xmlns:a="http://schemas.openxmlformats.org/drawingml/2006/main">
            <a:r>
              <a:t>Projektgrundlage, 24. September 2026. NWTS-Projekt: README.md; lib/workspaces.cjs; prisma/schema.prisma; lib/server/. Anwendungsbilder: lokale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Bereiten Sie die Demonstration vor dem Termin vor. Nutzen Sie eigene Teststandorte mit kompatiblen Stammdaten, ausreichender konfigurierter Kapazität und verantwortlichen Personen. Bereiten Sie fünf Demokonten vor: Administrator, Aufsicht und je einen Mitarbeiter pro Schritt. Legen Sie eine neue Sendung an, statt bestehende Beispiele zu verändern. Nehmen Sie alle 27 Container an und transferieren Sie danach 5 aus der ersten Gruppe. Bei leerem Anfangsbestand verbleiben 22 im Zwischenlager und 5 im Endlager. Die Anwendungsbilder zeigen den bestehenden Demodatensatz und behaupten keinen abgeschlossenen Durchlauf dieses Szenarios.</a:t>
            </a:r>
          </a:p>
          <a:p xmlns:a="http://schemas.openxmlformats.org/drawingml/2006/main">
            <a:r>
              <a:t/>
            </a:r>
          </a:p>
          <a:p xmlns:a="http://schemas.openxmlformats.org/drawingml/2006/main">
            <a:r>
              <a:t>Projektgrundlage, 24. September 2026. Nuclear Waste Tracking System - Concept doc.pdf. Beispielrechnung: 15 + 12 = 27; 27 - 5 =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a3229b1af64d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a76a7175c64dc2" /><Relationship Type="http://schemas.openxmlformats.org/officeDocument/2006/relationships/slideLayout" Target="/ppt/slideLayouts/slideLayout1.xml" Id="R763e3106e54947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3e3106e54947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5492111b09340a9" /><Relationship Type="http://schemas.openxmlformats.org/officeDocument/2006/relationships/image" Target="/ppt/media/image.png" Id="R185d3ccebdd64caa" /><Relationship Type="http://schemas.openxmlformats.org/officeDocument/2006/relationships/notesSlide" Target="/ppt/notesSlides/notesSlide1.xml" Id="Rdc48e5db96764c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1acd50aadc4192" /><Relationship Type="http://schemas.openxmlformats.org/officeDocument/2006/relationships/notesSlide" Target="/ppt/notesSlides/notesSlide2.xml" Id="R86f79ceae48b42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79ed8906b54778" /><Relationship Type="http://schemas.openxmlformats.org/officeDocument/2006/relationships/image" Target="/ppt/media/image.jpeg" Id="R49b8f3ff6e1f448f" /><Relationship Type="http://schemas.openxmlformats.org/officeDocument/2006/relationships/notesSlide" Target="/ppt/notesSlides/notesSlide3.xml" Id="Rf133c7c7469d4f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dbe437180f74888" /><Relationship Type="http://schemas.openxmlformats.org/officeDocument/2006/relationships/image" Target="/ppt/media/image2.jpeg" Id="R725b2cfb7225494e" /><Relationship Type="http://schemas.openxmlformats.org/officeDocument/2006/relationships/notesSlide" Target="/ppt/notesSlides/notesSlide4.xml" Id="Rc3a0f0f734e44b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0fd777f12d4751" /><Relationship Type="http://schemas.openxmlformats.org/officeDocument/2006/relationships/image" Target="/ppt/media/image3.jpeg" Id="Raa7c06bf94d34702" /><Relationship Type="http://schemas.openxmlformats.org/officeDocument/2006/relationships/notesSlide" Target="/ppt/notesSlides/notesSlide5.xml" Id="R639672a89e644b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a3a9efb3e6f413d" /><Relationship Type="http://schemas.openxmlformats.org/officeDocument/2006/relationships/image" Target="/ppt/media/image4.jpeg" Id="Rd03fb3ad5caf473a" /><Relationship Type="http://schemas.openxmlformats.org/officeDocument/2006/relationships/notesSlide" Target="/ppt/notesSlides/notesSlide6.xml" Id="R2144590c03504d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3c251309daa49e6" /><Relationship Type="http://schemas.openxmlformats.org/officeDocument/2006/relationships/image" Target="/ppt/media/image5.jpeg" Id="Rdd78a20758b14901" /><Relationship Type="http://schemas.openxmlformats.org/officeDocument/2006/relationships/notesSlide" Target="/ppt/notesSlides/notesSlide7.xml" Id="Rcb5b353b04634e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d3ebcaf056046d3" /><Relationship Type="http://schemas.openxmlformats.org/officeDocument/2006/relationships/notesSlide" Target="/ppt/notesSlides/notesSlide8.xml" Id="R8d09d3bc7738427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aeeb274222645b0" /><Relationship Type="http://schemas.openxmlformats.org/officeDocument/2006/relationships/notesSlide" Target="/ppt/notesSlides/notesSlide9.xml" Id="R9841e86bf54546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dbd2d8a11d24f14" /><Relationship Type="http://schemas.openxmlformats.org/officeDocument/2006/relationships/notesSlide" Target="/ppt/notesSlides/notesSlide10.xml" Id="Rd12f811bc9fe4c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82d8cf81d9a48c4" /><Relationship Type="http://schemas.openxmlformats.org/officeDocument/2006/relationships/notesSlide" Target="/ppt/notesSlides/notesSlide11.xml" Id="R03bbd37d34ce44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d84faf16b7b4bf8" /><Relationship Type="http://schemas.openxmlformats.org/officeDocument/2006/relationships/notesSlide" Target="/ppt/notesSlides/notesSlide12.xml" Id="Raf437b6a0f7e448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caf8cc5105c44db" /><Relationship Type="http://schemas.openxmlformats.org/officeDocument/2006/relationships/notesSlide" Target="/ppt/notesSlides/notesSlide13.xml" Id="R865941a3e82a443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fb0c1e4e8484070" /><Relationship Type="http://schemas.openxmlformats.org/officeDocument/2006/relationships/notesSlide" Target="/ppt/notesSlides/notesSlide14.xml" Id="R429704118c2c4672" /></Relationships>
</file>

<file path=ppt/slides/slide1.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85d3ccebdd64caa"/>
          <a:stretch xmlns:a="http://schemas.openxmlformats.org/drawingml/2006/main"/>
        </p:blipFill>
        <p:spPr>
          <a:xfrm xmlns:a="http://schemas.openxmlformats.org/drawingml/2006/main">
            <a:off x="5905500" y="1447800"/>
            <a:ext cx="5829300" cy="3886200"/>
          </a:xfrm>
          <a:prstGeom xmlns:a="http://schemas.openxmlformats.org/drawingml/2006/main" prst="rect">
            <a:avLst/>
          </a:prstGeom>
        </p:spPr>
      </p:pic>
      <p:sp>
        <p:nvSpPr>
          <p:cNvPr id="2" name="NWTS">
            <a:extLst xmlns:a="http://schemas.openxmlformats.org/drawingml/2006/main">
              <a:ext uri="{FF2B5EF4-FFF2-40B4-BE49-F238E27FC236}">
                <a16:creationId xmlns:a16="http://schemas.microsoft.com/office/drawing/2014/main" id="{37096DC0-3E61-4818-8CDD-940D2DC5A8DA}"/>
              </a:ext>
            </a:extLst>
          </p:cNvPr>
          <p:cNvSpPr>
            <a:spLocks xmlns:a="http://schemas.openxmlformats.org/drawingml/2006/main" noGrp="1"/>
          </p:cNvSpPr>
          <p:nvPr/>
        </p:nvSpPr>
        <p:spPr>
          <a:xfrm xmlns:a="http://schemas.openxmlformats.org/drawingml/2006/main">
            <a:off x="609600" y="6286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BB8F2"/>
                </a:solidFill>
                <a:latin typeface="Noto Sans"/>
                <a:ea typeface="Noto Sans"/>
                <a:cs typeface="Noto Sans"/>
              </a:defRPr>
            </a:pPr>
            <a:r>
              <a:rPr sz="1875" b="1">
                <a:solidFill>
                  <a:srgbClr val="2BB8F2"/>
                </a:solidFill>
                <a:latin typeface="Noto Sans"/>
                <a:ea typeface="Noto Sans"/>
                <a:cs typeface="Noto Sans"/>
              </a:rPr>
              <a:t>NWTS</a:t>
            </a:r>
          </a:p>
        </p:txBody>
      </p:sp>
      <p:sp>
        <p:nvSpPr>
          <p:cNvPr id="3" name="Nuclear Waste Tracking System">
            <a:extLst xmlns:a="http://schemas.openxmlformats.org/drawingml/2006/main">
              <a:ext uri="{FF2B5EF4-FFF2-40B4-BE49-F238E27FC236}">
                <a16:creationId xmlns:a16="http://schemas.microsoft.com/office/drawing/2014/main" id="{D4F1DCA8-6047-49E8-933B-E873A530C162}"/>
              </a:ext>
            </a:extLst>
          </p:cNvPr>
          <p:cNvSpPr>
            <a:spLocks xmlns:a="http://schemas.openxmlformats.org/drawingml/2006/main" noGrp="1"/>
          </p:cNvSpPr>
          <p:nvPr/>
        </p:nvSpPr>
        <p:spPr>
          <a:xfrm xmlns:a="http://schemas.openxmlformats.org/drawingml/2006/main">
            <a:off x="609600" y="1733550"/>
            <a:ext cx="5286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EEF4FA"/>
                </a:solidFill>
                <a:latin typeface="Noto Sans"/>
                <a:ea typeface="Noto Sans"/>
                <a:cs typeface="Noto Sans"/>
              </a:defRPr>
            </a:pPr>
            <a:r>
              <a:rPr sz="4200" b="1">
                <a:solidFill>
                  <a:srgbClr val="EEF4FA"/>
                </a:solidFill>
                <a:latin typeface="Noto Sans"/>
                <a:ea typeface="Noto Sans"/>
                <a:cs typeface="Noto Sans"/>
              </a:rPr>
              <a:t>Nuclear Waste</a:t>
            </a:r>
          </a:p>
          <a:p xmlns:a="http://schemas.openxmlformats.org/drawingml/2006/main">
            <a:pPr>
              <a:defRPr sz="4200" b="1">
                <a:solidFill>
                  <a:srgbClr val="EEF4FA"/>
                </a:solidFill>
                <a:latin typeface="Noto Sans"/>
                <a:ea typeface="Noto Sans"/>
                <a:cs typeface="Noto Sans"/>
              </a:defRPr>
            </a:pPr>
            <a:r>
              <a:rPr sz="4200" b="1">
                <a:solidFill>
                  <a:srgbClr val="EEF4FA"/>
                </a:solidFill>
                <a:latin typeface="Noto Sans"/>
                <a:ea typeface="Noto Sans"/>
                <a:cs typeface="Noto Sans"/>
              </a:rPr>
              <a:t>Tracking System</a:t>
            </a:r>
          </a:p>
        </p:txBody>
      </p:sp>
      <p:sp>
        <p:nvSpPr>
          <p:cNvPr id="4" name="Sendungs- und Lagerdokumentation für radioaktive Abfälle">
            <a:extLst xmlns:a="http://schemas.openxmlformats.org/drawingml/2006/main">
              <a:ext uri="{FF2B5EF4-FFF2-40B4-BE49-F238E27FC236}">
                <a16:creationId xmlns:a16="http://schemas.microsoft.com/office/drawing/2014/main" id="{26DA96C8-C011-4C42-9C4F-C0A0F417694F}"/>
              </a:ext>
            </a:extLst>
          </p:cNvPr>
          <p:cNvSpPr>
            <a:spLocks xmlns:a="http://schemas.openxmlformats.org/drawingml/2006/main" noGrp="1"/>
          </p:cNvSpPr>
          <p:nvPr/>
        </p:nvSpPr>
        <p:spPr>
          <a:xfrm xmlns:a="http://schemas.openxmlformats.org/drawingml/2006/main">
            <a:off x="609600" y="3590925"/>
            <a:ext cx="5095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B8C7D8"/>
                </a:solidFill>
                <a:latin typeface="Noto Sans"/>
                <a:ea typeface="Noto Sans"/>
                <a:cs typeface="Noto Sans"/>
              </a:defRPr>
            </a:pPr>
            <a:r>
              <a:rPr sz="2175" b="0">
                <a:solidFill>
                  <a:srgbClr val="B8C7D8"/>
                </a:solidFill>
                <a:latin typeface="Noto Sans"/>
                <a:ea typeface="Noto Sans"/>
                <a:cs typeface="Noto Sans"/>
              </a:rPr>
              <a:t>Sendungs- und Lagerdokumentation</a:t>
            </a:r>
          </a:p>
          <a:p xmlns:a="http://schemas.openxmlformats.org/drawingml/2006/main">
            <a:pPr>
              <a:defRPr sz="2175" b="0">
                <a:solidFill>
                  <a:srgbClr val="B8C7D8"/>
                </a:solidFill>
                <a:latin typeface="Noto Sans"/>
                <a:ea typeface="Noto Sans"/>
                <a:cs typeface="Noto Sans"/>
              </a:defRPr>
            </a:pPr>
            <a:r>
              <a:rPr sz="2175" b="0">
                <a:solidFill>
                  <a:srgbClr val="B8C7D8"/>
                </a:solidFill>
                <a:latin typeface="Noto Sans"/>
                <a:ea typeface="Noto Sans"/>
                <a:cs typeface="Noto Sans"/>
              </a:rPr>
              <a:t>für radioaktive Abfälle</a:t>
            </a:r>
          </a:p>
        </p:txBody>
      </p:sp>
      <p:sp>
        <p:nvSpPr>
          <p:cNvPr id="5" name="Produktübersicht September 2026">
            <a:extLst xmlns:a="http://schemas.openxmlformats.org/drawingml/2006/main">
              <a:ext uri="{FF2B5EF4-FFF2-40B4-BE49-F238E27FC236}">
                <a16:creationId xmlns:a16="http://schemas.microsoft.com/office/drawing/2014/main" id="{72892B33-4673-4C68-B0A7-FF69C63F06C8}"/>
              </a:ext>
            </a:extLst>
          </p:cNvPr>
          <p:cNvSpPr>
            <a:spLocks xmlns:a="http://schemas.openxmlformats.org/drawingml/2006/main" noGrp="1"/>
          </p:cNvSpPr>
          <p:nvPr/>
        </p:nvSpPr>
        <p:spPr>
          <a:xfrm xmlns:a="http://schemas.openxmlformats.org/drawingml/2006/main">
            <a:off x="609600" y="5514975"/>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B8C7D8"/>
                </a:solidFill>
                <a:latin typeface="Noto Sans"/>
                <a:ea typeface="Noto Sans"/>
                <a:cs typeface="Noto Sans"/>
              </a:defRPr>
            </a:pPr>
            <a:r>
              <a:rPr sz="1500" b="0">
                <a:solidFill>
                  <a:srgbClr val="B8C7D8"/>
                </a:solidFill>
                <a:latin typeface="Noto Sans"/>
                <a:ea typeface="Noto Sans"/>
                <a:cs typeface="Noto Sans"/>
              </a:rPr>
              <a:t>Produktübersicht</a:t>
            </a:r>
          </a:p>
          <a:p xmlns:a="http://schemas.openxmlformats.org/drawingml/2006/main">
            <a:pPr>
              <a:defRPr sz="1500" b="0">
                <a:solidFill>
                  <a:srgbClr val="B8C7D8"/>
                </a:solidFill>
                <a:latin typeface="Noto Sans"/>
                <a:ea typeface="Noto Sans"/>
                <a:cs typeface="Noto Sans"/>
              </a:defRPr>
            </a:pPr>
            <a:r>
              <a:rPr sz="1500" b="0">
                <a:solidFill>
                  <a:srgbClr val="B8C7D8"/>
                </a:solidFill>
                <a:latin typeface="Noto Sans"/>
                <a:ea typeface="Noto Sans"/>
                <a:cs typeface="Noto Sans"/>
              </a:rPr>
              <a:t>September 2026</a:t>
            </a:r>
          </a:p>
        </p:txBody>
      </p:sp>
      <p:sp>
        <p:nvSpPr>
          <p:cNvPr id="6" name="Konzeptionelle Illustration">
            <a:extLst xmlns:a="http://schemas.openxmlformats.org/drawingml/2006/main">
              <a:ext uri="{FF2B5EF4-FFF2-40B4-BE49-F238E27FC236}">
                <a16:creationId xmlns:a16="http://schemas.microsoft.com/office/drawing/2014/main" id="{0113A7C1-F38C-41AE-B884-3768C3744A49}"/>
              </a:ext>
            </a:extLst>
          </p:cNvPr>
          <p:cNvSpPr>
            <a:spLocks xmlns:a="http://schemas.openxmlformats.org/drawingml/2006/main" noGrp="1"/>
          </p:cNvSpPr>
          <p:nvPr/>
        </p:nvSpPr>
        <p:spPr>
          <a:xfrm xmlns:a="http://schemas.openxmlformats.org/drawingml/2006/main">
            <a:off x="8401050" y="6191250"/>
            <a:ext cx="319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Konzeptionelle Illustration</a:t>
            </a:r>
          </a:p>
        </p:txBody>
      </p:sp>
    </p:spTree>
    <p:extLst>
      <p:ext uri="{BB962C8B-B14F-4D97-AF65-F5344CB8AC3E}">
        <p14:creationId xmlns:p14="http://schemas.microsoft.com/office/powerpoint/2010/main" val="503569376"/>
      </p:ext>
    </p:extLst>
  </p:cSld>
</p:sld>
</file>

<file path=ppt/slides/slide2.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11" name="Betriebsinformationen im Zusammenhang">
            <a:extLst xmlns:a="http://schemas.openxmlformats.org/drawingml/2006/main">
              <a:ext uri="{FF2B5EF4-FFF2-40B4-BE49-F238E27FC236}">
                <a16:creationId xmlns:a16="http://schemas.microsoft.com/office/drawing/2014/main" id="{A2C7879D-1BBF-4FC8-89E1-7C9357FEBA00}"/>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Betriebsinformationen im Zusammenhang</a:t>
            </a:r>
          </a:p>
        </p:txBody>
      </p:sp>
      <p:sp>
        <p:nvSpPr>
          <p:cNvPr id="2" name="NWTS">
            <a:extLst xmlns:a="http://schemas.openxmlformats.org/drawingml/2006/main">
              <a:ext uri="{FF2B5EF4-FFF2-40B4-BE49-F238E27FC236}">
                <a16:creationId xmlns:a16="http://schemas.microsoft.com/office/drawing/2014/main" id="{2DA88890-EC18-4168-AA5F-603A0EBDD4F0}"/>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02">
            <a:extLst xmlns:a="http://schemas.openxmlformats.org/drawingml/2006/main">
              <a:ext uri="{FF2B5EF4-FFF2-40B4-BE49-F238E27FC236}">
                <a16:creationId xmlns:a16="http://schemas.microsoft.com/office/drawing/2014/main" id="{DF503D00-B477-450D-861C-4A8659EFDCB2}"/>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02</a:t>
            </a:r>
          </a:p>
        </p:txBody>
      </p:sp>
      <p:sp>
        <p:nvSpPr>
          <p:cNvPr id="4" name="Eine Sendung lässt sich besser bearbeiten, wenn ihre Daten mit den Lag">
            <a:extLst xmlns:a="http://schemas.openxmlformats.org/drawingml/2006/main">
              <a:ext uri="{FF2B5EF4-FFF2-40B4-BE49-F238E27FC236}">
                <a16:creationId xmlns:a16="http://schemas.microsoft.com/office/drawing/2014/main" id="{8712DD9E-0505-4148-81D9-1407D0931415}"/>
              </a:ext>
            </a:extLst>
          </p:cNvPr>
          <p:cNvSpPr>
            <a:spLocks xmlns:a="http://schemas.openxmlformats.org/drawingml/2006/main" noGrp="1"/>
          </p:cNvSpPr>
          <p:nvPr/>
        </p:nvSpPr>
        <p:spPr>
          <a:xfrm xmlns:a="http://schemas.openxmlformats.org/drawingml/2006/main">
            <a:off x="609600" y="2028825"/>
            <a:ext cx="409575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EEF4FA"/>
                </a:solidFill>
                <a:latin typeface="Noto Sans"/>
                <a:ea typeface="Noto Sans"/>
                <a:cs typeface="Noto Sans"/>
              </a:defRPr>
            </a:pPr>
            <a:r>
              <a:rPr sz="2550" b="0">
                <a:solidFill>
                  <a:srgbClr val="EEF4FA"/>
                </a:solidFill>
                <a:latin typeface="Noto Sans"/>
                <a:ea typeface="Noto Sans"/>
                <a:cs typeface="Noto Sans"/>
              </a:rPr>
              <a:t>Eine Sendung lässt sich besser bearbeiten, wenn ihre Daten mit den Lagerabläufen verbunden bleiben.</a:t>
            </a:r>
          </a:p>
        </p:txBody>
      </p:sp>
      <p:sp>
        <p:nvSpPr>
          <p:cNvPr id="5" name="Betrieb">
            <a:extLst xmlns:a="http://schemas.openxmlformats.org/drawingml/2006/main">
              <a:ext uri="{FF2B5EF4-FFF2-40B4-BE49-F238E27FC236}">
                <a16:creationId xmlns:a16="http://schemas.microsoft.com/office/drawing/2014/main" id="{6324186F-15A2-4774-B445-FC754820821C}"/>
              </a:ext>
            </a:extLst>
          </p:cNvPr>
          <p:cNvSpPr>
            <a:spLocks xmlns:a="http://schemas.openxmlformats.org/drawingml/2006/main" noGrp="1"/>
          </p:cNvSpPr>
          <p:nvPr/>
        </p:nvSpPr>
        <p:spPr>
          <a:xfrm xmlns:a="http://schemas.openxmlformats.org/drawingml/2006/main">
            <a:off x="5314950" y="1924050"/>
            <a:ext cx="6267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BB8F2"/>
                </a:solidFill>
                <a:latin typeface="Noto Sans"/>
                <a:ea typeface="Noto Sans"/>
                <a:cs typeface="Noto Sans"/>
              </a:defRPr>
            </a:pPr>
            <a:r>
              <a:rPr sz="1950" b="1">
                <a:solidFill>
                  <a:srgbClr val="2BB8F2"/>
                </a:solidFill>
                <a:latin typeface="Noto Sans"/>
                <a:ea typeface="Noto Sans"/>
                <a:cs typeface="Noto Sans"/>
              </a:rPr>
              <a:t>Betrieb</a:t>
            </a:r>
          </a:p>
        </p:txBody>
      </p:sp>
      <p:sp>
        <p:nvSpPr>
          <p:cNvPr id="6" name="Was ist angekommen, was wartet auf Annahme und welche Arbeit steht an?">
            <a:extLst xmlns:a="http://schemas.openxmlformats.org/drawingml/2006/main">
              <a:ext uri="{FF2B5EF4-FFF2-40B4-BE49-F238E27FC236}">
                <a16:creationId xmlns:a16="http://schemas.microsoft.com/office/drawing/2014/main" id="{247D93CE-8E7B-462A-8716-18D7821116E6}"/>
              </a:ext>
            </a:extLst>
          </p:cNvPr>
          <p:cNvSpPr>
            <a:spLocks xmlns:a="http://schemas.openxmlformats.org/drawingml/2006/main" noGrp="1"/>
          </p:cNvSpPr>
          <p:nvPr/>
        </p:nvSpPr>
        <p:spPr>
          <a:xfrm xmlns:a="http://schemas.openxmlformats.org/drawingml/2006/main">
            <a:off x="5314950" y="2352675"/>
            <a:ext cx="6267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B8C7D8"/>
                </a:solidFill>
                <a:latin typeface="Noto Sans"/>
                <a:ea typeface="Noto Sans"/>
                <a:cs typeface="Noto Sans"/>
              </a:defRPr>
            </a:pPr>
            <a:r>
              <a:rPr sz="1875" b="0">
                <a:solidFill>
                  <a:srgbClr val="B8C7D8"/>
                </a:solidFill>
                <a:latin typeface="Noto Sans"/>
                <a:ea typeface="Noto Sans"/>
                <a:cs typeface="Noto Sans"/>
              </a:rPr>
              <a:t>Was ist angekommen, was wartet auf Annahme und welche Arbeit steht an?</a:t>
            </a:r>
          </a:p>
        </p:txBody>
      </p:sp>
      <p:sp>
        <p:nvSpPr>
          <p:cNvPr id="7" name="Aufsicht">
            <a:extLst xmlns:a="http://schemas.openxmlformats.org/drawingml/2006/main">
              <a:ext uri="{FF2B5EF4-FFF2-40B4-BE49-F238E27FC236}">
                <a16:creationId xmlns:a16="http://schemas.microsoft.com/office/drawing/2014/main" id="{227E0271-3C34-4A1B-9783-DBF8E29BF642}"/>
              </a:ext>
            </a:extLst>
          </p:cNvPr>
          <p:cNvSpPr>
            <a:spLocks xmlns:a="http://schemas.openxmlformats.org/drawingml/2006/main" noGrp="1"/>
          </p:cNvSpPr>
          <p:nvPr/>
        </p:nvSpPr>
        <p:spPr>
          <a:xfrm xmlns:a="http://schemas.openxmlformats.org/drawingml/2006/main">
            <a:off x="5314950" y="3228975"/>
            <a:ext cx="6267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ED3A0"/>
                </a:solidFill>
                <a:latin typeface="Noto Sans"/>
                <a:ea typeface="Noto Sans"/>
                <a:cs typeface="Noto Sans"/>
              </a:defRPr>
            </a:pPr>
            <a:r>
              <a:rPr sz="1950" b="1">
                <a:solidFill>
                  <a:srgbClr val="2ED3A0"/>
                </a:solidFill>
                <a:latin typeface="Noto Sans"/>
                <a:ea typeface="Noto Sans"/>
                <a:cs typeface="Noto Sans"/>
              </a:rPr>
              <a:t>Aufsicht</a:t>
            </a:r>
          </a:p>
        </p:txBody>
      </p:sp>
      <p:sp>
        <p:nvSpPr>
          <p:cNvPr id="8" name="Welche Transfers, Lagerbedingungen oder Bestandsabweichungen erfordern">
            <a:extLst xmlns:a="http://schemas.openxmlformats.org/drawingml/2006/main">
              <a:ext uri="{FF2B5EF4-FFF2-40B4-BE49-F238E27FC236}">
                <a16:creationId xmlns:a16="http://schemas.microsoft.com/office/drawing/2014/main" id="{452F4F53-97EB-4BB5-842C-1E9ED6066C50}"/>
              </a:ext>
            </a:extLst>
          </p:cNvPr>
          <p:cNvSpPr>
            <a:spLocks xmlns:a="http://schemas.openxmlformats.org/drawingml/2006/main" noGrp="1"/>
          </p:cNvSpPr>
          <p:nvPr/>
        </p:nvSpPr>
        <p:spPr>
          <a:xfrm xmlns:a="http://schemas.openxmlformats.org/drawingml/2006/main">
            <a:off x="5314950" y="3657600"/>
            <a:ext cx="6267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B8C7D8"/>
                </a:solidFill>
                <a:latin typeface="Noto Sans"/>
                <a:ea typeface="Noto Sans"/>
                <a:cs typeface="Noto Sans"/>
              </a:defRPr>
            </a:pPr>
            <a:r>
              <a:rPr sz="1875" b="0">
                <a:solidFill>
                  <a:srgbClr val="B8C7D8"/>
                </a:solidFill>
                <a:latin typeface="Noto Sans"/>
                <a:ea typeface="Noto Sans"/>
                <a:cs typeface="Noto Sans"/>
              </a:rPr>
              <a:t>Welche Transfers, Lagerbedingungen oder Bestandsabweichungen erfordern Aufmerksamkeit?</a:t>
            </a:r>
          </a:p>
        </p:txBody>
      </p:sp>
      <p:sp>
        <p:nvSpPr>
          <p:cNvPr id="9" name="Administration">
            <a:extLst xmlns:a="http://schemas.openxmlformats.org/drawingml/2006/main">
              <a:ext uri="{FF2B5EF4-FFF2-40B4-BE49-F238E27FC236}">
                <a16:creationId xmlns:a16="http://schemas.microsoft.com/office/drawing/2014/main" id="{0CF2EF24-D3CB-4AFC-AB4A-8B14625B5E15}"/>
              </a:ext>
            </a:extLst>
          </p:cNvPr>
          <p:cNvSpPr>
            <a:spLocks xmlns:a="http://schemas.openxmlformats.org/drawingml/2006/main" noGrp="1"/>
          </p:cNvSpPr>
          <p:nvPr/>
        </p:nvSpPr>
        <p:spPr>
          <a:xfrm xmlns:a="http://schemas.openxmlformats.org/drawingml/2006/main">
            <a:off x="5314950" y="4533900"/>
            <a:ext cx="6267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A58BFF"/>
                </a:solidFill>
                <a:latin typeface="Noto Sans"/>
                <a:ea typeface="Noto Sans"/>
                <a:cs typeface="Noto Sans"/>
              </a:defRPr>
            </a:pPr>
            <a:r>
              <a:rPr sz="1950" b="1">
                <a:solidFill>
                  <a:srgbClr val="A58BFF"/>
                </a:solidFill>
                <a:latin typeface="Noto Sans"/>
                <a:ea typeface="Noto Sans"/>
                <a:cs typeface="Noto Sans"/>
              </a:rPr>
              <a:t>Administration</a:t>
            </a:r>
          </a:p>
        </p:txBody>
      </p:sp>
      <p:sp>
        <p:nvSpPr>
          <p:cNvPr id="10" name="Wer darf handeln, welche Stammdaten gelten und was hat sich geändert?">
            <a:extLst xmlns:a="http://schemas.openxmlformats.org/drawingml/2006/main">
              <a:ext uri="{FF2B5EF4-FFF2-40B4-BE49-F238E27FC236}">
                <a16:creationId xmlns:a16="http://schemas.microsoft.com/office/drawing/2014/main" id="{96E45299-8352-440A-A415-E57736BC98AF}"/>
              </a:ext>
            </a:extLst>
          </p:cNvPr>
          <p:cNvSpPr>
            <a:spLocks xmlns:a="http://schemas.openxmlformats.org/drawingml/2006/main" noGrp="1"/>
          </p:cNvSpPr>
          <p:nvPr/>
        </p:nvSpPr>
        <p:spPr>
          <a:xfrm xmlns:a="http://schemas.openxmlformats.org/drawingml/2006/main">
            <a:off x="5314950" y="4962525"/>
            <a:ext cx="6267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B8C7D8"/>
                </a:solidFill>
                <a:latin typeface="Noto Sans"/>
                <a:ea typeface="Noto Sans"/>
                <a:cs typeface="Noto Sans"/>
              </a:defRPr>
            </a:pPr>
            <a:r>
              <a:rPr sz="1875" b="0">
                <a:solidFill>
                  <a:srgbClr val="B8C7D8"/>
                </a:solidFill>
                <a:latin typeface="Noto Sans"/>
                <a:ea typeface="Noto Sans"/>
                <a:cs typeface="Noto Sans"/>
              </a:rPr>
              <a:t>Wer darf handeln, welche Stammdaten gelten und was hat sich geändert?</a:t>
            </a:r>
          </a:p>
        </p:txBody>
      </p:sp>
    </p:spTree>
    <p:extLst>
      <p:ext uri="{BB962C8B-B14F-4D97-AF65-F5344CB8AC3E}">
        <p14:creationId xmlns:p14="http://schemas.microsoft.com/office/powerpoint/2010/main" val="1343345242"/>
      </p:ext>
    </p:extLst>
  </p:cSld>
</p:sld>
</file>

<file path=ppt/slides/slide3.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16" name="Drei verbundene Arbeitsbereiche">
            <a:extLst xmlns:a="http://schemas.openxmlformats.org/drawingml/2006/main">
              <a:ext uri="{FF2B5EF4-FFF2-40B4-BE49-F238E27FC236}">
                <a16:creationId xmlns:a16="http://schemas.microsoft.com/office/drawing/2014/main" id="{52F34D8B-6090-40CE-8507-8BCF6F925F4F}"/>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Drei verbundene Arbeitsbereiche</a:t>
            </a:r>
          </a:p>
        </p:txBody>
      </p:sp>
      <p:sp>
        <p:nvSpPr>
          <p:cNvPr id="2" name="NWTS">
            <a:extLst xmlns:a="http://schemas.openxmlformats.org/drawingml/2006/main">
              <a:ext uri="{FF2B5EF4-FFF2-40B4-BE49-F238E27FC236}">
                <a16:creationId xmlns:a16="http://schemas.microsoft.com/office/drawing/2014/main" id="{F1C1D693-2CE1-41EA-BD8C-4147EF331988}"/>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03">
            <a:extLst xmlns:a="http://schemas.openxmlformats.org/drawingml/2006/main">
              <a:ext uri="{FF2B5EF4-FFF2-40B4-BE49-F238E27FC236}">
                <a16:creationId xmlns:a16="http://schemas.microsoft.com/office/drawing/2014/main" id="{153A6C54-6C28-43E5-8BA2-3F65069D0DF0}"/>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03</a:t>
            </a:r>
          </a:p>
        </p:txBody>
      </p:sp>
      <p:sp>
        <p:nvSpPr>
          <p:cNvPr id="4" name="01">
            <a:extLst xmlns:a="http://schemas.openxmlformats.org/drawingml/2006/main">
              <a:ext uri="{FF2B5EF4-FFF2-40B4-BE49-F238E27FC236}">
                <a16:creationId xmlns:a16="http://schemas.microsoft.com/office/drawing/2014/main" id="{E6A25525-9427-4347-8590-63BD99F13585}"/>
              </a:ext>
            </a:extLst>
          </p:cNvPr>
          <p:cNvSpPr>
            <a:spLocks xmlns:a="http://schemas.openxmlformats.org/drawingml/2006/main" noGrp="1"/>
          </p:cNvSpPr>
          <p:nvPr/>
        </p:nvSpPr>
        <p:spPr>
          <a:xfrm xmlns:a="http://schemas.openxmlformats.org/drawingml/2006/main">
            <a:off x="609600" y="1676400"/>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BB8F2"/>
                </a:solidFill>
                <a:latin typeface="Noto Sans"/>
                <a:ea typeface="Noto Sans"/>
                <a:cs typeface="Noto Sans"/>
              </a:defRPr>
            </a:pPr>
            <a:r>
              <a:rPr sz="2700" b="1">
                <a:solidFill>
                  <a:srgbClr val="2BB8F2"/>
                </a:solidFill>
                <a:latin typeface="Noto Sans"/>
                <a:ea typeface="Noto Sans"/>
                <a:cs typeface="Noto Sans"/>
              </a:rPr>
              <a:t>01</a:t>
            </a:r>
          </a:p>
        </p:txBody>
      </p:sp>
      <p:sp>
        <p:nvSpPr>
          <p:cNvPr id="5" name="Sendungen">
            <a:extLst xmlns:a="http://schemas.openxmlformats.org/drawingml/2006/main">
              <a:ext uri="{FF2B5EF4-FFF2-40B4-BE49-F238E27FC236}">
                <a16:creationId xmlns:a16="http://schemas.microsoft.com/office/drawing/2014/main" id="{3AECE2BF-9710-4EF9-8953-5640CA699A59}"/>
              </a:ext>
            </a:extLst>
          </p:cNvPr>
          <p:cNvSpPr>
            <a:spLocks xmlns:a="http://schemas.openxmlformats.org/drawingml/2006/main" noGrp="1"/>
          </p:cNvSpPr>
          <p:nvPr/>
        </p:nvSpPr>
        <p:spPr>
          <a:xfrm xmlns:a="http://schemas.openxmlformats.org/drawingml/2006/main">
            <a:off x="609600" y="222885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EEF4FA"/>
                </a:solidFill>
                <a:latin typeface="Noto Sans"/>
                <a:ea typeface="Noto Sans"/>
                <a:cs typeface="Noto Sans"/>
              </a:defRPr>
            </a:pPr>
            <a:r>
              <a:rPr sz="2100" b="1">
                <a:solidFill>
                  <a:srgbClr val="EEF4FA"/>
                </a:solidFill>
                <a:latin typeface="Noto Sans"/>
                <a:ea typeface="Noto Sans"/>
                <a:cs typeface="Noto Sans"/>
              </a:rPr>
              <a:t>Sendungen</a:t>
            </a:r>
          </a:p>
        </p:txBody>
      </p:sp>
      <p:sp>
        <p:nvSpPr>
          <p:cNvPr id="6" name="Ankunft und Containerprofile">
            <a:extLst xmlns:a="http://schemas.openxmlformats.org/drawingml/2006/main">
              <a:ext uri="{FF2B5EF4-FFF2-40B4-BE49-F238E27FC236}">
                <a16:creationId xmlns:a16="http://schemas.microsoft.com/office/drawing/2014/main" id="{4E7DDEDF-6ED5-4A4C-82D7-A812EBD33552}"/>
              </a:ext>
            </a:extLst>
          </p:cNvPr>
          <p:cNvSpPr>
            <a:spLocks xmlns:a="http://schemas.openxmlformats.org/drawingml/2006/main" noGrp="1"/>
          </p:cNvSpPr>
          <p:nvPr/>
        </p:nvSpPr>
        <p:spPr>
          <a:xfrm xmlns:a="http://schemas.openxmlformats.org/drawingml/2006/main">
            <a:off x="609600" y="2724150"/>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Ankunft und Containerprofile</a:t>
            </a:r>
          </a:p>
        </p:txBody>
      </p:sp>
      <p:sp>
        <p:nvSpPr>
          <p:cNvPr id="7" name="02">
            <a:extLst xmlns:a="http://schemas.openxmlformats.org/drawingml/2006/main">
              <a:ext uri="{FF2B5EF4-FFF2-40B4-BE49-F238E27FC236}">
                <a16:creationId xmlns:a16="http://schemas.microsoft.com/office/drawing/2014/main" id="{93CB40EE-9BD5-45E5-AD32-5A607E1146D7}"/>
              </a:ext>
            </a:extLst>
          </p:cNvPr>
          <p:cNvSpPr>
            <a:spLocks xmlns:a="http://schemas.openxmlformats.org/drawingml/2006/main" noGrp="1"/>
          </p:cNvSpPr>
          <p:nvPr/>
        </p:nvSpPr>
        <p:spPr>
          <a:xfrm xmlns:a="http://schemas.openxmlformats.org/drawingml/2006/main">
            <a:off x="4324350" y="1676400"/>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ED3A0"/>
                </a:solidFill>
                <a:latin typeface="Noto Sans"/>
                <a:ea typeface="Noto Sans"/>
                <a:cs typeface="Noto Sans"/>
              </a:defRPr>
            </a:pPr>
            <a:r>
              <a:rPr sz="2700" b="1">
                <a:solidFill>
                  <a:srgbClr val="2ED3A0"/>
                </a:solidFill>
                <a:latin typeface="Noto Sans"/>
                <a:ea typeface="Noto Sans"/>
                <a:cs typeface="Noto Sans"/>
              </a:rPr>
              <a:t>02</a:t>
            </a:r>
          </a:p>
        </p:txBody>
      </p:sp>
      <p:sp>
        <p:nvSpPr>
          <p:cNvPr id="8" name="Zwischenlager">
            <a:extLst xmlns:a="http://schemas.openxmlformats.org/drawingml/2006/main">
              <a:ext uri="{FF2B5EF4-FFF2-40B4-BE49-F238E27FC236}">
                <a16:creationId xmlns:a16="http://schemas.microsoft.com/office/drawing/2014/main" id="{F73BD3A3-F0CC-4CD9-8F2D-F92CC25570B2}"/>
              </a:ext>
            </a:extLst>
          </p:cNvPr>
          <p:cNvSpPr>
            <a:spLocks xmlns:a="http://schemas.openxmlformats.org/drawingml/2006/main" noGrp="1"/>
          </p:cNvSpPr>
          <p:nvPr/>
        </p:nvSpPr>
        <p:spPr>
          <a:xfrm xmlns:a="http://schemas.openxmlformats.org/drawingml/2006/main">
            <a:off x="4324350" y="222885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EEF4FA"/>
                </a:solidFill>
                <a:latin typeface="Noto Sans"/>
                <a:ea typeface="Noto Sans"/>
                <a:cs typeface="Noto Sans"/>
              </a:defRPr>
            </a:pPr>
            <a:r>
              <a:rPr sz="2100" b="1">
                <a:solidFill>
                  <a:srgbClr val="EEF4FA"/>
                </a:solidFill>
                <a:latin typeface="Noto Sans"/>
                <a:ea typeface="Noto Sans"/>
                <a:cs typeface="Noto Sans"/>
              </a:rPr>
              <a:t>Zwischenlager</a:t>
            </a:r>
          </a:p>
        </p:txBody>
      </p:sp>
      <p:sp>
        <p:nvSpPr>
          <p:cNvPr id="9" name="Annahme, Hallen und Übergabe">
            <a:extLst xmlns:a="http://schemas.openxmlformats.org/drawingml/2006/main">
              <a:ext uri="{FF2B5EF4-FFF2-40B4-BE49-F238E27FC236}">
                <a16:creationId xmlns:a16="http://schemas.microsoft.com/office/drawing/2014/main" id="{DB9B0C2D-43EB-4EED-8094-15C4E6EE0619}"/>
              </a:ext>
            </a:extLst>
          </p:cNvPr>
          <p:cNvSpPr>
            <a:spLocks xmlns:a="http://schemas.openxmlformats.org/drawingml/2006/main" noGrp="1"/>
          </p:cNvSpPr>
          <p:nvPr/>
        </p:nvSpPr>
        <p:spPr>
          <a:xfrm xmlns:a="http://schemas.openxmlformats.org/drawingml/2006/main">
            <a:off x="4324350" y="2724150"/>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Annahme, Hallen und Übergabe</a:t>
            </a:r>
          </a:p>
        </p:txBody>
      </p:sp>
      <p:sp>
        <p:nvSpPr>
          <p:cNvPr id="10" name="03">
            <a:extLst xmlns:a="http://schemas.openxmlformats.org/drawingml/2006/main">
              <a:ext uri="{FF2B5EF4-FFF2-40B4-BE49-F238E27FC236}">
                <a16:creationId xmlns:a16="http://schemas.microsoft.com/office/drawing/2014/main" id="{ADAC7393-96E6-426A-AF4E-944193810D4C}"/>
              </a:ext>
            </a:extLst>
          </p:cNvPr>
          <p:cNvSpPr>
            <a:spLocks xmlns:a="http://schemas.openxmlformats.org/drawingml/2006/main" noGrp="1"/>
          </p:cNvSpPr>
          <p:nvPr/>
        </p:nvSpPr>
        <p:spPr>
          <a:xfrm xmlns:a="http://schemas.openxmlformats.org/drawingml/2006/main">
            <a:off x="8039100" y="1676400"/>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A58BFF"/>
                </a:solidFill>
                <a:latin typeface="Noto Sans"/>
                <a:ea typeface="Noto Sans"/>
                <a:cs typeface="Noto Sans"/>
              </a:defRPr>
            </a:pPr>
            <a:r>
              <a:rPr sz="2700" b="1">
                <a:solidFill>
                  <a:srgbClr val="A58BFF"/>
                </a:solidFill>
                <a:latin typeface="Noto Sans"/>
                <a:ea typeface="Noto Sans"/>
                <a:cs typeface="Noto Sans"/>
              </a:rPr>
              <a:t>03</a:t>
            </a:r>
          </a:p>
        </p:txBody>
      </p:sp>
      <p:sp>
        <p:nvSpPr>
          <p:cNvPr id="11" name="Endlager">
            <a:extLst xmlns:a="http://schemas.openxmlformats.org/drawingml/2006/main">
              <a:ext uri="{FF2B5EF4-FFF2-40B4-BE49-F238E27FC236}">
                <a16:creationId xmlns:a16="http://schemas.microsoft.com/office/drawing/2014/main" id="{68FEC953-0070-4375-BE87-46366AB707ED}"/>
              </a:ext>
            </a:extLst>
          </p:cNvPr>
          <p:cNvSpPr>
            <a:spLocks xmlns:a="http://schemas.openxmlformats.org/drawingml/2006/main" noGrp="1"/>
          </p:cNvSpPr>
          <p:nvPr/>
        </p:nvSpPr>
        <p:spPr>
          <a:xfrm xmlns:a="http://schemas.openxmlformats.org/drawingml/2006/main">
            <a:off x="8039100" y="222885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EEF4FA"/>
                </a:solidFill>
                <a:latin typeface="Noto Sans"/>
                <a:ea typeface="Noto Sans"/>
                <a:cs typeface="Noto Sans"/>
              </a:defRPr>
            </a:pPr>
            <a:r>
              <a:rPr sz="2100" b="1">
                <a:solidFill>
                  <a:srgbClr val="EEF4FA"/>
                </a:solidFill>
                <a:latin typeface="Noto Sans"/>
                <a:ea typeface="Noto Sans"/>
                <a:cs typeface="Noto Sans"/>
              </a:rPr>
              <a:t>Endlager</a:t>
            </a:r>
          </a:p>
        </p:txBody>
      </p:sp>
      <p:sp>
        <p:nvSpPr>
          <p:cNvPr id="12" name="Transferanfragen und Annahme">
            <a:extLst xmlns:a="http://schemas.openxmlformats.org/drawingml/2006/main">
              <a:ext uri="{FF2B5EF4-FFF2-40B4-BE49-F238E27FC236}">
                <a16:creationId xmlns:a16="http://schemas.microsoft.com/office/drawing/2014/main" id="{3AA910FA-94C5-4866-8659-83C633ADB8ED}"/>
              </a:ext>
            </a:extLst>
          </p:cNvPr>
          <p:cNvSpPr>
            <a:spLocks xmlns:a="http://schemas.openxmlformats.org/drawingml/2006/main" noGrp="1"/>
          </p:cNvSpPr>
          <p:nvPr/>
        </p:nvSpPr>
        <p:spPr>
          <a:xfrm xmlns:a="http://schemas.openxmlformats.org/drawingml/2006/main">
            <a:off x="8039100" y="2724150"/>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Transferanfragen und Annahme</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49b8f3ff6e1f448f"/>
          <a:srcRect xmlns:a="http://schemas.openxmlformats.org/drawingml/2006/main" l="22400" t="55000" r="3500" b="8500"/>
          <a:stretch xmlns:a="http://schemas.openxmlformats.org/drawingml/2006/main">
            <a:fillRect l="0" t="0" r="0" b="0"/>
          </a:stretch>
        </p:blipFill>
        <p:spPr>
          <a:xfrm xmlns:a="http://schemas.openxmlformats.org/drawingml/2006/main">
            <a:off x="1638300" y="3381375"/>
            <a:ext cx="8915400" cy="2457450"/>
          </a:xfrm>
          <a:prstGeom xmlns:a="http://schemas.openxmlformats.org/drawingml/2006/main" prst="rect">
            <a:avLst/>
          </a:prstGeom>
        </p:spPr>
      </p:pic>
      <p:sp>
        <p:nvSpPr>
          <p:cNvPr id="14" name="Die Anwendungsbilder zeigen Demonstrationsdaten.">
            <a:extLst xmlns:a="http://schemas.openxmlformats.org/drawingml/2006/main">
              <a:ext uri="{FF2B5EF4-FFF2-40B4-BE49-F238E27FC236}">
                <a16:creationId xmlns:a16="http://schemas.microsoft.com/office/drawing/2014/main" id="{B3613427-AF67-40F4-851D-70583933EC51}"/>
              </a:ext>
            </a:extLst>
          </p:cNvPr>
          <p:cNvSpPr>
            <a:spLocks xmlns:a="http://schemas.openxmlformats.org/drawingml/2006/main" noGrp="1"/>
          </p:cNvSpPr>
          <p:nvPr/>
        </p:nvSpPr>
        <p:spPr>
          <a:xfrm xmlns:a="http://schemas.openxmlformats.org/drawingml/2006/main">
            <a:off x="609600" y="5876925"/>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B8C7D8"/>
                </a:solidFill>
                <a:latin typeface="Noto Sans"/>
                <a:ea typeface="Noto Sans"/>
                <a:cs typeface="Noto Sans"/>
              </a:defRPr>
            </a:pPr>
            <a:r>
              <a:rPr sz="975" b="0">
                <a:solidFill>
                  <a:srgbClr val="B8C7D8"/>
                </a:solidFill>
                <a:latin typeface="Noto Sans"/>
                <a:ea typeface="Noto Sans"/>
                <a:cs typeface="Noto Sans"/>
              </a:rPr>
              <a:t>Die Anwendungsbilder zeigen Demonstrationsdaten.</a:t>
            </a:r>
          </a:p>
        </p:txBody>
      </p:sp>
      <p:sp>
        <p:nvSpPr>
          <p:cNvPr id="15" name="Prozessschritte beschreiben die Arbeit. Rollen bestimmen die zulässige">
            <a:extLst xmlns:a="http://schemas.openxmlformats.org/drawingml/2006/main">
              <a:ext uri="{FF2B5EF4-FFF2-40B4-BE49-F238E27FC236}">
                <a16:creationId xmlns:a16="http://schemas.microsoft.com/office/drawing/2014/main" id="{C502BDED-24F7-4466-AEE2-3BA26CA05B85}"/>
              </a:ext>
            </a:extLst>
          </p:cNvPr>
          <p:cNvSpPr>
            <a:spLocks xmlns:a="http://schemas.openxmlformats.org/drawingml/2006/main" noGrp="1"/>
          </p:cNvSpPr>
          <p:nvPr/>
        </p:nvSpPr>
        <p:spPr>
          <a:xfrm xmlns:a="http://schemas.openxmlformats.org/drawingml/2006/main">
            <a:off x="609600" y="612457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B8C7D8"/>
                </a:solidFill>
                <a:latin typeface="Noto Sans"/>
                <a:ea typeface="Noto Sans"/>
                <a:cs typeface="Noto Sans"/>
              </a:defRPr>
            </a:pPr>
            <a:r>
              <a:rPr sz="1500" b="0">
                <a:solidFill>
                  <a:srgbClr val="B8C7D8"/>
                </a:solidFill>
                <a:latin typeface="Noto Sans"/>
                <a:ea typeface="Noto Sans"/>
                <a:cs typeface="Noto Sans"/>
              </a:rPr>
              <a:t>Prozessschritte beschreiben die Arbeit. Rollen bestimmen die zulässigen Aktionen.</a:t>
            </a:r>
          </a:p>
        </p:txBody>
      </p:sp>
    </p:spTree>
    <p:extLst>
      <p:ext uri="{BB962C8B-B14F-4D97-AF65-F5344CB8AC3E}">
        <p14:creationId xmlns:p14="http://schemas.microsoft.com/office/powerpoint/2010/main" val="1320577244"/>
      </p:ext>
    </p:extLst>
  </p:cSld>
</p:sld>
</file>

<file path=ppt/slides/slide4.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13" name="Schritt 1: Sendungsdaten">
            <a:extLst xmlns:a="http://schemas.openxmlformats.org/drawingml/2006/main">
              <a:ext uri="{FF2B5EF4-FFF2-40B4-BE49-F238E27FC236}">
                <a16:creationId xmlns:a16="http://schemas.microsoft.com/office/drawing/2014/main" id="{F3604214-1A3A-48EF-8A8A-3CCA67F47D4C}"/>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Schritt 1: Sendungsdaten</a:t>
            </a:r>
          </a:p>
        </p:txBody>
      </p:sp>
      <p:sp>
        <p:nvSpPr>
          <p:cNvPr id="2" name="NWTS">
            <a:extLst xmlns:a="http://schemas.openxmlformats.org/drawingml/2006/main">
              <a:ext uri="{FF2B5EF4-FFF2-40B4-BE49-F238E27FC236}">
                <a16:creationId xmlns:a16="http://schemas.microsoft.com/office/drawing/2014/main" id="{AD656F04-7770-4C04-8CB1-C6EC0E99EE10}"/>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04">
            <a:extLst xmlns:a="http://schemas.openxmlformats.org/drawingml/2006/main">
              <a:ext uri="{FF2B5EF4-FFF2-40B4-BE49-F238E27FC236}">
                <a16:creationId xmlns:a16="http://schemas.microsoft.com/office/drawing/2014/main" id="{73C40E75-8F09-4CC2-9618-000B1FE725E0}"/>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04</a:t>
            </a:r>
          </a:p>
        </p:txBody>
      </p:sp>
      <p:sp>
        <p:nvSpPr>
          <p:cNvPr id="4" name="Ankunft">
            <a:extLst xmlns:a="http://schemas.openxmlformats.org/drawingml/2006/main">
              <a:ext uri="{FF2B5EF4-FFF2-40B4-BE49-F238E27FC236}">
                <a16:creationId xmlns:a16="http://schemas.microsoft.com/office/drawing/2014/main" id="{25A332F7-C018-437F-87F7-96CBB31C1544}"/>
              </a:ext>
            </a:extLst>
          </p:cNvPr>
          <p:cNvSpPr>
            <a:spLocks xmlns:a="http://schemas.openxmlformats.org/drawingml/2006/main" noGrp="1"/>
          </p:cNvSpPr>
          <p:nvPr/>
        </p:nvSpPr>
        <p:spPr>
          <a:xfrm xmlns:a="http://schemas.openxmlformats.org/drawingml/2006/main">
            <a:off x="609600" y="168592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BB8F2"/>
                </a:solidFill>
                <a:latin typeface="Noto Sans"/>
                <a:ea typeface="Noto Sans"/>
                <a:cs typeface="Noto Sans"/>
              </a:defRPr>
            </a:pPr>
            <a:r>
              <a:rPr sz="1950" b="1">
                <a:solidFill>
                  <a:srgbClr val="2BB8F2"/>
                </a:solidFill>
                <a:latin typeface="Noto Sans"/>
                <a:ea typeface="Noto Sans"/>
                <a:cs typeface="Noto Sans"/>
              </a:rPr>
              <a:t>Ankunft</a:t>
            </a:r>
          </a:p>
        </p:txBody>
      </p:sp>
      <p:sp>
        <p:nvSpPr>
          <p:cNvPr id="5" name="Firma, Fahrer, Kennzeichen und Ankunftszeit.">
            <a:extLst xmlns:a="http://schemas.openxmlformats.org/drawingml/2006/main">
              <a:ext uri="{FF2B5EF4-FFF2-40B4-BE49-F238E27FC236}">
                <a16:creationId xmlns:a16="http://schemas.microsoft.com/office/drawing/2014/main" id="{73E4D769-EDAE-4C47-9FE6-BF9015B4DA2A}"/>
              </a:ext>
            </a:extLst>
          </p:cNvPr>
          <p:cNvSpPr>
            <a:spLocks xmlns:a="http://schemas.openxmlformats.org/drawingml/2006/main" noGrp="1"/>
          </p:cNvSpPr>
          <p:nvPr/>
        </p:nvSpPr>
        <p:spPr>
          <a:xfrm xmlns:a="http://schemas.openxmlformats.org/drawingml/2006/main">
            <a:off x="609600" y="2095500"/>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Firma, Fahrer, Kennzeichen und Ankunftszeit.</a:t>
            </a:r>
          </a:p>
        </p:txBody>
      </p:sp>
      <p:sp>
        <p:nvSpPr>
          <p:cNvPr id="6" name="Ladung">
            <a:extLst xmlns:a="http://schemas.openxmlformats.org/drawingml/2006/main">
              <a:ext uri="{FF2B5EF4-FFF2-40B4-BE49-F238E27FC236}">
                <a16:creationId xmlns:a16="http://schemas.microsoft.com/office/drawing/2014/main" id="{561BAFC5-04AF-4267-8231-98102D40C20A}"/>
              </a:ext>
            </a:extLst>
          </p:cNvPr>
          <p:cNvSpPr>
            <a:spLocks xmlns:a="http://schemas.openxmlformats.org/drawingml/2006/main" noGrp="1"/>
          </p:cNvSpPr>
          <p:nvPr/>
        </p:nvSpPr>
        <p:spPr>
          <a:xfrm xmlns:a="http://schemas.openxmlformats.org/drawingml/2006/main">
            <a:off x="609600" y="2990850"/>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ED3A0"/>
                </a:solidFill>
                <a:latin typeface="Noto Sans"/>
                <a:ea typeface="Noto Sans"/>
                <a:cs typeface="Noto Sans"/>
              </a:defRPr>
            </a:pPr>
            <a:r>
              <a:rPr sz="1950" b="1">
                <a:solidFill>
                  <a:srgbClr val="2ED3A0"/>
                </a:solidFill>
                <a:latin typeface="Noto Sans"/>
                <a:ea typeface="Noto Sans"/>
                <a:cs typeface="Noto Sans"/>
              </a:rPr>
              <a:t>Ladung</a:t>
            </a:r>
          </a:p>
        </p:txBody>
      </p:sp>
      <p:sp>
        <p:nvSpPr>
          <p:cNvPr id="7" name="Anzahl, Herkunft, Abfallprofil und Containertyp.">
            <a:extLst xmlns:a="http://schemas.openxmlformats.org/drawingml/2006/main">
              <a:ext uri="{FF2B5EF4-FFF2-40B4-BE49-F238E27FC236}">
                <a16:creationId xmlns:a16="http://schemas.microsoft.com/office/drawing/2014/main" id="{1C6511B3-7A1C-4ECA-B454-EED401838102}"/>
              </a:ext>
            </a:extLst>
          </p:cNvPr>
          <p:cNvSpPr>
            <a:spLocks xmlns:a="http://schemas.openxmlformats.org/drawingml/2006/main" noGrp="1"/>
          </p:cNvSpPr>
          <p:nvPr/>
        </p:nvSpPr>
        <p:spPr>
          <a:xfrm xmlns:a="http://schemas.openxmlformats.org/drawingml/2006/main">
            <a:off x="609600" y="3400425"/>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Anzahl, Herkunft, Abfallprofil und Containertyp.</a:t>
            </a:r>
          </a:p>
        </p:txBody>
      </p:sp>
      <p:sp>
        <p:nvSpPr>
          <p:cNvPr id="8" name="Abfahrt">
            <a:extLst xmlns:a="http://schemas.openxmlformats.org/drawingml/2006/main">
              <a:ext uri="{FF2B5EF4-FFF2-40B4-BE49-F238E27FC236}">
                <a16:creationId xmlns:a16="http://schemas.microsoft.com/office/drawing/2014/main" id="{7631678B-CC92-4334-833A-C9F380F44C80}"/>
              </a:ext>
            </a:extLst>
          </p:cNvPr>
          <p:cNvSpPr>
            <a:spLocks xmlns:a="http://schemas.openxmlformats.org/drawingml/2006/main" noGrp="1"/>
          </p:cNvSpPr>
          <p:nvPr/>
        </p:nvSpPr>
        <p:spPr>
          <a:xfrm xmlns:a="http://schemas.openxmlformats.org/drawingml/2006/main">
            <a:off x="609600" y="429577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A58BFF"/>
                </a:solidFill>
                <a:latin typeface="Noto Sans"/>
                <a:ea typeface="Noto Sans"/>
                <a:cs typeface="Noto Sans"/>
              </a:defRPr>
            </a:pPr>
            <a:r>
              <a:rPr sz="1950" b="1">
                <a:solidFill>
                  <a:srgbClr val="A58BFF"/>
                </a:solidFill>
                <a:latin typeface="Noto Sans"/>
                <a:ea typeface="Noto Sans"/>
                <a:cs typeface="Noto Sans"/>
              </a:rPr>
              <a:t>Abfahrt</a:t>
            </a:r>
          </a:p>
        </p:txBody>
      </p:sp>
      <p:sp>
        <p:nvSpPr>
          <p:cNvPr id="9" name="Erfasste Abfahrt mit geregelten Korrekturen.">
            <a:extLst xmlns:a="http://schemas.openxmlformats.org/drawingml/2006/main">
              <a:ext uri="{FF2B5EF4-FFF2-40B4-BE49-F238E27FC236}">
                <a16:creationId xmlns:a16="http://schemas.microsoft.com/office/drawing/2014/main" id="{9064345D-4FCE-4F09-A807-EE29F163EE62}"/>
              </a:ext>
            </a:extLst>
          </p:cNvPr>
          <p:cNvSpPr>
            <a:spLocks xmlns:a="http://schemas.openxmlformats.org/drawingml/2006/main" noGrp="1"/>
          </p:cNvSpPr>
          <p:nvPr/>
        </p:nvSpPr>
        <p:spPr>
          <a:xfrm xmlns:a="http://schemas.openxmlformats.org/drawingml/2006/main">
            <a:off x="609600" y="4705350"/>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Erfasste Abfahrt mit geregelten Korrekturen.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25b2cfb7225494e"/>
          <a:srcRect xmlns:a="http://schemas.openxmlformats.org/drawingml/2006/main" l="21400" t="10500" r="3000" b="1500"/>
          <a:stretch xmlns:a="http://schemas.openxmlformats.org/drawingml/2006/main">
            <a:fillRect l="0" t="0" r="0" b="0"/>
          </a:stretch>
        </p:blipFill>
        <p:spPr>
          <a:xfrm xmlns:a="http://schemas.openxmlformats.org/drawingml/2006/main">
            <a:off x="4152900" y="1466850"/>
            <a:ext cx="7429500" cy="4762500"/>
          </a:xfrm>
          <a:prstGeom xmlns:a="http://schemas.openxmlformats.org/drawingml/2006/main" prst="rect">
            <a:avLst/>
          </a:prstGeom>
        </p:spPr>
      </p:pic>
      <p:sp>
        <p:nvSpPr>
          <p:cNvPr id="11" name="Die Anwendungsbilder zeigen Demonstrationsdaten.">
            <a:extLst xmlns:a="http://schemas.openxmlformats.org/drawingml/2006/main">
              <a:ext uri="{FF2B5EF4-FFF2-40B4-BE49-F238E27FC236}">
                <a16:creationId xmlns:a16="http://schemas.microsoft.com/office/drawing/2014/main" id="{E7EFF72A-4B1C-4675-801A-738B1FB22A9E}"/>
              </a:ext>
            </a:extLst>
          </p:cNvPr>
          <p:cNvSpPr>
            <a:spLocks xmlns:a="http://schemas.openxmlformats.org/drawingml/2006/main" noGrp="1"/>
          </p:cNvSpPr>
          <p:nvPr/>
        </p:nvSpPr>
        <p:spPr>
          <a:xfrm xmlns:a="http://schemas.openxmlformats.org/drawingml/2006/main">
            <a:off x="4248150" y="62484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B8C7D8"/>
                </a:solidFill>
                <a:latin typeface="Noto Sans"/>
                <a:ea typeface="Noto Sans"/>
                <a:cs typeface="Noto Sans"/>
              </a:defRPr>
            </a:pPr>
            <a:r>
              <a:rPr sz="975" b="0">
                <a:solidFill>
                  <a:srgbClr val="B8C7D8"/>
                </a:solidFill>
                <a:latin typeface="Noto Sans"/>
                <a:ea typeface="Noto Sans"/>
                <a:cs typeface="Noto Sans"/>
              </a:rPr>
              <a:t>Die Anwendungsbilder zeigen Demonstrationsdaten.</a:t>
            </a:r>
          </a:p>
        </p:txBody>
      </p:sp>
      <p:sp>
        <p:nvSpPr>
          <p:cNvPr id="12" name="Beispiel: 15 Container in einem Profil und 12 in einem weiteren.">
            <a:extLst xmlns:a="http://schemas.openxmlformats.org/drawingml/2006/main">
              <a:ext uri="{FF2B5EF4-FFF2-40B4-BE49-F238E27FC236}">
                <a16:creationId xmlns:a16="http://schemas.microsoft.com/office/drawing/2014/main" id="{85B40BA3-DF36-45E3-A92B-FA0CE2119C2D}"/>
              </a:ext>
            </a:extLst>
          </p:cNvPr>
          <p:cNvSpPr>
            <a:spLocks xmlns:a="http://schemas.openxmlformats.org/drawingml/2006/main" noGrp="1"/>
          </p:cNvSpPr>
          <p:nvPr/>
        </p:nvSpPr>
        <p:spPr>
          <a:xfrm xmlns:a="http://schemas.openxmlformats.org/drawingml/2006/main">
            <a:off x="609600" y="5857875"/>
            <a:ext cx="315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EEF4FA"/>
                </a:solidFill>
                <a:latin typeface="Noto Sans"/>
                <a:ea typeface="Noto Sans"/>
                <a:cs typeface="Noto Sans"/>
              </a:defRPr>
            </a:pPr>
            <a:r>
              <a:rPr sz="1425" b="0">
                <a:solidFill>
                  <a:srgbClr val="EEF4FA"/>
                </a:solidFill>
                <a:latin typeface="Noto Sans"/>
                <a:ea typeface="Noto Sans"/>
                <a:cs typeface="Noto Sans"/>
              </a:rPr>
              <a:t>Beispiel: 15 Container in einem Profil und 12 in einem weiteren.</a:t>
            </a:r>
          </a:p>
        </p:txBody>
      </p:sp>
    </p:spTree>
    <p:extLst>
      <p:ext uri="{BB962C8B-B14F-4D97-AF65-F5344CB8AC3E}">
        <p14:creationId xmlns:p14="http://schemas.microsoft.com/office/powerpoint/2010/main" val="1143985844"/>
      </p:ext>
    </p:extLst>
  </p:cSld>
</p:sld>
</file>

<file path=ppt/slides/slide5.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13" name="Schritt 2: Zwischenlager">
            <a:extLst xmlns:a="http://schemas.openxmlformats.org/drawingml/2006/main">
              <a:ext uri="{FF2B5EF4-FFF2-40B4-BE49-F238E27FC236}">
                <a16:creationId xmlns:a16="http://schemas.microsoft.com/office/drawing/2014/main" id="{786F4B33-F559-4760-834A-FDC950E54CF3}"/>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Schritt 2: Zwischenlager</a:t>
            </a:r>
          </a:p>
        </p:txBody>
      </p:sp>
      <p:sp>
        <p:nvSpPr>
          <p:cNvPr id="2" name="NWTS">
            <a:extLst xmlns:a="http://schemas.openxmlformats.org/drawingml/2006/main">
              <a:ext uri="{FF2B5EF4-FFF2-40B4-BE49-F238E27FC236}">
                <a16:creationId xmlns:a16="http://schemas.microsoft.com/office/drawing/2014/main" id="{BB8230E1-5279-4BC9-B634-66FF9F35608C}"/>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05">
            <a:extLst xmlns:a="http://schemas.openxmlformats.org/drawingml/2006/main">
              <a:ext uri="{FF2B5EF4-FFF2-40B4-BE49-F238E27FC236}">
                <a16:creationId xmlns:a16="http://schemas.microsoft.com/office/drawing/2014/main" id="{CDE8DEA9-87AF-4C2D-AA83-EF54EA3983A8}"/>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05</a:t>
            </a:r>
          </a:p>
        </p:txBody>
      </p:sp>
      <p:sp>
        <p:nvSpPr>
          <p:cNvPr id="4" name="Annahme">
            <a:extLst xmlns:a="http://schemas.openxmlformats.org/drawingml/2006/main">
              <a:ext uri="{FF2B5EF4-FFF2-40B4-BE49-F238E27FC236}">
                <a16:creationId xmlns:a16="http://schemas.microsoft.com/office/drawing/2014/main" id="{75806A4C-7C01-4916-982A-43F2F6A29A0C}"/>
              </a:ext>
            </a:extLst>
          </p:cNvPr>
          <p:cNvSpPr>
            <a:spLocks xmlns:a="http://schemas.openxmlformats.org/drawingml/2006/main" noGrp="1"/>
          </p:cNvSpPr>
          <p:nvPr/>
        </p:nvSpPr>
        <p:spPr>
          <a:xfrm xmlns:a="http://schemas.openxmlformats.org/drawingml/2006/main">
            <a:off x="609600" y="168592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BB8F2"/>
                </a:solidFill>
                <a:latin typeface="Noto Sans"/>
                <a:ea typeface="Noto Sans"/>
                <a:cs typeface="Noto Sans"/>
              </a:defRPr>
            </a:pPr>
            <a:r>
              <a:rPr sz="1950" b="1">
                <a:solidFill>
                  <a:srgbClr val="2BB8F2"/>
                </a:solidFill>
                <a:latin typeface="Noto Sans"/>
                <a:ea typeface="Noto Sans"/>
                <a:cs typeface="Noto Sans"/>
              </a:rPr>
              <a:t>Annahme</a:t>
            </a:r>
          </a:p>
        </p:txBody>
      </p:sp>
      <p:sp>
        <p:nvSpPr>
          <p:cNvPr id="5" name="Eingehende Profile prüfen und die Annahme in einer Halle erfassen.">
            <a:extLst xmlns:a="http://schemas.openxmlformats.org/drawingml/2006/main">
              <a:ext uri="{FF2B5EF4-FFF2-40B4-BE49-F238E27FC236}">
                <a16:creationId xmlns:a16="http://schemas.microsoft.com/office/drawing/2014/main" id="{9F865456-42D7-4C66-87F4-3163A34EC51F}"/>
              </a:ext>
            </a:extLst>
          </p:cNvPr>
          <p:cNvSpPr>
            <a:spLocks xmlns:a="http://schemas.openxmlformats.org/drawingml/2006/main" noGrp="1"/>
          </p:cNvSpPr>
          <p:nvPr/>
        </p:nvSpPr>
        <p:spPr>
          <a:xfrm xmlns:a="http://schemas.openxmlformats.org/drawingml/2006/main">
            <a:off x="609600" y="2095500"/>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Eingehende Profile prüfen und die Annahme in einer Halle erfassen.</a:t>
            </a:r>
          </a:p>
        </p:txBody>
      </p:sp>
      <p:sp>
        <p:nvSpPr>
          <p:cNvPr id="6" name="Lagerbestand">
            <a:extLst xmlns:a="http://schemas.openxmlformats.org/drawingml/2006/main">
              <a:ext uri="{FF2B5EF4-FFF2-40B4-BE49-F238E27FC236}">
                <a16:creationId xmlns:a16="http://schemas.microsoft.com/office/drawing/2014/main" id="{21742FE2-37B0-4806-8775-5F6D46B50247}"/>
              </a:ext>
            </a:extLst>
          </p:cNvPr>
          <p:cNvSpPr>
            <a:spLocks xmlns:a="http://schemas.openxmlformats.org/drawingml/2006/main" noGrp="1"/>
          </p:cNvSpPr>
          <p:nvPr/>
        </p:nvSpPr>
        <p:spPr>
          <a:xfrm xmlns:a="http://schemas.openxmlformats.org/drawingml/2006/main">
            <a:off x="609600" y="2990850"/>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ED3A0"/>
                </a:solidFill>
                <a:latin typeface="Noto Sans"/>
                <a:ea typeface="Noto Sans"/>
                <a:cs typeface="Noto Sans"/>
              </a:defRPr>
            </a:pPr>
            <a:r>
              <a:rPr sz="1950" b="1">
                <a:solidFill>
                  <a:srgbClr val="2ED3A0"/>
                </a:solidFill>
                <a:latin typeface="Noto Sans"/>
                <a:ea typeface="Noto Sans"/>
                <a:cs typeface="Noto Sans"/>
              </a:rPr>
              <a:t>Lagerbestand</a:t>
            </a:r>
          </a:p>
        </p:txBody>
      </p:sp>
      <p:sp>
        <p:nvSpPr>
          <p:cNvPr id="7" name="Erfasste Mengen, freie Kapazität und Bedingungen überblicken.">
            <a:extLst xmlns:a="http://schemas.openxmlformats.org/drawingml/2006/main">
              <a:ext uri="{FF2B5EF4-FFF2-40B4-BE49-F238E27FC236}">
                <a16:creationId xmlns:a16="http://schemas.microsoft.com/office/drawing/2014/main" id="{54716A8F-1945-4B14-AD1F-89A17768043B}"/>
              </a:ext>
            </a:extLst>
          </p:cNvPr>
          <p:cNvSpPr>
            <a:spLocks xmlns:a="http://schemas.openxmlformats.org/drawingml/2006/main" noGrp="1"/>
          </p:cNvSpPr>
          <p:nvPr/>
        </p:nvSpPr>
        <p:spPr>
          <a:xfrm xmlns:a="http://schemas.openxmlformats.org/drawingml/2006/main">
            <a:off x="609600" y="3400425"/>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Erfasste Mengen, freie Kapazität und Bedingungen überblicken.</a:t>
            </a:r>
          </a:p>
        </p:txBody>
      </p:sp>
      <p:sp>
        <p:nvSpPr>
          <p:cNvPr id="8" name="Übergabe">
            <a:extLst xmlns:a="http://schemas.openxmlformats.org/drawingml/2006/main">
              <a:ext uri="{FF2B5EF4-FFF2-40B4-BE49-F238E27FC236}">
                <a16:creationId xmlns:a16="http://schemas.microsoft.com/office/drawing/2014/main" id="{FDD70A0A-8B63-4AB0-9D4B-36ADD5D404BA}"/>
              </a:ext>
            </a:extLst>
          </p:cNvPr>
          <p:cNvSpPr>
            <a:spLocks xmlns:a="http://schemas.openxmlformats.org/drawingml/2006/main" noGrp="1"/>
          </p:cNvSpPr>
          <p:nvPr/>
        </p:nvSpPr>
        <p:spPr>
          <a:xfrm xmlns:a="http://schemas.openxmlformats.org/drawingml/2006/main">
            <a:off x="609600" y="429577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A58BFF"/>
                </a:solidFill>
                <a:latin typeface="Noto Sans"/>
                <a:ea typeface="Noto Sans"/>
                <a:cs typeface="Noto Sans"/>
              </a:defRPr>
            </a:pPr>
            <a:r>
              <a:rPr sz="1950" b="1">
                <a:solidFill>
                  <a:srgbClr val="A58BFF"/>
                </a:solidFill>
                <a:latin typeface="Noto Sans"/>
                <a:ea typeface="Noto Sans"/>
                <a:cs typeface="Noto Sans"/>
              </a:rPr>
              <a:t>Übergabe</a:t>
            </a:r>
          </a:p>
        </p:txBody>
      </p:sp>
      <p:sp>
        <p:nvSpPr>
          <p:cNvPr id="9" name="Transferanfragen anhand verfügbarer Quellmengen bearbeiten.">
            <a:extLst xmlns:a="http://schemas.openxmlformats.org/drawingml/2006/main">
              <a:ext uri="{FF2B5EF4-FFF2-40B4-BE49-F238E27FC236}">
                <a16:creationId xmlns:a16="http://schemas.microsoft.com/office/drawing/2014/main" id="{1218E2EA-8088-41E5-A528-3564450B4746}"/>
              </a:ext>
            </a:extLst>
          </p:cNvPr>
          <p:cNvSpPr>
            <a:spLocks xmlns:a="http://schemas.openxmlformats.org/drawingml/2006/main" noGrp="1"/>
          </p:cNvSpPr>
          <p:nvPr/>
        </p:nvSpPr>
        <p:spPr>
          <a:xfrm xmlns:a="http://schemas.openxmlformats.org/drawingml/2006/main">
            <a:off x="609600" y="4705350"/>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Transferanfragen anhand verfügbarer Quellmengen bearbeiten.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a7c06bf94d34702"/>
          <a:srcRect xmlns:a="http://schemas.openxmlformats.org/drawingml/2006/main" l="21400" t="10500" r="3000" b="1500"/>
          <a:stretch xmlns:a="http://schemas.openxmlformats.org/drawingml/2006/main">
            <a:fillRect l="0" t="0" r="0" b="0"/>
          </a:stretch>
        </p:blipFill>
        <p:spPr>
          <a:xfrm xmlns:a="http://schemas.openxmlformats.org/drawingml/2006/main">
            <a:off x="4152900" y="1466850"/>
            <a:ext cx="7429500" cy="4762500"/>
          </a:xfrm>
          <a:prstGeom xmlns:a="http://schemas.openxmlformats.org/drawingml/2006/main" prst="rect">
            <a:avLst/>
          </a:prstGeom>
        </p:spPr>
      </p:pic>
      <p:sp>
        <p:nvSpPr>
          <p:cNvPr id="11" name="Die Anwendungsbilder zeigen Demonstrationsdaten.">
            <a:extLst xmlns:a="http://schemas.openxmlformats.org/drawingml/2006/main">
              <a:ext uri="{FF2B5EF4-FFF2-40B4-BE49-F238E27FC236}">
                <a16:creationId xmlns:a16="http://schemas.microsoft.com/office/drawing/2014/main" id="{400F8D9A-D6E2-4D5C-B333-67A9D3796157}"/>
              </a:ext>
            </a:extLst>
          </p:cNvPr>
          <p:cNvSpPr>
            <a:spLocks xmlns:a="http://schemas.openxmlformats.org/drawingml/2006/main" noGrp="1"/>
          </p:cNvSpPr>
          <p:nvPr/>
        </p:nvSpPr>
        <p:spPr>
          <a:xfrm xmlns:a="http://schemas.openxmlformats.org/drawingml/2006/main">
            <a:off x="4248150" y="62484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B8C7D8"/>
                </a:solidFill>
                <a:latin typeface="Noto Sans"/>
                <a:ea typeface="Noto Sans"/>
                <a:cs typeface="Noto Sans"/>
              </a:defRPr>
            </a:pPr>
            <a:r>
              <a:rPr sz="975" b="0">
                <a:solidFill>
                  <a:srgbClr val="B8C7D8"/>
                </a:solidFill>
                <a:latin typeface="Noto Sans"/>
                <a:ea typeface="Noto Sans"/>
                <a:cs typeface="Noto Sans"/>
              </a:rPr>
              <a:t>Die Anwendungsbilder zeigen Demonstrationsdaten.</a:t>
            </a:r>
          </a:p>
        </p:txBody>
      </p:sp>
      <p:sp>
        <p:nvSpPr>
          <p:cNvPr id="12" name="Mitarbeitende arbeiten im zugewiesenen Bereich Zwischenlager.">
            <a:extLst xmlns:a="http://schemas.openxmlformats.org/drawingml/2006/main">
              <a:ext uri="{FF2B5EF4-FFF2-40B4-BE49-F238E27FC236}">
                <a16:creationId xmlns:a16="http://schemas.microsoft.com/office/drawing/2014/main" id="{8B5BFE0A-A767-4770-B80C-BEA4E592E103}"/>
              </a:ext>
            </a:extLst>
          </p:cNvPr>
          <p:cNvSpPr>
            <a:spLocks xmlns:a="http://schemas.openxmlformats.org/drawingml/2006/main" noGrp="1"/>
          </p:cNvSpPr>
          <p:nvPr/>
        </p:nvSpPr>
        <p:spPr>
          <a:xfrm xmlns:a="http://schemas.openxmlformats.org/drawingml/2006/main">
            <a:off x="609600" y="5857875"/>
            <a:ext cx="315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EEF4FA"/>
                </a:solidFill>
                <a:latin typeface="Noto Sans"/>
                <a:ea typeface="Noto Sans"/>
                <a:cs typeface="Noto Sans"/>
              </a:defRPr>
            </a:pPr>
            <a:r>
              <a:rPr sz="1425" b="0">
                <a:solidFill>
                  <a:srgbClr val="EEF4FA"/>
                </a:solidFill>
                <a:latin typeface="Noto Sans"/>
                <a:ea typeface="Noto Sans"/>
                <a:cs typeface="Noto Sans"/>
              </a:rPr>
              <a:t>Mitarbeitende arbeiten im zugewiesenen Bereich Zwischenlager.</a:t>
            </a:r>
          </a:p>
        </p:txBody>
      </p:sp>
    </p:spTree>
    <p:extLst>
      <p:ext uri="{BB962C8B-B14F-4D97-AF65-F5344CB8AC3E}">
        <p14:creationId xmlns:p14="http://schemas.microsoft.com/office/powerpoint/2010/main" val="1477341860"/>
      </p:ext>
    </p:extLst>
  </p:cSld>
</p:sld>
</file>

<file path=ppt/slides/slide6.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13" name="Schritt 3: Endlager">
            <a:extLst xmlns:a="http://schemas.openxmlformats.org/drawingml/2006/main">
              <a:ext uri="{FF2B5EF4-FFF2-40B4-BE49-F238E27FC236}">
                <a16:creationId xmlns:a16="http://schemas.microsoft.com/office/drawing/2014/main" id="{E4CD14F8-89B7-415E-8A49-CFA14C5CF153}"/>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Schritt 3: Endlager</a:t>
            </a:r>
          </a:p>
        </p:txBody>
      </p:sp>
      <p:sp>
        <p:nvSpPr>
          <p:cNvPr id="2" name="NWTS">
            <a:extLst xmlns:a="http://schemas.openxmlformats.org/drawingml/2006/main">
              <a:ext uri="{FF2B5EF4-FFF2-40B4-BE49-F238E27FC236}">
                <a16:creationId xmlns:a16="http://schemas.microsoft.com/office/drawing/2014/main" id="{B6F16608-6582-489E-86DC-840EA151B036}"/>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06">
            <a:extLst xmlns:a="http://schemas.openxmlformats.org/drawingml/2006/main">
              <a:ext uri="{FF2B5EF4-FFF2-40B4-BE49-F238E27FC236}">
                <a16:creationId xmlns:a16="http://schemas.microsoft.com/office/drawing/2014/main" id="{5D67DD44-4828-4C29-ABF2-AD1500B332C3}"/>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06</a:t>
            </a:r>
          </a:p>
        </p:txBody>
      </p:sp>
      <p:sp>
        <p:nvSpPr>
          <p:cNvPr id="4" name="Anfrage">
            <a:extLst xmlns:a="http://schemas.openxmlformats.org/drawingml/2006/main">
              <a:ext uri="{FF2B5EF4-FFF2-40B4-BE49-F238E27FC236}">
                <a16:creationId xmlns:a16="http://schemas.microsoft.com/office/drawing/2014/main" id="{FF5A0524-1CF7-4F4A-9A12-42B54D9B3F12}"/>
              </a:ext>
            </a:extLst>
          </p:cNvPr>
          <p:cNvSpPr>
            <a:spLocks xmlns:a="http://schemas.openxmlformats.org/drawingml/2006/main" noGrp="1"/>
          </p:cNvSpPr>
          <p:nvPr/>
        </p:nvSpPr>
        <p:spPr>
          <a:xfrm xmlns:a="http://schemas.openxmlformats.org/drawingml/2006/main">
            <a:off x="609600" y="168592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BB8F2"/>
                </a:solidFill>
                <a:latin typeface="Noto Sans"/>
                <a:ea typeface="Noto Sans"/>
                <a:cs typeface="Noto Sans"/>
              </a:defRPr>
            </a:pPr>
            <a:r>
              <a:rPr sz="1950" b="1">
                <a:solidFill>
                  <a:srgbClr val="2BB8F2"/>
                </a:solidFill>
                <a:latin typeface="Noto Sans"/>
                <a:ea typeface="Noto Sans"/>
                <a:cs typeface="Noto Sans"/>
              </a:rPr>
              <a:t>Anfrage</a:t>
            </a:r>
          </a:p>
        </p:txBody>
      </p:sp>
      <p:sp>
        <p:nvSpPr>
          <p:cNvPr id="5" name="Zielraum auswählen und einen Transfer anfordern.">
            <a:extLst xmlns:a="http://schemas.openxmlformats.org/drawingml/2006/main">
              <a:ext uri="{FF2B5EF4-FFF2-40B4-BE49-F238E27FC236}">
                <a16:creationId xmlns:a16="http://schemas.microsoft.com/office/drawing/2014/main" id="{8BE696AD-3120-423F-B4BA-C1AE874AA83D}"/>
              </a:ext>
            </a:extLst>
          </p:cNvPr>
          <p:cNvSpPr>
            <a:spLocks xmlns:a="http://schemas.openxmlformats.org/drawingml/2006/main" noGrp="1"/>
          </p:cNvSpPr>
          <p:nvPr/>
        </p:nvSpPr>
        <p:spPr>
          <a:xfrm xmlns:a="http://schemas.openxmlformats.org/drawingml/2006/main">
            <a:off x="609600" y="2095500"/>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Zielraum auswählen und einen Transfer anfordern.</a:t>
            </a:r>
          </a:p>
        </p:txBody>
      </p:sp>
      <p:sp>
        <p:nvSpPr>
          <p:cNvPr id="6" name="Antwort">
            <a:extLst xmlns:a="http://schemas.openxmlformats.org/drawingml/2006/main">
              <a:ext uri="{FF2B5EF4-FFF2-40B4-BE49-F238E27FC236}">
                <a16:creationId xmlns:a16="http://schemas.microsoft.com/office/drawing/2014/main" id="{7E964163-080F-43F6-8EB9-1719A7E598F5}"/>
              </a:ext>
            </a:extLst>
          </p:cNvPr>
          <p:cNvSpPr>
            <a:spLocks xmlns:a="http://schemas.openxmlformats.org/drawingml/2006/main" noGrp="1"/>
          </p:cNvSpPr>
          <p:nvPr/>
        </p:nvSpPr>
        <p:spPr>
          <a:xfrm xmlns:a="http://schemas.openxmlformats.org/drawingml/2006/main">
            <a:off x="609600" y="2990850"/>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ED3A0"/>
                </a:solidFill>
                <a:latin typeface="Noto Sans"/>
                <a:ea typeface="Noto Sans"/>
                <a:cs typeface="Noto Sans"/>
              </a:defRPr>
            </a:pPr>
            <a:r>
              <a:rPr sz="1950" b="1">
                <a:solidFill>
                  <a:srgbClr val="2ED3A0"/>
                </a:solidFill>
                <a:latin typeface="Noto Sans"/>
                <a:ea typeface="Noto Sans"/>
                <a:cs typeface="Noto Sans"/>
              </a:rPr>
              <a:t>Antwort</a:t>
            </a:r>
          </a:p>
        </p:txBody>
      </p:sp>
      <p:sp>
        <p:nvSpPr>
          <p:cNvPr id="7" name="Das Zwischenlager prüft die Anfrage und bereitet die Übergabe vor.">
            <a:extLst xmlns:a="http://schemas.openxmlformats.org/drawingml/2006/main">
              <a:ext uri="{FF2B5EF4-FFF2-40B4-BE49-F238E27FC236}">
                <a16:creationId xmlns:a16="http://schemas.microsoft.com/office/drawing/2014/main" id="{BB74B82E-CEA4-43D4-9930-076A54F5229E}"/>
              </a:ext>
            </a:extLst>
          </p:cNvPr>
          <p:cNvSpPr>
            <a:spLocks xmlns:a="http://schemas.openxmlformats.org/drawingml/2006/main" noGrp="1"/>
          </p:cNvSpPr>
          <p:nvPr/>
        </p:nvSpPr>
        <p:spPr>
          <a:xfrm xmlns:a="http://schemas.openxmlformats.org/drawingml/2006/main">
            <a:off x="609600" y="3400425"/>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Das Zwischenlager prüft die Anfrage und bereitet die Übergabe vor.</a:t>
            </a:r>
          </a:p>
        </p:txBody>
      </p:sp>
      <p:sp>
        <p:nvSpPr>
          <p:cNvPr id="8" name="Annahme">
            <a:extLst xmlns:a="http://schemas.openxmlformats.org/drawingml/2006/main">
              <a:ext uri="{FF2B5EF4-FFF2-40B4-BE49-F238E27FC236}">
                <a16:creationId xmlns:a16="http://schemas.microsoft.com/office/drawing/2014/main" id="{A1630FC0-4D46-48FC-ABC7-991E88FB3D6A}"/>
              </a:ext>
            </a:extLst>
          </p:cNvPr>
          <p:cNvSpPr>
            <a:spLocks xmlns:a="http://schemas.openxmlformats.org/drawingml/2006/main" noGrp="1"/>
          </p:cNvSpPr>
          <p:nvPr/>
        </p:nvSpPr>
        <p:spPr>
          <a:xfrm xmlns:a="http://schemas.openxmlformats.org/drawingml/2006/main">
            <a:off x="609600" y="429577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A58BFF"/>
                </a:solidFill>
                <a:latin typeface="Noto Sans"/>
                <a:ea typeface="Noto Sans"/>
                <a:cs typeface="Noto Sans"/>
              </a:defRPr>
            </a:pPr>
            <a:r>
              <a:rPr sz="1950" b="1">
                <a:solidFill>
                  <a:srgbClr val="A58BFF"/>
                </a:solidFill>
                <a:latin typeface="Noto Sans"/>
                <a:ea typeface="Noto Sans"/>
                <a:cs typeface="Noto Sans"/>
              </a:rPr>
              <a:t>Annahme</a:t>
            </a:r>
          </a:p>
        </p:txBody>
      </p:sp>
      <p:sp>
        <p:nvSpPr>
          <p:cNvPr id="9" name="Das Endlager bestätigt die Annahme und aktualisiert den erfassten Best">
            <a:extLst xmlns:a="http://schemas.openxmlformats.org/drawingml/2006/main">
              <a:ext uri="{FF2B5EF4-FFF2-40B4-BE49-F238E27FC236}">
                <a16:creationId xmlns:a16="http://schemas.microsoft.com/office/drawing/2014/main" id="{F6F06BD3-A51F-4782-A18B-39D3472E0C6D}"/>
              </a:ext>
            </a:extLst>
          </p:cNvPr>
          <p:cNvSpPr>
            <a:spLocks xmlns:a="http://schemas.openxmlformats.org/drawingml/2006/main" noGrp="1"/>
          </p:cNvSpPr>
          <p:nvPr/>
        </p:nvSpPr>
        <p:spPr>
          <a:xfrm xmlns:a="http://schemas.openxmlformats.org/drawingml/2006/main">
            <a:off x="609600" y="4705350"/>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Das Endlager bestätigt die Annahme und aktualisiert den erfassten Bestand.</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03fb3ad5caf473a"/>
          <a:srcRect xmlns:a="http://schemas.openxmlformats.org/drawingml/2006/main" l="21400" t="10500" r="3000" b="1500"/>
          <a:stretch xmlns:a="http://schemas.openxmlformats.org/drawingml/2006/main">
            <a:fillRect l="0" t="0" r="0" b="0"/>
          </a:stretch>
        </p:blipFill>
        <p:spPr>
          <a:xfrm xmlns:a="http://schemas.openxmlformats.org/drawingml/2006/main">
            <a:off x="4152900" y="1466850"/>
            <a:ext cx="7429500" cy="4762500"/>
          </a:xfrm>
          <a:prstGeom xmlns:a="http://schemas.openxmlformats.org/drawingml/2006/main" prst="rect">
            <a:avLst/>
          </a:prstGeom>
        </p:spPr>
      </p:pic>
      <p:sp>
        <p:nvSpPr>
          <p:cNvPr id="11" name="Die Anwendungsbilder zeigen Demonstrationsdaten.">
            <a:extLst xmlns:a="http://schemas.openxmlformats.org/drawingml/2006/main">
              <a:ext uri="{FF2B5EF4-FFF2-40B4-BE49-F238E27FC236}">
                <a16:creationId xmlns:a16="http://schemas.microsoft.com/office/drawing/2014/main" id="{EBC7C4BC-26CF-4B17-A616-78FFB64B1546}"/>
              </a:ext>
            </a:extLst>
          </p:cNvPr>
          <p:cNvSpPr>
            <a:spLocks xmlns:a="http://schemas.openxmlformats.org/drawingml/2006/main" noGrp="1"/>
          </p:cNvSpPr>
          <p:nvPr/>
        </p:nvSpPr>
        <p:spPr>
          <a:xfrm xmlns:a="http://schemas.openxmlformats.org/drawingml/2006/main">
            <a:off x="4248150" y="62484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B8C7D8"/>
                </a:solidFill>
                <a:latin typeface="Noto Sans"/>
                <a:ea typeface="Noto Sans"/>
                <a:cs typeface="Noto Sans"/>
              </a:defRPr>
            </a:pPr>
            <a:r>
              <a:rPr sz="975" b="0">
                <a:solidFill>
                  <a:srgbClr val="B8C7D8"/>
                </a:solidFill>
                <a:latin typeface="Noto Sans"/>
                <a:ea typeface="Noto Sans"/>
                <a:cs typeface="Noto Sans"/>
              </a:rPr>
              <a:t>Die Anwendungsbilder zeigen Demonstrationsdaten.</a:t>
            </a:r>
          </a:p>
        </p:txBody>
      </p:sp>
      <p:sp>
        <p:nvSpPr>
          <p:cNvPr id="12" name="Anfrage, Übergabe und Annahme sind getrennte Vorgänge.">
            <a:extLst xmlns:a="http://schemas.openxmlformats.org/drawingml/2006/main">
              <a:ext uri="{FF2B5EF4-FFF2-40B4-BE49-F238E27FC236}">
                <a16:creationId xmlns:a16="http://schemas.microsoft.com/office/drawing/2014/main" id="{648B7BFF-9B9C-46E3-85AC-105664B562BE}"/>
              </a:ext>
            </a:extLst>
          </p:cNvPr>
          <p:cNvSpPr>
            <a:spLocks xmlns:a="http://schemas.openxmlformats.org/drawingml/2006/main" noGrp="1"/>
          </p:cNvSpPr>
          <p:nvPr/>
        </p:nvSpPr>
        <p:spPr>
          <a:xfrm xmlns:a="http://schemas.openxmlformats.org/drawingml/2006/main">
            <a:off x="609600" y="5857875"/>
            <a:ext cx="315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EEF4FA"/>
                </a:solidFill>
                <a:latin typeface="Noto Sans"/>
                <a:ea typeface="Noto Sans"/>
                <a:cs typeface="Noto Sans"/>
              </a:defRPr>
            </a:pPr>
            <a:r>
              <a:rPr sz="1425" b="0">
                <a:solidFill>
                  <a:srgbClr val="EEF4FA"/>
                </a:solidFill>
                <a:latin typeface="Noto Sans"/>
                <a:ea typeface="Noto Sans"/>
                <a:cs typeface="Noto Sans"/>
              </a:rPr>
              <a:t>Anfrage, Übergabe und Annahme sind getrennte Vorgänge.</a:t>
            </a:r>
          </a:p>
        </p:txBody>
      </p:sp>
    </p:spTree>
    <p:extLst>
      <p:ext uri="{BB962C8B-B14F-4D97-AF65-F5344CB8AC3E}">
        <p14:creationId xmlns:p14="http://schemas.microsoft.com/office/powerpoint/2010/main" val="298240795"/>
      </p:ext>
    </p:extLst>
  </p:cSld>
</p:sld>
</file>

<file path=ppt/slides/slide7.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13" name="Lagerbedingungen und Nachverfolgung">
            <a:extLst xmlns:a="http://schemas.openxmlformats.org/drawingml/2006/main">
              <a:ext uri="{FF2B5EF4-FFF2-40B4-BE49-F238E27FC236}">
                <a16:creationId xmlns:a16="http://schemas.microsoft.com/office/drawing/2014/main" id="{7F44F38A-4DD6-49A0-A489-13064DE8DC24}"/>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Lagerbedingungen und Nachverfolgung</a:t>
            </a:r>
          </a:p>
        </p:txBody>
      </p:sp>
      <p:sp>
        <p:nvSpPr>
          <p:cNvPr id="2" name="NWTS">
            <a:extLst xmlns:a="http://schemas.openxmlformats.org/drawingml/2006/main">
              <a:ext uri="{FF2B5EF4-FFF2-40B4-BE49-F238E27FC236}">
                <a16:creationId xmlns:a16="http://schemas.microsoft.com/office/drawing/2014/main" id="{CAF35BFC-F641-456A-8064-E5CDF3402808}"/>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07">
            <a:extLst xmlns:a="http://schemas.openxmlformats.org/drawingml/2006/main">
              <a:ext uri="{FF2B5EF4-FFF2-40B4-BE49-F238E27FC236}">
                <a16:creationId xmlns:a16="http://schemas.microsoft.com/office/drawing/2014/main" id="{9A7CE37F-E0E0-4AE1-B302-3D2329B22719}"/>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07</a:t>
            </a:r>
          </a:p>
        </p:txBody>
      </p:sp>
      <p:sp>
        <p:nvSpPr>
          <p:cNvPr id="4" name="Messwerte">
            <a:extLst xmlns:a="http://schemas.openxmlformats.org/drawingml/2006/main">
              <a:ext uri="{FF2B5EF4-FFF2-40B4-BE49-F238E27FC236}">
                <a16:creationId xmlns:a16="http://schemas.microsoft.com/office/drawing/2014/main" id="{B34FC478-9C8D-47F4-8E53-4420F20DD57B}"/>
              </a:ext>
            </a:extLst>
          </p:cNvPr>
          <p:cNvSpPr>
            <a:spLocks xmlns:a="http://schemas.openxmlformats.org/drawingml/2006/main" noGrp="1"/>
          </p:cNvSpPr>
          <p:nvPr/>
        </p:nvSpPr>
        <p:spPr>
          <a:xfrm xmlns:a="http://schemas.openxmlformats.org/drawingml/2006/main">
            <a:off x="609600" y="168592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BB8F2"/>
                </a:solidFill>
                <a:latin typeface="Noto Sans"/>
                <a:ea typeface="Noto Sans"/>
                <a:cs typeface="Noto Sans"/>
              </a:defRPr>
            </a:pPr>
            <a:r>
              <a:rPr sz="1950" b="1">
                <a:solidFill>
                  <a:srgbClr val="2BB8F2"/>
                </a:solidFill>
                <a:latin typeface="Noto Sans"/>
                <a:ea typeface="Noto Sans"/>
                <a:cs typeface="Noto Sans"/>
              </a:rPr>
              <a:t>Messwerte</a:t>
            </a:r>
          </a:p>
        </p:txBody>
      </p:sp>
      <p:sp>
        <p:nvSpPr>
          <p:cNvPr id="5" name="Temperatur, Strahlung, Luftfeuchte und Druck.">
            <a:extLst xmlns:a="http://schemas.openxmlformats.org/drawingml/2006/main">
              <a:ext uri="{FF2B5EF4-FFF2-40B4-BE49-F238E27FC236}">
                <a16:creationId xmlns:a16="http://schemas.microsoft.com/office/drawing/2014/main" id="{41E09F03-5853-484C-BBDA-BF69A524BF92}"/>
              </a:ext>
            </a:extLst>
          </p:cNvPr>
          <p:cNvSpPr>
            <a:spLocks xmlns:a="http://schemas.openxmlformats.org/drawingml/2006/main" noGrp="1"/>
          </p:cNvSpPr>
          <p:nvPr/>
        </p:nvSpPr>
        <p:spPr>
          <a:xfrm xmlns:a="http://schemas.openxmlformats.org/drawingml/2006/main">
            <a:off x="609600" y="2095500"/>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Temperatur, Strahlung, Luftfeuchte und Druck.</a:t>
            </a:r>
          </a:p>
        </p:txBody>
      </p:sp>
      <p:sp>
        <p:nvSpPr>
          <p:cNvPr id="6" name="Alarme">
            <a:extLst xmlns:a="http://schemas.openxmlformats.org/drawingml/2006/main">
              <a:ext uri="{FF2B5EF4-FFF2-40B4-BE49-F238E27FC236}">
                <a16:creationId xmlns:a16="http://schemas.microsoft.com/office/drawing/2014/main" id="{BE3F8A1D-318E-49F1-8865-53AFB4326E4E}"/>
              </a:ext>
            </a:extLst>
          </p:cNvPr>
          <p:cNvSpPr>
            <a:spLocks xmlns:a="http://schemas.openxmlformats.org/drawingml/2006/main" noGrp="1"/>
          </p:cNvSpPr>
          <p:nvPr/>
        </p:nvSpPr>
        <p:spPr>
          <a:xfrm xmlns:a="http://schemas.openxmlformats.org/drawingml/2006/main">
            <a:off x="609600" y="2990850"/>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ED3A0"/>
                </a:solidFill>
                <a:latin typeface="Noto Sans"/>
                <a:ea typeface="Noto Sans"/>
                <a:cs typeface="Noto Sans"/>
              </a:defRPr>
            </a:pPr>
            <a:r>
              <a:rPr sz="1950" b="1">
                <a:solidFill>
                  <a:srgbClr val="2ED3A0"/>
                </a:solidFill>
                <a:latin typeface="Noto Sans"/>
                <a:ea typeface="Noto Sans"/>
                <a:cs typeface="Noto Sans"/>
              </a:rPr>
              <a:t>Alarme</a:t>
            </a:r>
          </a:p>
        </p:txBody>
      </p:sp>
      <p:sp>
        <p:nvSpPr>
          <p:cNvPr id="7" name="Abweichungen, überfällige Messungen und Eskalationsstatus.">
            <a:extLst xmlns:a="http://schemas.openxmlformats.org/drawingml/2006/main">
              <a:ext uri="{FF2B5EF4-FFF2-40B4-BE49-F238E27FC236}">
                <a16:creationId xmlns:a16="http://schemas.microsoft.com/office/drawing/2014/main" id="{8F3ADF98-E32D-46EC-9FB7-67B725F5E21A}"/>
              </a:ext>
            </a:extLst>
          </p:cNvPr>
          <p:cNvSpPr>
            <a:spLocks xmlns:a="http://schemas.openxmlformats.org/drawingml/2006/main" noGrp="1"/>
          </p:cNvSpPr>
          <p:nvPr/>
        </p:nvSpPr>
        <p:spPr>
          <a:xfrm xmlns:a="http://schemas.openxmlformats.org/drawingml/2006/main">
            <a:off x="609600" y="3400425"/>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Abweichungen, überfällige Messungen und Eskalationsstatus.</a:t>
            </a:r>
          </a:p>
        </p:txBody>
      </p:sp>
      <p:sp>
        <p:nvSpPr>
          <p:cNvPr id="8" name="Bearbeitung">
            <a:extLst xmlns:a="http://schemas.openxmlformats.org/drawingml/2006/main">
              <a:ext uri="{FF2B5EF4-FFF2-40B4-BE49-F238E27FC236}">
                <a16:creationId xmlns:a16="http://schemas.microsoft.com/office/drawing/2014/main" id="{F5FBBF3E-C16B-4C83-A952-B0141C15719B}"/>
              </a:ext>
            </a:extLst>
          </p:cNvPr>
          <p:cNvSpPr>
            <a:spLocks xmlns:a="http://schemas.openxmlformats.org/drawingml/2006/main" noGrp="1"/>
          </p:cNvSpPr>
          <p:nvPr/>
        </p:nvSpPr>
        <p:spPr>
          <a:xfrm xmlns:a="http://schemas.openxmlformats.org/drawingml/2006/main">
            <a:off x="609600" y="429577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A58BFF"/>
                </a:solidFill>
                <a:latin typeface="Noto Sans"/>
                <a:ea typeface="Noto Sans"/>
                <a:cs typeface="Noto Sans"/>
              </a:defRPr>
            </a:pPr>
            <a:r>
              <a:rPr sz="1950" b="1">
                <a:solidFill>
                  <a:srgbClr val="A58BFF"/>
                </a:solidFill>
                <a:latin typeface="Noto Sans"/>
                <a:ea typeface="Noto Sans"/>
                <a:cs typeface="Noto Sans"/>
              </a:rPr>
              <a:t>Bearbeitung</a:t>
            </a:r>
          </a:p>
        </p:txBody>
      </p:sp>
      <p:sp>
        <p:nvSpPr>
          <p:cNvPr id="9" name="Quittierung, Notizen und Abschlussverlauf.">
            <a:extLst xmlns:a="http://schemas.openxmlformats.org/drawingml/2006/main">
              <a:ext uri="{FF2B5EF4-FFF2-40B4-BE49-F238E27FC236}">
                <a16:creationId xmlns:a16="http://schemas.microsoft.com/office/drawing/2014/main" id="{9F33BA6B-42B7-4A69-BF43-C5CF0EBE32F9}"/>
              </a:ext>
            </a:extLst>
          </p:cNvPr>
          <p:cNvSpPr>
            <a:spLocks xmlns:a="http://schemas.openxmlformats.org/drawingml/2006/main" noGrp="1"/>
          </p:cNvSpPr>
          <p:nvPr/>
        </p:nvSpPr>
        <p:spPr>
          <a:xfrm xmlns:a="http://schemas.openxmlformats.org/drawingml/2006/main">
            <a:off x="609600" y="4705350"/>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Quittierung, Notizen und Abschlussverlauf.</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d78a20758b14901"/>
          <a:srcRect xmlns:a="http://schemas.openxmlformats.org/drawingml/2006/main" l="21400" t="10500" r="3000" b="1500"/>
          <a:stretch xmlns:a="http://schemas.openxmlformats.org/drawingml/2006/main">
            <a:fillRect l="0" t="0" r="0" b="0"/>
          </a:stretch>
        </p:blipFill>
        <p:spPr>
          <a:xfrm xmlns:a="http://schemas.openxmlformats.org/drawingml/2006/main">
            <a:off x="4152900" y="1466850"/>
            <a:ext cx="7429500" cy="4762500"/>
          </a:xfrm>
          <a:prstGeom xmlns:a="http://schemas.openxmlformats.org/drawingml/2006/main" prst="rect">
            <a:avLst/>
          </a:prstGeom>
        </p:spPr>
      </p:pic>
      <p:sp>
        <p:nvSpPr>
          <p:cNvPr id="11" name="Die Anwendungsbilder zeigen Demonstrationsdaten.">
            <a:extLst xmlns:a="http://schemas.openxmlformats.org/drawingml/2006/main">
              <a:ext uri="{FF2B5EF4-FFF2-40B4-BE49-F238E27FC236}">
                <a16:creationId xmlns:a16="http://schemas.microsoft.com/office/drawing/2014/main" id="{C67F2F1A-4D56-403C-82CE-5CD5E183B116}"/>
              </a:ext>
            </a:extLst>
          </p:cNvPr>
          <p:cNvSpPr>
            <a:spLocks xmlns:a="http://schemas.openxmlformats.org/drawingml/2006/main" noGrp="1"/>
          </p:cNvSpPr>
          <p:nvPr/>
        </p:nvSpPr>
        <p:spPr>
          <a:xfrm xmlns:a="http://schemas.openxmlformats.org/drawingml/2006/main">
            <a:off x="4248150" y="62484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B8C7D8"/>
                </a:solidFill>
                <a:latin typeface="Noto Sans"/>
                <a:ea typeface="Noto Sans"/>
                <a:cs typeface="Noto Sans"/>
              </a:defRPr>
            </a:pPr>
            <a:r>
              <a:rPr sz="975" b="0">
                <a:solidFill>
                  <a:srgbClr val="B8C7D8"/>
                </a:solidFill>
                <a:latin typeface="Noto Sans"/>
                <a:ea typeface="Noto Sans"/>
                <a:cs typeface="Noto Sans"/>
              </a:rPr>
              <a:t>Die Anwendungsbilder zeigen Demonstrationsdaten.</a:t>
            </a:r>
          </a:p>
        </p:txBody>
      </p:sp>
      <p:sp>
        <p:nvSpPr>
          <p:cNvPr id="12" name="Grundlage sind erfasste Messwerte. Keine Live-Sensoranbindung.">
            <a:extLst xmlns:a="http://schemas.openxmlformats.org/drawingml/2006/main">
              <a:ext uri="{FF2B5EF4-FFF2-40B4-BE49-F238E27FC236}">
                <a16:creationId xmlns:a16="http://schemas.microsoft.com/office/drawing/2014/main" id="{E8F722B2-066D-4783-AAF3-D61846F85E3C}"/>
              </a:ext>
            </a:extLst>
          </p:cNvPr>
          <p:cNvSpPr>
            <a:spLocks xmlns:a="http://schemas.openxmlformats.org/drawingml/2006/main" noGrp="1"/>
          </p:cNvSpPr>
          <p:nvPr/>
        </p:nvSpPr>
        <p:spPr>
          <a:xfrm xmlns:a="http://schemas.openxmlformats.org/drawingml/2006/main">
            <a:off x="609600" y="5857875"/>
            <a:ext cx="315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EEF4FA"/>
                </a:solidFill>
                <a:latin typeface="Noto Sans"/>
                <a:ea typeface="Noto Sans"/>
                <a:cs typeface="Noto Sans"/>
              </a:defRPr>
            </a:pPr>
            <a:r>
              <a:rPr sz="1425" b="0">
                <a:solidFill>
                  <a:srgbClr val="EEF4FA"/>
                </a:solidFill>
                <a:latin typeface="Noto Sans"/>
                <a:ea typeface="Noto Sans"/>
                <a:cs typeface="Noto Sans"/>
              </a:rPr>
              <a:t>Grundlage sind erfasste Messwerte. Keine Live-Sensoranbindung.</a:t>
            </a:r>
          </a:p>
        </p:txBody>
      </p:sp>
    </p:spTree>
    <p:extLst>
      <p:ext uri="{BB962C8B-B14F-4D97-AF65-F5344CB8AC3E}">
        <p14:creationId xmlns:p14="http://schemas.microsoft.com/office/powerpoint/2010/main" val="1122941717"/>
      </p:ext>
    </p:extLst>
  </p:cSld>
</p:sld>
</file>

<file path=ppt/slides/slide8.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6" name="Rollen und Verantwortlichkeiten">
            <a:extLst xmlns:a="http://schemas.openxmlformats.org/drawingml/2006/main">
              <a:ext uri="{FF2B5EF4-FFF2-40B4-BE49-F238E27FC236}">
                <a16:creationId xmlns:a16="http://schemas.microsoft.com/office/drawing/2014/main" id="{2C690BDC-712B-4B77-B7CC-F9556BC5D769}"/>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Rollen und Verantwortlichkeiten</a:t>
            </a:r>
          </a:p>
        </p:txBody>
      </p:sp>
      <p:sp>
        <p:nvSpPr>
          <p:cNvPr id="2" name="NWTS">
            <a:extLst xmlns:a="http://schemas.openxmlformats.org/drawingml/2006/main">
              <a:ext uri="{FF2B5EF4-FFF2-40B4-BE49-F238E27FC236}">
                <a16:creationId xmlns:a16="http://schemas.microsoft.com/office/drawing/2014/main" id="{A2406346-8558-4F30-90AE-6DBD5F045269}"/>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08">
            <a:extLst xmlns:a="http://schemas.openxmlformats.org/drawingml/2006/main">
              <a:ext uri="{FF2B5EF4-FFF2-40B4-BE49-F238E27FC236}">
                <a16:creationId xmlns:a16="http://schemas.microsoft.com/office/drawing/2014/main" id="{BEBFEC4D-AA66-4BB6-A011-89B11FB47DF0}"/>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08</a:t>
            </a:r>
          </a:p>
        </p:txBody>
      </p:sp>
      <p:graphicFrame>
        <p:nvGraphicFramePr>
          <p:cNvPr id="9" name=""/>
          <p:cNvGraphicFramePr/>
          <p:nvPr/>
        </p:nvGraphicFramePr>
        <p:xfrm>
          <a:off xmlns:a="http://schemas.openxmlformats.org/drawingml/2006/main" x="609600" y="1847850"/>
          <a:ext xmlns:a="http://schemas.openxmlformats.org/drawingml/2006/main" cx="10972800" cy="3200400"/>
        </p:xfrm>
        <a:graphic xmlns:a="http://schemas.openxmlformats.org/drawingml/2006/main">
          <a:graphicData uri="http://schemas.openxmlformats.org/drawingml/2006/table">
            <a:tbl>
              <a:tblPr/>
              <a:tblGrid>
                <a:gridCol w="2428875"/>
                <a:gridCol w="2857500"/>
                <a:gridCol w="5686425"/>
              </a:tblGrid>
              <a:tr h="800100">
                <a:tc>
                  <a:txBody>
                    <a:bodyPr/>
                    <a:lstStyle/>
                    <a:p>
                      <a:r>
                        <a:rPr sz="2025" b="1">
                          <a:solidFill>
                            <a:srgbClr val="2BB8F2"/>
                          </a:solidFill>
                          <a:latin typeface="Noto Sans"/>
                          <a:ea typeface="Noto Sans"/>
                          <a:cs typeface="Noto Sans"/>
                        </a:rPr>
                        <a:t>Rolle</a:t>
                      </a:r>
                    </a:p>
                  </a:txBody>
                  <a:tcPr marL="152400" marR="133350" marT="114300" marB="95250" anchor="ctr">
                    <a:solidFill>
                      <a:srgbClr val="203A50"/>
                    </a:solidFill>
                  </a:tcPr>
                </a:tc>
                <a:tc>
                  <a:txBody>
                    <a:bodyPr/>
                    <a:lstStyle/>
                    <a:p>
                      <a:r>
                        <a:rPr sz="2025" b="1">
                          <a:solidFill>
                            <a:srgbClr val="2BB8F2"/>
                          </a:solidFill>
                          <a:latin typeface="Noto Sans"/>
                          <a:ea typeface="Noto Sans"/>
                          <a:cs typeface="Noto Sans"/>
                        </a:rPr>
                        <a:t>Arbeitsbereich</a:t>
                      </a:r>
                    </a:p>
                  </a:txBody>
                  <a:tcPr marL="152400" marR="133350" marT="114300" marB="95250" anchor="ctr">
                    <a:solidFill>
                      <a:srgbClr val="203A50"/>
                    </a:solidFill>
                  </a:tcPr>
                </a:tc>
                <a:tc>
                  <a:txBody>
                    <a:bodyPr/>
                    <a:lstStyle/>
                    <a:p>
                      <a:r>
                        <a:rPr sz="2025" b="1">
                          <a:solidFill>
                            <a:srgbClr val="2BB8F2"/>
                          </a:solidFill>
                          <a:latin typeface="Noto Sans"/>
                          <a:ea typeface="Noto Sans"/>
                          <a:cs typeface="Noto Sans"/>
                        </a:rPr>
                        <a:t>Hauptaufgabe</a:t>
                      </a:r>
                    </a:p>
                  </a:txBody>
                  <a:tcPr marL="152400" marR="133350" marT="114300" marB="95250" anchor="ctr">
                    <a:solidFill>
                      <a:srgbClr val="203A50"/>
                    </a:solidFill>
                  </a:tcPr>
                </a:tc>
              </a:tr>
              <a:tr h="800100">
                <a:tc>
                  <a:txBody>
                    <a:bodyPr/>
                    <a:lstStyle/>
                    <a:p>
                      <a:r>
                        <a:rPr sz="2025" b="0">
                          <a:solidFill>
                            <a:srgbClr val="EEF4FA"/>
                          </a:solidFill>
                          <a:latin typeface="Noto Sans"/>
                          <a:ea typeface="Noto Sans"/>
                          <a:cs typeface="Noto Sans"/>
                        </a:rPr>
                        <a:t>Mitarbeiter</a:t>
                      </a:r>
                    </a:p>
                  </a:txBody>
                  <a:tcPr marL="152400" marR="133350" marT="114300" marB="95250" anchor="ctr">
                    <a:solidFill>
                      <a:srgbClr val="12223A"/>
                    </a:solidFill>
                  </a:tcPr>
                </a:tc>
                <a:tc>
                  <a:txBody>
                    <a:bodyPr/>
                    <a:lstStyle/>
                    <a:p>
                      <a:r>
                        <a:rPr sz="2025" b="0">
                          <a:solidFill>
                            <a:srgbClr val="EEF4FA"/>
                          </a:solidFill>
                          <a:latin typeface="Noto Sans"/>
                          <a:ea typeface="Noto Sans"/>
                          <a:cs typeface="Noto Sans"/>
                        </a:rPr>
                        <a:t>Ein zugewiesener Schritt</a:t>
                      </a:r>
                    </a:p>
                  </a:txBody>
                  <a:tcPr marL="152400" marR="133350" marT="114300" marB="95250" anchor="ctr">
                    <a:solidFill>
                      <a:srgbClr val="12223A"/>
                    </a:solidFill>
                  </a:tcPr>
                </a:tc>
                <a:tc>
                  <a:txBody>
                    <a:bodyPr/>
                    <a:lstStyle/>
                    <a:p>
                      <a:r>
                        <a:rPr sz="2025" b="0">
                          <a:solidFill>
                            <a:srgbClr val="EEF4FA"/>
                          </a:solidFill>
                          <a:latin typeface="Noto Sans"/>
                          <a:ea typeface="Noto Sans"/>
                          <a:cs typeface="Noto Sans"/>
                        </a:rPr>
                        <a:t>Zulässige tägliche Aufgaben ausführen</a:t>
                      </a:r>
                    </a:p>
                  </a:txBody>
                  <a:tcPr marL="152400" marR="133350" marT="114300" marB="95250" anchor="ctr">
                    <a:solidFill>
                      <a:srgbClr val="12223A"/>
                    </a:solidFill>
                  </a:tcPr>
                </a:tc>
              </a:tr>
              <a:tr h="800100">
                <a:tc>
                  <a:txBody>
                    <a:bodyPr/>
                    <a:lstStyle/>
                    <a:p>
                      <a:r>
                        <a:rPr sz="2025" b="0">
                          <a:solidFill>
                            <a:srgbClr val="EEF4FA"/>
                          </a:solidFill>
                          <a:latin typeface="Noto Sans"/>
                          <a:ea typeface="Noto Sans"/>
                          <a:cs typeface="Noto Sans"/>
                        </a:rPr>
                        <a:t>Aufsicht</a:t>
                      </a:r>
                    </a:p>
                  </a:txBody>
                  <a:tcPr marL="152400" marR="133350" marT="114300" marB="95250" anchor="ctr">
                    <a:solidFill>
                      <a:srgbClr val="0A1422"/>
                    </a:solidFill>
                  </a:tcPr>
                </a:tc>
                <a:tc>
                  <a:txBody>
                    <a:bodyPr/>
                    <a:lstStyle/>
                    <a:p>
                      <a:r>
                        <a:rPr sz="2025" b="0">
                          <a:solidFill>
                            <a:srgbClr val="EEF4FA"/>
                          </a:solidFill>
                          <a:latin typeface="Noto Sans"/>
                          <a:ea typeface="Noto Sans"/>
                          <a:cs typeface="Noto Sans"/>
                        </a:rPr>
                        <a:t>Alle drei Schritte</a:t>
                      </a:r>
                    </a:p>
                  </a:txBody>
                  <a:tcPr marL="152400" marR="133350" marT="114300" marB="95250" anchor="ctr">
                    <a:solidFill>
                      <a:srgbClr val="0A1422"/>
                    </a:solidFill>
                  </a:tcPr>
                </a:tc>
                <a:tc>
                  <a:txBody>
                    <a:bodyPr/>
                    <a:lstStyle/>
                    <a:p>
                      <a:r>
                        <a:rPr sz="2025" b="0">
                          <a:solidFill>
                            <a:srgbClr val="EEF4FA"/>
                          </a:solidFill>
                          <a:latin typeface="Noto Sans"/>
                          <a:ea typeface="Noto Sans"/>
                          <a:cs typeface="Noto Sans"/>
                        </a:rPr>
                        <a:t>Arbeit überblicken und Mitarbeiterkonten anlegen</a:t>
                      </a:r>
                    </a:p>
                  </a:txBody>
                  <a:tcPr marL="152400" marR="133350" marT="114300" marB="95250" anchor="ctr">
                    <a:solidFill>
                      <a:srgbClr val="0A1422"/>
                    </a:solidFill>
                  </a:tcPr>
                </a:tc>
              </a:tr>
              <a:tr h="800100">
                <a:tc>
                  <a:txBody>
                    <a:bodyPr/>
                    <a:lstStyle/>
                    <a:p>
                      <a:r>
                        <a:rPr sz="2025" b="0">
                          <a:solidFill>
                            <a:srgbClr val="EEF4FA"/>
                          </a:solidFill>
                          <a:latin typeface="Noto Sans"/>
                          <a:ea typeface="Noto Sans"/>
                          <a:cs typeface="Noto Sans"/>
                        </a:rPr>
                        <a:t>Administrator</a:t>
                      </a:r>
                    </a:p>
                  </a:txBody>
                  <a:tcPr marL="152400" marR="133350" marT="114300" marB="95250" anchor="ctr">
                    <a:solidFill>
                      <a:srgbClr val="12223A"/>
                    </a:solidFill>
                  </a:tcPr>
                </a:tc>
                <a:tc>
                  <a:txBody>
                    <a:bodyPr/>
                    <a:lstStyle/>
                    <a:p>
                      <a:r>
                        <a:rPr sz="2025" b="0">
                          <a:solidFill>
                            <a:srgbClr val="EEF4FA"/>
                          </a:solidFill>
                          <a:latin typeface="Noto Sans"/>
                          <a:ea typeface="Noto Sans"/>
                          <a:cs typeface="Noto Sans"/>
                        </a:rPr>
                        <a:t>Alle drei Schritte</a:t>
                      </a:r>
                    </a:p>
                  </a:txBody>
                  <a:tcPr marL="152400" marR="133350" marT="114300" marB="95250" anchor="ctr">
                    <a:solidFill>
                      <a:srgbClr val="12223A"/>
                    </a:solidFill>
                  </a:tcPr>
                </a:tc>
                <a:tc>
                  <a:txBody>
                    <a:bodyPr/>
                    <a:lstStyle/>
                    <a:p>
                      <a:r>
                        <a:rPr sz="2025" b="0">
                          <a:solidFill>
                            <a:srgbClr val="EEF4FA"/>
                          </a:solidFill>
                          <a:latin typeface="Noto Sans"/>
                          <a:ea typeface="Noto Sans"/>
                          <a:cs typeface="Noto Sans"/>
                        </a:rPr>
                        <a:t>Konten, Stammdaten und geregelte Korrekturen verwalten</a:t>
                      </a:r>
                    </a:p>
                  </a:txBody>
                  <a:tcPr marL="152400" marR="133350" marT="114300" marB="95250" anchor="ctr">
                    <a:solidFill>
                      <a:srgbClr val="12223A"/>
                    </a:solidFill>
                  </a:tcPr>
                </a:tc>
              </a:tr>
            </a:tbl>
          </a:graphicData>
        </a:graphic>
      </p:graphicFrame>
      <p:sp>
        <p:nvSpPr>
          <p:cNvPr id="5" name="Jede Organisation hat eigene Daten. Rechte hängen auch von Aktion und ">
            <a:extLst xmlns:a="http://schemas.openxmlformats.org/drawingml/2006/main">
              <a:ext uri="{FF2B5EF4-FFF2-40B4-BE49-F238E27FC236}">
                <a16:creationId xmlns:a16="http://schemas.microsoft.com/office/drawing/2014/main" id="{EF283D50-F4B0-48EB-9F3A-8899265DCAB6}"/>
              </a:ext>
            </a:extLst>
          </p:cNvPr>
          <p:cNvSpPr>
            <a:spLocks xmlns:a="http://schemas.openxmlformats.org/drawingml/2006/main" noGrp="1"/>
          </p:cNvSpPr>
          <p:nvPr/>
        </p:nvSpPr>
        <p:spPr>
          <a:xfrm xmlns:a="http://schemas.openxmlformats.org/drawingml/2006/main">
            <a:off x="609600" y="5486400"/>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B8C7D8"/>
                </a:solidFill>
                <a:latin typeface="Noto Sans"/>
                <a:ea typeface="Noto Sans"/>
                <a:cs typeface="Noto Sans"/>
              </a:defRPr>
            </a:pPr>
            <a:r>
              <a:rPr sz="1800" b="0">
                <a:solidFill>
                  <a:srgbClr val="B8C7D8"/>
                </a:solidFill>
                <a:latin typeface="Noto Sans"/>
                <a:ea typeface="Noto Sans"/>
                <a:cs typeface="Noto Sans"/>
              </a:rPr>
              <a:t>Jede Organisation hat eigene Daten. Rechte hängen auch von Aktion und Datensatzstatus ab.</a:t>
            </a:r>
          </a:p>
        </p:txBody>
      </p:sp>
    </p:spTree>
    <p:extLst>
      <p:ext uri="{BB962C8B-B14F-4D97-AF65-F5344CB8AC3E}">
        <p14:creationId xmlns:p14="http://schemas.microsoft.com/office/powerpoint/2010/main" val="648047594"/>
      </p:ext>
    </p:extLst>
  </p:cSld>
</p:sld>
</file>

<file path=ppt/slides/slide9.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16" name="Aktueller Umfang und Weiterentwicklung">
            <a:extLst xmlns:a="http://schemas.openxmlformats.org/drawingml/2006/main">
              <a:ext uri="{FF2B5EF4-FFF2-40B4-BE49-F238E27FC236}">
                <a16:creationId xmlns:a16="http://schemas.microsoft.com/office/drawing/2014/main" id="{FF13D8F8-1712-4B98-90E7-116C31FADE3C}"/>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Aktueller Umfang und Weiterentwicklung</a:t>
            </a:r>
          </a:p>
        </p:txBody>
      </p:sp>
      <p:sp>
        <p:nvSpPr>
          <p:cNvPr id="2" name="NWTS">
            <a:extLst xmlns:a="http://schemas.openxmlformats.org/drawingml/2006/main">
              <a:ext uri="{FF2B5EF4-FFF2-40B4-BE49-F238E27FC236}">
                <a16:creationId xmlns:a16="http://schemas.microsoft.com/office/drawing/2014/main" id="{5F7211EF-4FAC-4E42-9B39-FD21752D7B34}"/>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09">
            <a:extLst xmlns:a="http://schemas.openxmlformats.org/drawingml/2006/main">
              <a:ext uri="{FF2B5EF4-FFF2-40B4-BE49-F238E27FC236}">
                <a16:creationId xmlns:a16="http://schemas.microsoft.com/office/drawing/2014/main" id="{0492ECEA-4530-48C1-B5A3-A5405090732F}"/>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09</a:t>
            </a:r>
          </a:p>
        </p:txBody>
      </p:sp>
      <p:sp>
        <p:nvSpPr>
          <p:cNvPr id="4" name="Im Prototyp verfügbar">
            <a:extLst xmlns:a="http://schemas.openxmlformats.org/drawingml/2006/main">
              <a:ext uri="{FF2B5EF4-FFF2-40B4-BE49-F238E27FC236}">
                <a16:creationId xmlns:a16="http://schemas.microsoft.com/office/drawing/2014/main" id="{E4BA67D8-9BE8-4F2A-875A-934CF2037C33}"/>
              </a:ext>
            </a:extLst>
          </p:cNvPr>
          <p:cNvSpPr>
            <a:spLocks xmlns:a="http://schemas.openxmlformats.org/drawingml/2006/main" noGrp="1"/>
          </p:cNvSpPr>
          <p:nvPr/>
        </p:nvSpPr>
        <p:spPr>
          <a:xfrm xmlns:a="http://schemas.openxmlformats.org/drawingml/2006/main">
            <a:off x="609600" y="175260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ED3A0"/>
                </a:solidFill>
                <a:latin typeface="Noto Sans"/>
                <a:ea typeface="Noto Sans"/>
                <a:cs typeface="Noto Sans"/>
              </a:defRPr>
            </a:pPr>
            <a:r>
              <a:rPr sz="2100" b="1">
                <a:solidFill>
                  <a:srgbClr val="2ED3A0"/>
                </a:solidFill>
                <a:latin typeface="Noto Sans"/>
                <a:ea typeface="Noto Sans"/>
                <a:cs typeface="Noto Sans"/>
              </a:rPr>
              <a:t>Im Prototyp verfügbar</a:t>
            </a:r>
          </a:p>
        </p:txBody>
      </p:sp>
      <p:sp>
        <p:nvSpPr>
          <p:cNvPr id="5" name="Mit Pilotpartner zu klären">
            <a:extLst xmlns:a="http://schemas.openxmlformats.org/drawingml/2006/main">
              <a:ext uri="{FF2B5EF4-FFF2-40B4-BE49-F238E27FC236}">
                <a16:creationId xmlns:a16="http://schemas.microsoft.com/office/drawing/2014/main" id="{B96F7D33-03E3-462F-9DFD-5C8127743E1C}"/>
              </a:ext>
            </a:extLst>
          </p:cNvPr>
          <p:cNvSpPr>
            <a:spLocks xmlns:a="http://schemas.openxmlformats.org/drawingml/2006/main" noGrp="1"/>
          </p:cNvSpPr>
          <p:nvPr/>
        </p:nvSpPr>
        <p:spPr>
          <a:xfrm xmlns:a="http://schemas.openxmlformats.org/drawingml/2006/main">
            <a:off x="6419850" y="1752600"/>
            <a:ext cx="5162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A58BFF"/>
                </a:solidFill>
                <a:latin typeface="Noto Sans"/>
                <a:ea typeface="Noto Sans"/>
                <a:cs typeface="Noto Sans"/>
              </a:defRPr>
            </a:pPr>
            <a:r>
              <a:rPr sz="2100" b="1">
                <a:solidFill>
                  <a:srgbClr val="A58BFF"/>
                </a:solidFill>
                <a:latin typeface="Noto Sans"/>
                <a:ea typeface="Noto Sans"/>
                <a:cs typeface="Noto Sans"/>
              </a:rPr>
              <a:t>Mit Pilotpartner zu klären</a:t>
            </a:r>
          </a:p>
        </p:txBody>
      </p:sp>
      <p:sp>
        <p:nvSpPr>
          <p:cNvPr id="6" name="Drei operative Arbeitsbereiche">
            <a:extLst xmlns:a="http://schemas.openxmlformats.org/drawingml/2006/main">
              <a:ext uri="{FF2B5EF4-FFF2-40B4-BE49-F238E27FC236}">
                <a16:creationId xmlns:a16="http://schemas.microsoft.com/office/drawing/2014/main" id="{0F3E70B9-3D8F-4A53-9FCB-F1002AAFEB4B}"/>
              </a:ext>
            </a:extLst>
          </p:cNvPr>
          <p:cNvSpPr>
            <a:spLocks xmlns:a="http://schemas.openxmlformats.org/drawingml/2006/main" noGrp="1"/>
          </p:cNvSpPr>
          <p:nvPr/>
        </p:nvSpPr>
        <p:spPr>
          <a:xfrm xmlns:a="http://schemas.openxmlformats.org/drawingml/2006/main">
            <a:off x="609600" y="2657475"/>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Drei operative Arbeitsbereiche</a:t>
            </a:r>
          </a:p>
        </p:txBody>
      </p:sp>
      <p:sp>
        <p:nvSpPr>
          <p:cNvPr id="7" name="Annahme- und Transferdatensätze">
            <a:extLst xmlns:a="http://schemas.openxmlformats.org/drawingml/2006/main">
              <a:ext uri="{FF2B5EF4-FFF2-40B4-BE49-F238E27FC236}">
                <a16:creationId xmlns:a16="http://schemas.microsoft.com/office/drawing/2014/main" id="{C727D64D-0C90-45CC-A9F0-46B7F6856EBF}"/>
              </a:ext>
            </a:extLst>
          </p:cNvPr>
          <p:cNvSpPr>
            <a:spLocks xmlns:a="http://schemas.openxmlformats.org/drawingml/2006/main" noGrp="1"/>
          </p:cNvSpPr>
          <p:nvPr/>
        </p:nvSpPr>
        <p:spPr>
          <a:xfrm xmlns:a="http://schemas.openxmlformats.org/drawingml/2006/main">
            <a:off x="609600" y="3190875"/>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Annahme- und Transferdatensätze</a:t>
            </a:r>
          </a:p>
        </p:txBody>
      </p:sp>
      <p:sp>
        <p:nvSpPr>
          <p:cNvPr id="8" name="Messwerterfassung und Alarmbearbeitung">
            <a:extLst xmlns:a="http://schemas.openxmlformats.org/drawingml/2006/main">
              <a:ext uri="{FF2B5EF4-FFF2-40B4-BE49-F238E27FC236}">
                <a16:creationId xmlns:a16="http://schemas.microsoft.com/office/drawing/2014/main" id="{3BCAFF57-87FF-48E3-94CF-55CC5E61B0ED}"/>
              </a:ext>
            </a:extLst>
          </p:cNvPr>
          <p:cNvSpPr>
            <a:spLocks xmlns:a="http://schemas.openxmlformats.org/drawingml/2006/main" noGrp="1"/>
          </p:cNvSpPr>
          <p:nvPr/>
        </p:nvSpPr>
        <p:spPr>
          <a:xfrm xmlns:a="http://schemas.openxmlformats.org/drawingml/2006/main">
            <a:off x="609600" y="3724275"/>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Messwerterfassung und Alarmbearbeitung</a:t>
            </a:r>
          </a:p>
        </p:txBody>
      </p:sp>
      <p:sp>
        <p:nvSpPr>
          <p:cNvPr id="9" name="Bestandsprüfung und Korrekturberichte">
            <a:extLst xmlns:a="http://schemas.openxmlformats.org/drawingml/2006/main">
              <a:ext uri="{FF2B5EF4-FFF2-40B4-BE49-F238E27FC236}">
                <a16:creationId xmlns:a16="http://schemas.microsoft.com/office/drawing/2014/main" id="{DF802E24-8079-434E-812D-7F3A27612362}"/>
              </a:ext>
            </a:extLst>
          </p:cNvPr>
          <p:cNvSpPr>
            <a:spLocks xmlns:a="http://schemas.openxmlformats.org/drawingml/2006/main" noGrp="1"/>
          </p:cNvSpPr>
          <p:nvPr/>
        </p:nvSpPr>
        <p:spPr>
          <a:xfrm xmlns:a="http://schemas.openxmlformats.org/drawingml/2006/main">
            <a:off x="609600" y="4257675"/>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Bestandsprüfung und Korrekturberichte</a:t>
            </a:r>
          </a:p>
        </p:txBody>
      </p:sp>
      <p:sp>
        <p:nvSpPr>
          <p:cNvPr id="10" name="Organisationszugriff und Benutzerrollen">
            <a:extLst xmlns:a="http://schemas.openxmlformats.org/drawingml/2006/main">
              <a:ext uri="{FF2B5EF4-FFF2-40B4-BE49-F238E27FC236}">
                <a16:creationId xmlns:a16="http://schemas.microsoft.com/office/drawing/2014/main" id="{1965C11D-29A0-4D1D-A35C-FB8D005CEB7A}"/>
              </a:ext>
            </a:extLst>
          </p:cNvPr>
          <p:cNvSpPr>
            <a:spLocks xmlns:a="http://schemas.openxmlformats.org/drawingml/2006/main" noGrp="1"/>
          </p:cNvSpPr>
          <p:nvPr/>
        </p:nvSpPr>
        <p:spPr>
          <a:xfrm xmlns:a="http://schemas.openxmlformats.org/drawingml/2006/main">
            <a:off x="609600" y="4791075"/>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Organisationszugriff und Benutzerrollen</a:t>
            </a:r>
          </a:p>
        </p:txBody>
      </p:sp>
      <p:sp>
        <p:nvSpPr>
          <p:cNvPr id="11" name="Einzelverfolgung physischer Container">
            <a:extLst xmlns:a="http://schemas.openxmlformats.org/drawingml/2006/main">
              <a:ext uri="{FF2B5EF4-FFF2-40B4-BE49-F238E27FC236}">
                <a16:creationId xmlns:a16="http://schemas.microsoft.com/office/drawing/2014/main" id="{F9E7B437-CA70-4F9D-9B5D-0524173EC683}"/>
              </a:ext>
            </a:extLst>
          </p:cNvPr>
          <p:cNvSpPr>
            <a:spLocks xmlns:a="http://schemas.openxmlformats.org/drawingml/2006/main" noGrp="1"/>
          </p:cNvSpPr>
          <p:nvPr/>
        </p:nvSpPr>
        <p:spPr>
          <a:xfrm xmlns:a="http://schemas.openxmlformats.org/drawingml/2006/main">
            <a:off x="6419850" y="2657475"/>
            <a:ext cx="5162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Einzelverfolgung physischer Container</a:t>
            </a:r>
          </a:p>
        </p:txBody>
      </p:sp>
      <p:sp>
        <p:nvSpPr>
          <p:cNvPr id="12" name="Sensor- und Fremdsystemanbindung">
            <a:extLst xmlns:a="http://schemas.openxmlformats.org/drawingml/2006/main">
              <a:ext uri="{FF2B5EF4-FFF2-40B4-BE49-F238E27FC236}">
                <a16:creationId xmlns:a16="http://schemas.microsoft.com/office/drawing/2014/main" id="{75E04F3B-4BA4-417F-9B32-7D48835F9DFB}"/>
              </a:ext>
            </a:extLst>
          </p:cNvPr>
          <p:cNvSpPr>
            <a:spLocks xmlns:a="http://schemas.openxmlformats.org/drawingml/2006/main" noGrp="1"/>
          </p:cNvSpPr>
          <p:nvPr/>
        </p:nvSpPr>
        <p:spPr>
          <a:xfrm xmlns:a="http://schemas.openxmlformats.org/drawingml/2006/main">
            <a:off x="6419850" y="3333750"/>
            <a:ext cx="5162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Sensor- und Fremdsystemanbindung</a:t>
            </a:r>
          </a:p>
        </p:txBody>
      </p:sp>
      <p:sp>
        <p:nvSpPr>
          <p:cNvPr id="13" name="Benachrichtigungen im Hintergrund">
            <a:extLst xmlns:a="http://schemas.openxmlformats.org/drawingml/2006/main">
              <a:ext uri="{FF2B5EF4-FFF2-40B4-BE49-F238E27FC236}">
                <a16:creationId xmlns:a16="http://schemas.microsoft.com/office/drawing/2014/main" id="{380E4CFF-54EB-455F-82C2-641CEEAE47D8}"/>
              </a:ext>
            </a:extLst>
          </p:cNvPr>
          <p:cNvSpPr>
            <a:spLocks xmlns:a="http://schemas.openxmlformats.org/drawingml/2006/main" noGrp="1"/>
          </p:cNvSpPr>
          <p:nvPr/>
        </p:nvSpPr>
        <p:spPr>
          <a:xfrm xmlns:a="http://schemas.openxmlformats.org/drawingml/2006/main">
            <a:off x="6419850" y="4010025"/>
            <a:ext cx="5162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Benachrichtigungen im Hintergrund</a:t>
            </a:r>
          </a:p>
        </p:txBody>
      </p:sp>
      <p:sp>
        <p:nvSpPr>
          <p:cNvPr id="14" name="Standortvalidierung und Bereitstellung">
            <a:extLst xmlns:a="http://schemas.openxmlformats.org/drawingml/2006/main">
              <a:ext uri="{FF2B5EF4-FFF2-40B4-BE49-F238E27FC236}">
                <a16:creationId xmlns:a16="http://schemas.microsoft.com/office/drawing/2014/main" id="{3A2E7933-4600-4A66-A7C4-230C14F89B50}"/>
              </a:ext>
            </a:extLst>
          </p:cNvPr>
          <p:cNvSpPr>
            <a:spLocks xmlns:a="http://schemas.openxmlformats.org/drawingml/2006/main" noGrp="1"/>
          </p:cNvSpPr>
          <p:nvPr/>
        </p:nvSpPr>
        <p:spPr>
          <a:xfrm xmlns:a="http://schemas.openxmlformats.org/drawingml/2006/main">
            <a:off x="6419850" y="4686300"/>
            <a:ext cx="5162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Standortvalidierung und Bereitstellung</a:t>
            </a:r>
          </a:p>
        </p:txBody>
      </p:sp>
      <p:sp>
        <p:nvSpPr>
          <p:cNvPr id="15" name="Ein Pilot prüft den vereinbarten Ablauf mit Demo- oder freigegebenen T">
            <a:extLst xmlns:a="http://schemas.openxmlformats.org/drawingml/2006/main">
              <a:ext uri="{FF2B5EF4-FFF2-40B4-BE49-F238E27FC236}">
                <a16:creationId xmlns:a16="http://schemas.microsoft.com/office/drawing/2014/main" id="{35425BA6-BB1F-47EB-B8EB-621697C17400}"/>
              </a:ext>
            </a:extLst>
          </p:cNvPr>
          <p:cNvSpPr>
            <a:spLocks xmlns:a="http://schemas.openxmlformats.org/drawingml/2006/main" noGrp="1"/>
          </p:cNvSpPr>
          <p:nvPr/>
        </p:nvSpPr>
        <p:spPr>
          <a:xfrm xmlns:a="http://schemas.openxmlformats.org/drawingml/2006/main">
            <a:off x="609600" y="5848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B8C7D8"/>
                </a:solidFill>
                <a:latin typeface="Noto Sans"/>
                <a:ea typeface="Noto Sans"/>
                <a:cs typeface="Noto Sans"/>
              </a:defRPr>
            </a:pPr>
            <a:r>
              <a:rPr sz="1650" b="0">
                <a:solidFill>
                  <a:srgbClr val="B8C7D8"/>
                </a:solidFill>
                <a:latin typeface="Noto Sans"/>
                <a:ea typeface="Noto Sans"/>
                <a:cs typeface="Noto Sans"/>
              </a:rPr>
              <a:t>Ein Pilot prüft den vereinbarten Ablauf mit Demo- oder freigegebenen Testdaten.</a:t>
            </a:r>
          </a:p>
        </p:txBody>
      </p:sp>
    </p:spTree>
    <p:extLst>
      <p:ext uri="{BB962C8B-B14F-4D97-AF65-F5344CB8AC3E}">
        <p14:creationId xmlns:p14="http://schemas.microsoft.com/office/powerpoint/2010/main" val="1457385316"/>
      </p:ext>
    </p:extLst>
  </p:cSld>
</p:sld>
</file>

<file path=ppt/slides/slide10.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15" name="Ein klar abgegrenzter Pilot">
            <a:extLst xmlns:a="http://schemas.openxmlformats.org/drawingml/2006/main">
              <a:ext uri="{FF2B5EF4-FFF2-40B4-BE49-F238E27FC236}">
                <a16:creationId xmlns:a16="http://schemas.microsoft.com/office/drawing/2014/main" id="{B29BB311-88C3-49F5-AAA8-5B8FEA074B33}"/>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Ein klar abgegrenzter Pilot</a:t>
            </a:r>
          </a:p>
        </p:txBody>
      </p:sp>
      <p:sp>
        <p:nvSpPr>
          <p:cNvPr id="2" name="NWTS">
            <a:extLst xmlns:a="http://schemas.openxmlformats.org/drawingml/2006/main">
              <a:ext uri="{FF2B5EF4-FFF2-40B4-BE49-F238E27FC236}">
                <a16:creationId xmlns:a16="http://schemas.microsoft.com/office/drawing/2014/main" id="{1195FA47-BB17-4346-98A3-B26A571C3699}"/>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10">
            <a:extLst xmlns:a="http://schemas.openxmlformats.org/drawingml/2006/main">
              <a:ext uri="{FF2B5EF4-FFF2-40B4-BE49-F238E27FC236}">
                <a16:creationId xmlns:a16="http://schemas.microsoft.com/office/drawing/2014/main" id="{13CD4746-D95A-410F-BC76-5D9E5D7CC439}"/>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10</a:t>
            </a:r>
          </a:p>
        </p:txBody>
      </p:sp>
      <p:sp>
        <p:nvSpPr>
          <p:cNvPr id="4" name="Eine Organisation. Ein vereinbarter Ablauf. Klare Abnahmekriterien.">
            <a:extLst xmlns:a="http://schemas.openxmlformats.org/drawingml/2006/main">
              <a:ext uri="{FF2B5EF4-FFF2-40B4-BE49-F238E27FC236}">
                <a16:creationId xmlns:a16="http://schemas.microsoft.com/office/drawing/2014/main" id="{7D0AA8A6-BC55-4154-B235-AAC6FFE674F6}"/>
              </a:ext>
            </a:extLst>
          </p:cNvPr>
          <p:cNvSpPr>
            <a:spLocks xmlns:a="http://schemas.openxmlformats.org/drawingml/2006/main" noGrp="1"/>
          </p:cNvSpPr>
          <p:nvPr/>
        </p:nvSpPr>
        <p:spPr>
          <a:xfrm xmlns:a="http://schemas.openxmlformats.org/drawingml/2006/main">
            <a:off x="609600" y="15240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B8C7D8"/>
                </a:solidFill>
                <a:latin typeface="Noto Sans"/>
                <a:ea typeface="Noto Sans"/>
                <a:cs typeface="Noto Sans"/>
              </a:defRPr>
            </a:pPr>
            <a:r>
              <a:rPr sz="2325" b="0">
                <a:solidFill>
                  <a:srgbClr val="B8C7D8"/>
                </a:solidFill>
                <a:latin typeface="Noto Sans"/>
                <a:ea typeface="Noto Sans"/>
                <a:cs typeface="Noto Sans"/>
              </a:rPr>
              <a:t>Eine Organisation. Ein vereinbarter Ablauf. Klare Abnahmekriterien.</a:t>
            </a:r>
          </a:p>
        </p:txBody>
      </p:sp>
      <p:sp>
        <p:nvSpPr>
          <p:cNvPr id="5" name="1">
            <a:extLst xmlns:a="http://schemas.openxmlformats.org/drawingml/2006/main">
              <a:ext uri="{FF2B5EF4-FFF2-40B4-BE49-F238E27FC236}">
                <a16:creationId xmlns:a16="http://schemas.microsoft.com/office/drawing/2014/main" id="{811740F1-EFDE-4441-B665-C821371336A4}"/>
              </a:ext>
            </a:extLst>
          </p:cNvPr>
          <p:cNvSpPr>
            <a:spLocks xmlns:a="http://schemas.openxmlformats.org/drawingml/2006/main" noGrp="1"/>
          </p:cNvSpPr>
          <p:nvPr/>
        </p:nvSpPr>
        <p:spPr>
          <a:xfrm xmlns:a="http://schemas.openxmlformats.org/drawingml/2006/main">
            <a:off x="609600" y="26860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2BB8F2"/>
                </a:solidFill>
                <a:latin typeface="Noto Sans"/>
                <a:ea typeface="Noto Sans"/>
                <a:cs typeface="Noto Sans"/>
              </a:defRPr>
            </a:pPr>
            <a:r>
              <a:rPr sz="2925" b="1">
                <a:solidFill>
                  <a:srgbClr val="2BB8F2"/>
                </a:solidFill>
                <a:latin typeface="Noto Sans"/>
                <a:ea typeface="Noto Sans"/>
                <a:cs typeface="Noto Sans"/>
              </a:rPr>
              <a:t>1</a:t>
            </a:r>
          </a:p>
        </p:txBody>
      </p:sp>
      <p:sp>
        <p:nvSpPr>
          <p:cNvPr id="6" name="Ablauf abstimmen">
            <a:extLst xmlns:a="http://schemas.openxmlformats.org/drawingml/2006/main">
              <a:ext uri="{FF2B5EF4-FFF2-40B4-BE49-F238E27FC236}">
                <a16:creationId xmlns:a16="http://schemas.microsoft.com/office/drawing/2014/main" id="{677F60E4-03E8-40ED-B007-970B118A3D85}"/>
              </a:ext>
            </a:extLst>
          </p:cNvPr>
          <p:cNvSpPr>
            <a:spLocks xmlns:a="http://schemas.openxmlformats.org/drawingml/2006/main" noGrp="1"/>
          </p:cNvSpPr>
          <p:nvPr/>
        </p:nvSpPr>
        <p:spPr>
          <a:xfrm xmlns:a="http://schemas.openxmlformats.org/drawingml/2006/main">
            <a:off x="1428750" y="26955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EEF4FA"/>
                </a:solidFill>
                <a:latin typeface="Noto Sans"/>
                <a:ea typeface="Noto Sans"/>
                <a:cs typeface="Noto Sans"/>
              </a:defRPr>
            </a:pPr>
            <a:r>
              <a:rPr sz="2100" b="1">
                <a:solidFill>
                  <a:srgbClr val="EEF4FA"/>
                </a:solidFill>
                <a:latin typeface="Noto Sans"/>
                <a:ea typeface="Noto Sans"/>
                <a:cs typeface="Noto Sans"/>
              </a:rPr>
              <a:t>Ablauf abstimmen</a:t>
            </a:r>
          </a:p>
        </p:txBody>
      </p:sp>
      <p:sp>
        <p:nvSpPr>
          <p:cNvPr id="7" name="Begriffe, Rollen, Standorte und benötigte Nachweise klären.">
            <a:extLst xmlns:a="http://schemas.openxmlformats.org/drawingml/2006/main">
              <a:ext uri="{FF2B5EF4-FFF2-40B4-BE49-F238E27FC236}">
                <a16:creationId xmlns:a16="http://schemas.microsoft.com/office/drawing/2014/main" id="{3F6ABEDE-391A-435A-B64E-1028C2C7C286}"/>
              </a:ext>
            </a:extLst>
          </p:cNvPr>
          <p:cNvSpPr>
            <a:spLocks xmlns:a="http://schemas.openxmlformats.org/drawingml/2006/main" noGrp="1"/>
          </p:cNvSpPr>
          <p:nvPr/>
        </p:nvSpPr>
        <p:spPr>
          <a:xfrm xmlns:a="http://schemas.openxmlformats.org/drawingml/2006/main">
            <a:off x="5314950" y="2714625"/>
            <a:ext cx="6267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B8C7D8"/>
                </a:solidFill>
                <a:latin typeface="Noto Sans"/>
                <a:ea typeface="Noto Sans"/>
                <a:cs typeface="Noto Sans"/>
              </a:defRPr>
            </a:pPr>
            <a:r>
              <a:rPr sz="1875" b="0">
                <a:solidFill>
                  <a:srgbClr val="B8C7D8"/>
                </a:solidFill>
                <a:latin typeface="Noto Sans"/>
                <a:ea typeface="Noto Sans"/>
                <a:cs typeface="Noto Sans"/>
              </a:rPr>
              <a:t>Begriffe, Rollen, Standorte und benötigte Nachweise klären.</a:t>
            </a:r>
          </a:p>
        </p:txBody>
      </p:sp>
      <p:sp>
        <p:nvSpPr>
          <p:cNvPr id="8" name="2">
            <a:extLst xmlns:a="http://schemas.openxmlformats.org/drawingml/2006/main">
              <a:ext uri="{FF2B5EF4-FFF2-40B4-BE49-F238E27FC236}">
                <a16:creationId xmlns:a16="http://schemas.microsoft.com/office/drawing/2014/main" id="{BC1A5E06-32FC-487C-8BF7-89B929C6BF90}"/>
              </a:ext>
            </a:extLst>
          </p:cNvPr>
          <p:cNvSpPr>
            <a:spLocks xmlns:a="http://schemas.openxmlformats.org/drawingml/2006/main" noGrp="1"/>
          </p:cNvSpPr>
          <p:nvPr/>
        </p:nvSpPr>
        <p:spPr>
          <a:xfrm xmlns:a="http://schemas.openxmlformats.org/drawingml/2006/main">
            <a:off x="609600" y="369570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2ED3A0"/>
                </a:solidFill>
                <a:latin typeface="Noto Sans"/>
                <a:ea typeface="Noto Sans"/>
                <a:cs typeface="Noto Sans"/>
              </a:defRPr>
            </a:pPr>
            <a:r>
              <a:rPr sz="2925" b="1">
                <a:solidFill>
                  <a:srgbClr val="2ED3A0"/>
                </a:solidFill>
                <a:latin typeface="Noto Sans"/>
                <a:ea typeface="Noto Sans"/>
                <a:cs typeface="Noto Sans"/>
              </a:rPr>
              <a:t>2</a:t>
            </a:r>
          </a:p>
        </p:txBody>
      </p:sp>
      <p:sp>
        <p:nvSpPr>
          <p:cNvPr id="9" name="Demonstration durchführen">
            <a:extLst xmlns:a="http://schemas.openxmlformats.org/drawingml/2006/main">
              <a:ext uri="{FF2B5EF4-FFF2-40B4-BE49-F238E27FC236}">
                <a16:creationId xmlns:a16="http://schemas.microsoft.com/office/drawing/2014/main" id="{BA2593E1-9ECC-4544-BB8C-8F5DFE7F60FE}"/>
              </a:ext>
            </a:extLst>
          </p:cNvPr>
          <p:cNvSpPr>
            <a:spLocks xmlns:a="http://schemas.openxmlformats.org/drawingml/2006/main" noGrp="1"/>
          </p:cNvSpPr>
          <p:nvPr/>
        </p:nvSpPr>
        <p:spPr>
          <a:xfrm xmlns:a="http://schemas.openxmlformats.org/drawingml/2006/main">
            <a:off x="1428750" y="370522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EEF4FA"/>
                </a:solidFill>
                <a:latin typeface="Noto Sans"/>
                <a:ea typeface="Noto Sans"/>
                <a:cs typeface="Noto Sans"/>
              </a:defRPr>
            </a:pPr>
            <a:r>
              <a:rPr sz="2100" b="1">
                <a:solidFill>
                  <a:srgbClr val="EEF4FA"/>
                </a:solidFill>
                <a:latin typeface="Noto Sans"/>
                <a:ea typeface="Noto Sans"/>
                <a:cs typeface="Noto Sans"/>
              </a:rPr>
              <a:t>Demonstration durchführen</a:t>
            </a:r>
          </a:p>
        </p:txBody>
      </p:sp>
      <p:sp>
        <p:nvSpPr>
          <p:cNvPr id="10" name="Eine Beispielsendung durch Annahme und Transfer begleiten.">
            <a:extLst xmlns:a="http://schemas.openxmlformats.org/drawingml/2006/main">
              <a:ext uri="{FF2B5EF4-FFF2-40B4-BE49-F238E27FC236}">
                <a16:creationId xmlns:a16="http://schemas.microsoft.com/office/drawing/2014/main" id="{064A7E43-2C1E-4542-91F4-C14C0EEED984}"/>
              </a:ext>
            </a:extLst>
          </p:cNvPr>
          <p:cNvSpPr>
            <a:spLocks xmlns:a="http://schemas.openxmlformats.org/drawingml/2006/main" noGrp="1"/>
          </p:cNvSpPr>
          <p:nvPr/>
        </p:nvSpPr>
        <p:spPr>
          <a:xfrm xmlns:a="http://schemas.openxmlformats.org/drawingml/2006/main">
            <a:off x="5314950" y="3724275"/>
            <a:ext cx="6267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B8C7D8"/>
                </a:solidFill>
                <a:latin typeface="Noto Sans"/>
                <a:ea typeface="Noto Sans"/>
                <a:cs typeface="Noto Sans"/>
              </a:defRPr>
            </a:pPr>
            <a:r>
              <a:rPr sz="1875" b="0">
                <a:solidFill>
                  <a:srgbClr val="B8C7D8"/>
                </a:solidFill>
                <a:latin typeface="Noto Sans"/>
                <a:ea typeface="Noto Sans"/>
                <a:cs typeface="Noto Sans"/>
              </a:rPr>
              <a:t>Eine Beispielsendung durch Annahme und Transfer begleiten.</a:t>
            </a:r>
          </a:p>
        </p:txBody>
      </p:sp>
      <p:sp>
        <p:nvSpPr>
          <p:cNvPr id="11" name="3">
            <a:extLst xmlns:a="http://schemas.openxmlformats.org/drawingml/2006/main">
              <a:ext uri="{FF2B5EF4-FFF2-40B4-BE49-F238E27FC236}">
                <a16:creationId xmlns:a16="http://schemas.microsoft.com/office/drawing/2014/main" id="{6DF91A2C-F19D-4CEB-A13A-1416E670BB97}"/>
              </a:ext>
            </a:extLst>
          </p:cNvPr>
          <p:cNvSpPr>
            <a:spLocks xmlns:a="http://schemas.openxmlformats.org/drawingml/2006/main" noGrp="1"/>
          </p:cNvSpPr>
          <p:nvPr/>
        </p:nvSpPr>
        <p:spPr>
          <a:xfrm xmlns:a="http://schemas.openxmlformats.org/drawingml/2006/main">
            <a:off x="609600" y="47053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A58BFF"/>
                </a:solidFill>
                <a:latin typeface="Noto Sans"/>
                <a:ea typeface="Noto Sans"/>
                <a:cs typeface="Noto Sans"/>
              </a:defRPr>
            </a:pPr>
            <a:r>
              <a:rPr sz="2925" b="1">
                <a:solidFill>
                  <a:srgbClr val="A58BFF"/>
                </a:solidFill>
                <a:latin typeface="Noto Sans"/>
                <a:ea typeface="Noto Sans"/>
                <a:cs typeface="Noto Sans"/>
              </a:rPr>
              <a:t>3</a:t>
            </a:r>
          </a:p>
        </p:txBody>
      </p:sp>
      <p:sp>
        <p:nvSpPr>
          <p:cNvPr id="12" name="Ergebnis gemeinsam prüfen">
            <a:extLst xmlns:a="http://schemas.openxmlformats.org/drawingml/2006/main">
              <a:ext uri="{FF2B5EF4-FFF2-40B4-BE49-F238E27FC236}">
                <a16:creationId xmlns:a16="http://schemas.microsoft.com/office/drawing/2014/main" id="{1502DD8A-9EA2-43EF-B296-A2034F136D24}"/>
              </a:ext>
            </a:extLst>
          </p:cNvPr>
          <p:cNvSpPr>
            <a:spLocks xmlns:a="http://schemas.openxmlformats.org/drawingml/2006/main" noGrp="1"/>
          </p:cNvSpPr>
          <p:nvPr/>
        </p:nvSpPr>
        <p:spPr>
          <a:xfrm xmlns:a="http://schemas.openxmlformats.org/drawingml/2006/main">
            <a:off x="1428750" y="47148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EEF4FA"/>
                </a:solidFill>
                <a:latin typeface="Noto Sans"/>
                <a:ea typeface="Noto Sans"/>
                <a:cs typeface="Noto Sans"/>
              </a:defRPr>
            </a:pPr>
            <a:r>
              <a:rPr sz="2100" b="1">
                <a:solidFill>
                  <a:srgbClr val="EEF4FA"/>
                </a:solidFill>
                <a:latin typeface="Noto Sans"/>
                <a:ea typeface="Noto Sans"/>
                <a:cs typeface="Noto Sans"/>
              </a:rPr>
              <a:t>Ergebnis gemeinsam prüfen</a:t>
            </a:r>
          </a:p>
        </p:txBody>
      </p:sp>
      <p:sp>
        <p:nvSpPr>
          <p:cNvPr id="13" name="Mengen, Berechtigungen und Ausnahmefälle nachvollziehen.">
            <a:extLst xmlns:a="http://schemas.openxmlformats.org/drawingml/2006/main">
              <a:ext uri="{FF2B5EF4-FFF2-40B4-BE49-F238E27FC236}">
                <a16:creationId xmlns:a16="http://schemas.microsoft.com/office/drawing/2014/main" id="{751CF57B-6B01-44E8-87B0-4A8163AA08F8}"/>
              </a:ext>
            </a:extLst>
          </p:cNvPr>
          <p:cNvSpPr>
            <a:spLocks xmlns:a="http://schemas.openxmlformats.org/drawingml/2006/main" noGrp="1"/>
          </p:cNvSpPr>
          <p:nvPr/>
        </p:nvSpPr>
        <p:spPr>
          <a:xfrm xmlns:a="http://schemas.openxmlformats.org/drawingml/2006/main">
            <a:off x="5314950" y="4733925"/>
            <a:ext cx="6267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B8C7D8"/>
                </a:solidFill>
                <a:latin typeface="Noto Sans"/>
                <a:ea typeface="Noto Sans"/>
                <a:cs typeface="Noto Sans"/>
              </a:defRPr>
            </a:pPr>
            <a:r>
              <a:rPr sz="1875" b="0">
                <a:solidFill>
                  <a:srgbClr val="B8C7D8"/>
                </a:solidFill>
                <a:latin typeface="Noto Sans"/>
                <a:ea typeface="Noto Sans"/>
                <a:cs typeface="Noto Sans"/>
              </a:rPr>
              <a:t>Mengen, Berechtigungen und Ausnahmefälle nachvollziehen.</a:t>
            </a:r>
          </a:p>
        </p:txBody>
      </p:sp>
      <p:sp>
        <p:nvSpPr>
          <p:cNvPr id="14" name="Nächster Schritt: ein Arbeitstermin mit einer betrieblich verantwortli">
            <a:extLst xmlns:a="http://schemas.openxmlformats.org/drawingml/2006/main">
              <a:ext uri="{FF2B5EF4-FFF2-40B4-BE49-F238E27FC236}">
                <a16:creationId xmlns:a16="http://schemas.microsoft.com/office/drawing/2014/main" id="{DA3BA2F0-33E4-4457-938F-3644FB0C97B1}"/>
              </a:ext>
            </a:extLst>
          </p:cNvPr>
          <p:cNvSpPr>
            <a:spLocks xmlns:a="http://schemas.openxmlformats.org/drawingml/2006/main" noGrp="1"/>
          </p:cNvSpPr>
          <p:nvPr/>
        </p:nvSpPr>
        <p:spPr>
          <a:xfrm xmlns:a="http://schemas.openxmlformats.org/drawingml/2006/main">
            <a:off x="609600" y="59912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BB8F2"/>
                </a:solidFill>
                <a:latin typeface="Noto Sans"/>
                <a:ea typeface="Noto Sans"/>
                <a:cs typeface="Noto Sans"/>
              </a:defRPr>
            </a:pPr>
            <a:r>
              <a:rPr sz="1725" b="0">
                <a:solidFill>
                  <a:srgbClr val="2BB8F2"/>
                </a:solidFill>
                <a:latin typeface="Noto Sans"/>
                <a:ea typeface="Noto Sans"/>
                <a:cs typeface="Noto Sans"/>
              </a:rPr>
              <a:t>Nächster Schritt: ein Arbeitstermin mit einer betrieblich verantwortlichen Person.</a:t>
            </a:r>
          </a:p>
        </p:txBody>
      </p:sp>
    </p:spTree>
    <p:extLst>
      <p:ext uri="{BB962C8B-B14F-4D97-AF65-F5344CB8AC3E}">
        <p14:creationId xmlns:p14="http://schemas.microsoft.com/office/powerpoint/2010/main" val="356112330"/>
      </p:ext>
    </p:extLst>
  </p:cSld>
</p:sld>
</file>

<file path=ppt/slides/slide11.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5" name="Funktionsübersicht: Betrieb">
            <a:extLst xmlns:a="http://schemas.openxmlformats.org/drawingml/2006/main">
              <a:ext uri="{FF2B5EF4-FFF2-40B4-BE49-F238E27FC236}">
                <a16:creationId xmlns:a16="http://schemas.microsoft.com/office/drawing/2014/main" id="{134B856B-A89F-4465-B76B-4AA5DCC14E84}"/>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Funktionsübersicht: Betrieb</a:t>
            </a:r>
          </a:p>
        </p:txBody>
      </p:sp>
      <p:sp>
        <p:nvSpPr>
          <p:cNvPr id="2" name="Anhang / NWTS">
            <a:extLst xmlns:a="http://schemas.openxmlformats.org/drawingml/2006/main">
              <a:ext uri="{FF2B5EF4-FFF2-40B4-BE49-F238E27FC236}">
                <a16:creationId xmlns:a16="http://schemas.microsoft.com/office/drawing/2014/main" id="{6F00CAA2-E6AD-4879-890D-85B8B788D96F}"/>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Anhang / NWTS</a:t>
            </a:r>
          </a:p>
        </p:txBody>
      </p:sp>
      <p:sp>
        <p:nvSpPr>
          <p:cNvPr id="3" name="11">
            <a:extLst xmlns:a="http://schemas.openxmlformats.org/drawingml/2006/main">
              <a:ext uri="{FF2B5EF4-FFF2-40B4-BE49-F238E27FC236}">
                <a16:creationId xmlns:a16="http://schemas.microsoft.com/office/drawing/2014/main" id="{562DE5CE-738A-4BE9-8F7E-F48E17F8883D}"/>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11</a:t>
            </a:r>
          </a:p>
        </p:txBody>
      </p:sp>
      <p:graphicFrame>
        <p:nvGraphicFramePr>
          <p:cNvPr id="8" name=""/>
          <p:cNvGraphicFramePr/>
          <p:nvPr/>
        </p:nvGraphicFramePr>
        <p:xfrm>
          <a:off xmlns:a="http://schemas.openxmlformats.org/drawingml/2006/main" x="609600" y="1752600"/>
          <a:ext xmlns:a="http://schemas.openxmlformats.org/drawingml/2006/main" cx="10972800" cy="4000500"/>
        </p:xfrm>
        <a:graphic xmlns:a="http://schemas.openxmlformats.org/drawingml/2006/main">
          <a:graphicData uri="http://schemas.openxmlformats.org/drawingml/2006/table">
            <a:tbl>
              <a:tblPr/>
              <a:tblGrid>
                <a:gridCol w="2143125"/>
                <a:gridCol w="5572125"/>
                <a:gridCol w="3257550"/>
              </a:tblGrid>
              <a:tr h="571500">
                <a:tc>
                  <a:txBody>
                    <a:bodyPr/>
                    <a:lstStyle/>
                    <a:p>
                      <a:r>
                        <a:rPr sz="1725" b="1">
                          <a:solidFill>
                            <a:srgbClr val="2BB8F2"/>
                          </a:solidFill>
                          <a:latin typeface="Noto Sans"/>
                          <a:ea typeface="Noto Sans"/>
                          <a:cs typeface="Noto Sans"/>
                        </a:rPr>
                        <a:t>Bereich</a:t>
                      </a:r>
                    </a:p>
                  </a:txBody>
                  <a:tcPr marL="152400" marR="133350" marT="114300" marB="95250" anchor="ctr">
                    <a:solidFill>
                      <a:srgbClr val="203A50"/>
                    </a:solidFill>
                  </a:tcPr>
                </a:tc>
                <a:tc>
                  <a:txBody>
                    <a:bodyPr/>
                    <a:lstStyle/>
                    <a:p>
                      <a:r>
                        <a:rPr sz="1725" b="1">
                          <a:solidFill>
                            <a:srgbClr val="2BB8F2"/>
                          </a:solidFill>
                          <a:latin typeface="Noto Sans"/>
                          <a:ea typeface="Noto Sans"/>
                          <a:cs typeface="Noto Sans"/>
                        </a:rPr>
                        <a:t>Aktuelle Funktionen</a:t>
                      </a:r>
                    </a:p>
                  </a:txBody>
                  <a:tcPr marL="152400" marR="133350" marT="114300" marB="95250" anchor="ctr">
                    <a:solidFill>
                      <a:srgbClr val="203A50"/>
                    </a:solidFill>
                  </a:tcPr>
                </a:tc>
                <a:tc>
                  <a:txBody>
                    <a:bodyPr/>
                    <a:lstStyle/>
                    <a:p>
                      <a:r>
                        <a:rPr sz="1725" b="1">
                          <a:solidFill>
                            <a:srgbClr val="2BB8F2"/>
                          </a:solidFill>
                          <a:latin typeface="Noto Sans"/>
                          <a:ea typeface="Noto Sans"/>
                          <a:cs typeface="Noto Sans"/>
                        </a:rPr>
                        <a:t>Ergebnis</a:t>
                      </a:r>
                    </a:p>
                  </a:txBody>
                  <a:tcPr marL="152400" marR="133350" marT="114300" marB="95250" anchor="ctr">
                    <a:solidFill>
                      <a:srgbClr val="203A50"/>
                    </a:solidFill>
                  </a:tcPr>
                </a:tc>
              </a:tr>
              <a:tr h="571500">
                <a:tc>
                  <a:txBody>
                    <a:bodyPr/>
                    <a:lstStyle/>
                    <a:p>
                      <a:r>
                        <a:rPr sz="1725" b="0">
                          <a:solidFill>
                            <a:srgbClr val="EEF4FA"/>
                          </a:solidFill>
                          <a:latin typeface="Noto Sans"/>
                          <a:ea typeface="Noto Sans"/>
                          <a:cs typeface="Noto Sans"/>
                        </a:rPr>
                        <a:t>Sendungen</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Ankunft, Suche, IN/OUT, Abfahrtsprüfung</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Transportdatensatz</a:t>
                      </a:r>
                    </a:p>
                  </a:txBody>
                  <a:tcPr marL="152400" marR="133350" marT="114300" marB="95250" anchor="ctr">
                    <a:solidFill>
                      <a:srgbClr val="12223A"/>
                    </a:solidFill>
                  </a:tcPr>
                </a:tc>
              </a:tr>
              <a:tr h="571500">
                <a:tc>
                  <a:txBody>
                    <a:bodyPr/>
                    <a:lstStyle/>
                    <a:p>
                      <a:r>
                        <a:rPr sz="1725" b="0">
                          <a:solidFill>
                            <a:srgbClr val="EEF4FA"/>
                          </a:solidFill>
                          <a:latin typeface="Noto Sans"/>
                          <a:ea typeface="Noto Sans"/>
                          <a:cs typeface="Noto Sans"/>
                        </a:rPr>
                        <a:t>Containerprofile</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Anzahl, Herkunft, Abfall- und Containertyp</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Strukturierte Ladungsdaten</a:t>
                      </a:r>
                    </a:p>
                  </a:txBody>
                  <a:tcPr marL="152400" marR="133350" marT="114300" marB="95250" anchor="ctr">
                    <a:solidFill>
                      <a:srgbClr val="0A1422"/>
                    </a:solidFill>
                  </a:tcPr>
                </a:tc>
              </a:tr>
              <a:tr h="571500">
                <a:tc>
                  <a:txBody>
                    <a:bodyPr/>
                    <a:lstStyle/>
                    <a:p>
                      <a:r>
                        <a:rPr sz="1725" b="0">
                          <a:solidFill>
                            <a:srgbClr val="EEF4FA"/>
                          </a:solidFill>
                          <a:latin typeface="Noto Sans"/>
                          <a:ea typeface="Noto Sans"/>
                          <a:cs typeface="Noto Sans"/>
                        </a:rPr>
                        <a:t>Zwischenlager</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Eingangsliste, Annahme und Hallendaten</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Erfasster Standort und Menge</a:t>
                      </a:r>
                    </a:p>
                  </a:txBody>
                  <a:tcPr marL="152400" marR="133350" marT="114300" marB="95250" anchor="ctr">
                    <a:solidFill>
                      <a:srgbClr val="12223A"/>
                    </a:solidFill>
                  </a:tcPr>
                </a:tc>
              </a:tr>
              <a:tr h="571500">
                <a:tc>
                  <a:txBody>
                    <a:bodyPr/>
                    <a:lstStyle/>
                    <a:p>
                      <a:r>
                        <a:rPr sz="1725" b="0">
                          <a:solidFill>
                            <a:srgbClr val="EEF4FA"/>
                          </a:solidFill>
                          <a:latin typeface="Noto Sans"/>
                          <a:ea typeface="Noto Sans"/>
                          <a:cs typeface="Noto Sans"/>
                        </a:rPr>
                        <a:t>Transfers</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Anfrage, Antwort, Quellen und Bestätigung</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Dokumentierte Übergabe</a:t>
                      </a:r>
                    </a:p>
                  </a:txBody>
                  <a:tcPr marL="152400" marR="133350" marT="114300" marB="95250" anchor="ctr">
                    <a:solidFill>
                      <a:srgbClr val="0A1422"/>
                    </a:solidFill>
                  </a:tcPr>
                </a:tc>
              </a:tr>
              <a:tr h="571500">
                <a:tc>
                  <a:txBody>
                    <a:bodyPr/>
                    <a:lstStyle/>
                    <a:p>
                      <a:r>
                        <a:rPr sz="1725" b="0">
                          <a:solidFill>
                            <a:srgbClr val="EEF4FA"/>
                          </a:solidFill>
                          <a:latin typeface="Noto Sans"/>
                          <a:ea typeface="Noto Sans"/>
                          <a:cs typeface="Noto Sans"/>
                        </a:rPr>
                        <a:t>Endlager</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Raumdaten, Annahmen und Kapazitätsansicht</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Erfasster Endlagerbestand</a:t>
                      </a:r>
                    </a:p>
                  </a:txBody>
                  <a:tcPr marL="152400" marR="133350" marT="114300" marB="95250" anchor="ctr">
                    <a:solidFill>
                      <a:srgbClr val="12223A"/>
                    </a:solidFill>
                  </a:tcPr>
                </a:tc>
              </a:tr>
              <a:tr h="571500">
                <a:tc>
                  <a:txBody>
                    <a:bodyPr/>
                    <a:lstStyle/>
                    <a:p>
                      <a:r>
                        <a:rPr sz="1725" b="0">
                          <a:solidFill>
                            <a:srgbClr val="EEF4FA"/>
                          </a:solidFill>
                          <a:latin typeface="Noto Sans"/>
                          <a:ea typeface="Noto Sans"/>
                          <a:cs typeface="Noto Sans"/>
                        </a:rPr>
                        <a:t>Verlauf</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Sendungsereignisse, Annahmen und Korrekturen</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Übersicht erfasster Vorgänge</a:t>
                      </a:r>
                    </a:p>
                  </a:txBody>
                  <a:tcPr marL="152400" marR="133350" marT="114300" marB="95250" anchor="ctr">
                    <a:solidFill>
                      <a:srgbClr val="0A1422"/>
                    </a:solidFill>
                  </a:tcPr>
                </a:tc>
              </a:tr>
            </a:tbl>
          </a:graphicData>
        </a:graphic>
      </p:graphicFrame>
    </p:spTree>
    <p:extLst>
      <p:ext uri="{BB962C8B-B14F-4D97-AF65-F5344CB8AC3E}">
        <p14:creationId xmlns:p14="http://schemas.microsoft.com/office/powerpoint/2010/main" val="1644327747"/>
      </p:ext>
    </p:extLst>
  </p:cSld>
</p:sld>
</file>

<file path=ppt/slides/slide12.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5" name="Funktionsübersicht: Aufsicht">
            <a:extLst xmlns:a="http://schemas.openxmlformats.org/drawingml/2006/main">
              <a:ext uri="{FF2B5EF4-FFF2-40B4-BE49-F238E27FC236}">
                <a16:creationId xmlns:a16="http://schemas.microsoft.com/office/drawing/2014/main" id="{F4687946-49E0-40C2-B2C5-D7C53FA88FDA}"/>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Funktionsübersicht: Aufsicht</a:t>
            </a:r>
          </a:p>
        </p:txBody>
      </p:sp>
      <p:sp>
        <p:nvSpPr>
          <p:cNvPr id="2" name="Anhang / NWTS">
            <a:extLst xmlns:a="http://schemas.openxmlformats.org/drawingml/2006/main">
              <a:ext uri="{FF2B5EF4-FFF2-40B4-BE49-F238E27FC236}">
                <a16:creationId xmlns:a16="http://schemas.microsoft.com/office/drawing/2014/main" id="{F5F79BB4-239E-4BE9-89EB-793E40758DB9}"/>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Anhang / NWTS</a:t>
            </a:r>
          </a:p>
        </p:txBody>
      </p:sp>
      <p:sp>
        <p:nvSpPr>
          <p:cNvPr id="3" name="12">
            <a:extLst xmlns:a="http://schemas.openxmlformats.org/drawingml/2006/main">
              <a:ext uri="{FF2B5EF4-FFF2-40B4-BE49-F238E27FC236}">
                <a16:creationId xmlns:a16="http://schemas.microsoft.com/office/drawing/2014/main" id="{742F79B3-D3D5-40E1-881F-3D609362E12B}"/>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12</a:t>
            </a:r>
          </a:p>
        </p:txBody>
      </p:sp>
      <p:graphicFrame>
        <p:nvGraphicFramePr>
          <p:cNvPr id="8" name=""/>
          <p:cNvGraphicFramePr/>
          <p:nvPr/>
        </p:nvGraphicFramePr>
        <p:xfrm>
          <a:off xmlns:a="http://schemas.openxmlformats.org/drawingml/2006/main" x="609600" y="1752600"/>
          <a:ext xmlns:a="http://schemas.openxmlformats.org/drawingml/2006/main" cx="10972800" cy="4000500"/>
        </p:xfrm>
        <a:graphic xmlns:a="http://schemas.openxmlformats.org/drawingml/2006/main">
          <a:graphicData uri="http://schemas.openxmlformats.org/drawingml/2006/table">
            <a:tbl>
              <a:tblPr/>
              <a:tblGrid>
                <a:gridCol w="2428875"/>
                <a:gridCol w="5143500"/>
                <a:gridCol w="3400425"/>
              </a:tblGrid>
              <a:tr h="571500">
                <a:tc>
                  <a:txBody>
                    <a:bodyPr/>
                    <a:lstStyle/>
                    <a:p>
                      <a:r>
                        <a:rPr sz="1725" b="1">
                          <a:solidFill>
                            <a:srgbClr val="2BB8F2"/>
                          </a:solidFill>
                          <a:latin typeface="Noto Sans"/>
                          <a:ea typeface="Noto Sans"/>
                          <a:cs typeface="Noto Sans"/>
                        </a:rPr>
                        <a:t>Bereich</a:t>
                      </a:r>
                    </a:p>
                  </a:txBody>
                  <a:tcPr marL="152400" marR="133350" marT="114300" marB="95250" anchor="ctr">
                    <a:solidFill>
                      <a:srgbClr val="203A50"/>
                    </a:solidFill>
                  </a:tcPr>
                </a:tc>
                <a:tc>
                  <a:txBody>
                    <a:bodyPr/>
                    <a:lstStyle/>
                    <a:p>
                      <a:r>
                        <a:rPr sz="1725" b="1">
                          <a:solidFill>
                            <a:srgbClr val="2BB8F2"/>
                          </a:solidFill>
                          <a:latin typeface="Noto Sans"/>
                          <a:ea typeface="Noto Sans"/>
                          <a:cs typeface="Noto Sans"/>
                        </a:rPr>
                        <a:t>Aktuelle Funktionen</a:t>
                      </a:r>
                    </a:p>
                  </a:txBody>
                  <a:tcPr marL="152400" marR="133350" marT="114300" marB="95250" anchor="ctr">
                    <a:solidFill>
                      <a:srgbClr val="203A50"/>
                    </a:solidFill>
                  </a:tcPr>
                </a:tc>
                <a:tc>
                  <a:txBody>
                    <a:bodyPr/>
                    <a:lstStyle/>
                    <a:p>
                      <a:r>
                        <a:rPr sz="1725" b="1">
                          <a:solidFill>
                            <a:srgbClr val="2BB8F2"/>
                          </a:solidFill>
                          <a:latin typeface="Noto Sans"/>
                          <a:ea typeface="Noto Sans"/>
                          <a:cs typeface="Noto Sans"/>
                        </a:rPr>
                        <a:t>Wichtige Grenze</a:t>
                      </a:r>
                    </a:p>
                  </a:txBody>
                  <a:tcPr marL="152400" marR="133350" marT="114300" marB="95250" anchor="ctr">
                    <a:solidFill>
                      <a:srgbClr val="203A50"/>
                    </a:solidFill>
                  </a:tcPr>
                </a:tc>
              </a:tr>
              <a:tr h="571500">
                <a:tc>
                  <a:txBody>
                    <a:bodyPr/>
                    <a:lstStyle/>
                    <a:p>
                      <a:r>
                        <a:rPr sz="1725" b="0">
                          <a:solidFill>
                            <a:srgbClr val="EEF4FA"/>
                          </a:solidFill>
                          <a:latin typeface="Noto Sans"/>
                          <a:ea typeface="Noto Sans"/>
                          <a:cs typeface="Noto Sans"/>
                        </a:rPr>
                        <a:t>Lagerbedingungen</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Messwerte, Regelversionen und Alarme</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Manuell erfasste Werte</a:t>
                      </a:r>
                    </a:p>
                  </a:txBody>
                  <a:tcPr marL="152400" marR="133350" marT="114300" marB="95250" anchor="ctr">
                    <a:solidFill>
                      <a:srgbClr val="12223A"/>
                    </a:solidFill>
                  </a:tcPr>
                </a:tc>
              </a:tr>
              <a:tr h="571500">
                <a:tc>
                  <a:txBody>
                    <a:bodyPr/>
                    <a:lstStyle/>
                    <a:p>
                      <a:r>
                        <a:rPr sz="1725" b="0">
                          <a:solidFill>
                            <a:srgbClr val="EEF4FA"/>
                          </a:solidFill>
                          <a:latin typeface="Noto Sans"/>
                          <a:ea typeface="Noto Sans"/>
                          <a:cs typeface="Noto Sans"/>
                        </a:rPr>
                        <a:t>Alarmbearbeitung</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Quittieren, notieren, eskalieren, abschließen</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Auswertung bei Anwendungsnutzung</a:t>
                      </a:r>
                    </a:p>
                  </a:txBody>
                  <a:tcPr marL="152400" marR="133350" marT="114300" marB="95250" anchor="ctr">
                    <a:solidFill>
                      <a:srgbClr val="0A1422"/>
                    </a:solidFill>
                  </a:tcPr>
                </a:tc>
              </a:tr>
              <a:tr h="571500">
                <a:tc>
                  <a:txBody>
                    <a:bodyPr/>
                    <a:lstStyle/>
                    <a:p>
                      <a:r>
                        <a:rPr sz="1725" b="0">
                          <a:solidFill>
                            <a:srgbClr val="EEF4FA"/>
                          </a:solidFill>
                          <a:latin typeface="Noto Sans"/>
                          <a:ea typeface="Noto Sans"/>
                          <a:cs typeface="Noto Sans"/>
                        </a:rPr>
                        <a:t>Bestandsabgleich</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Zählungen, Altverknüpfungen, Korrekturberichte</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Korrekturen durch Administrator</a:t>
                      </a:r>
                    </a:p>
                  </a:txBody>
                  <a:tcPr marL="152400" marR="133350" marT="114300" marB="95250" anchor="ctr">
                    <a:solidFill>
                      <a:srgbClr val="12223A"/>
                    </a:solidFill>
                  </a:tcPr>
                </a:tc>
              </a:tr>
              <a:tr h="571500">
                <a:tc>
                  <a:txBody>
                    <a:bodyPr/>
                    <a:lstStyle/>
                    <a:p>
                      <a:r>
                        <a:rPr sz="1725" b="0">
                          <a:solidFill>
                            <a:srgbClr val="EEF4FA"/>
                          </a:solidFill>
                          <a:latin typeface="Noto Sans"/>
                          <a:ea typeface="Noto Sans"/>
                          <a:cs typeface="Noto Sans"/>
                        </a:rPr>
                        <a:t>Übersicht und Statistik</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Offene Aufgaben, Kapazität, Bewegungen</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Grundlage sind erfasste Daten</a:t>
                      </a:r>
                    </a:p>
                  </a:txBody>
                  <a:tcPr marL="152400" marR="133350" marT="114300" marB="95250" anchor="ctr">
                    <a:solidFill>
                      <a:srgbClr val="0A1422"/>
                    </a:solidFill>
                  </a:tcPr>
                </a:tc>
              </a:tr>
              <a:tr h="571500">
                <a:tc>
                  <a:txBody>
                    <a:bodyPr/>
                    <a:lstStyle/>
                    <a:p>
                      <a:r>
                        <a:rPr sz="1725" b="0">
                          <a:solidFill>
                            <a:srgbClr val="EEF4FA"/>
                          </a:solidFill>
                          <a:latin typeface="Noto Sans"/>
                          <a:ea typeface="Noto Sans"/>
                          <a:cs typeface="Noto Sans"/>
                        </a:rPr>
                        <a:t>Administration</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Konten, Rollen, Bereiche und Stammdaten</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Innerhalb einer Organisation</a:t>
                      </a:r>
                    </a:p>
                  </a:txBody>
                  <a:tcPr marL="152400" marR="133350" marT="114300" marB="95250" anchor="ctr">
                    <a:solidFill>
                      <a:srgbClr val="12223A"/>
                    </a:solidFill>
                  </a:tcPr>
                </a:tc>
              </a:tr>
              <a:tr h="571500">
                <a:tc>
                  <a:txBody>
                    <a:bodyPr/>
                    <a:lstStyle/>
                    <a:p>
                      <a:r>
                        <a:rPr sz="1725" b="0">
                          <a:solidFill>
                            <a:srgbClr val="EEF4FA"/>
                          </a:solidFill>
                          <a:latin typeface="Noto Sans"/>
                          <a:ea typeface="Noto Sans"/>
                          <a:cs typeface="Noto Sans"/>
                        </a:rPr>
                        <a:t>Oberfläche</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Englisch/Deutsch, hell/dunkel, responsive</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Datensatznamen bleiben unverändert</a:t>
                      </a:r>
                    </a:p>
                  </a:txBody>
                  <a:tcPr marL="152400" marR="133350" marT="114300" marB="95250" anchor="ctr">
                    <a:solidFill>
                      <a:srgbClr val="0A1422"/>
                    </a:solidFill>
                  </a:tcPr>
                </a:tc>
              </a:tr>
            </a:tbl>
          </a:graphicData>
        </a:graphic>
      </p:graphicFrame>
    </p:spTree>
    <p:extLst>
      <p:ext uri="{BB962C8B-B14F-4D97-AF65-F5344CB8AC3E}">
        <p14:creationId xmlns:p14="http://schemas.microsoft.com/office/powerpoint/2010/main" val="2115662609"/>
      </p:ext>
    </p:extLst>
  </p:cSld>
</p:sld>
</file>

<file path=ppt/slides/slide13.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6" name="Berechtigungen im Überblick">
            <a:extLst xmlns:a="http://schemas.openxmlformats.org/drawingml/2006/main">
              <a:ext uri="{FF2B5EF4-FFF2-40B4-BE49-F238E27FC236}">
                <a16:creationId xmlns:a16="http://schemas.microsoft.com/office/drawing/2014/main" id="{863A4D4A-39A9-439E-BC79-A02133F6A656}"/>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Berechtigungen im Überblick</a:t>
            </a:r>
          </a:p>
        </p:txBody>
      </p:sp>
      <p:sp>
        <p:nvSpPr>
          <p:cNvPr id="2" name="Anhang / NWTS">
            <a:extLst xmlns:a="http://schemas.openxmlformats.org/drawingml/2006/main">
              <a:ext uri="{FF2B5EF4-FFF2-40B4-BE49-F238E27FC236}">
                <a16:creationId xmlns:a16="http://schemas.microsoft.com/office/drawing/2014/main" id="{DC497352-A1CE-4F37-BF00-96B530C352A7}"/>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Anhang / NWTS</a:t>
            </a:r>
          </a:p>
        </p:txBody>
      </p:sp>
      <p:sp>
        <p:nvSpPr>
          <p:cNvPr id="3" name="13">
            <a:extLst xmlns:a="http://schemas.openxmlformats.org/drawingml/2006/main">
              <a:ext uri="{FF2B5EF4-FFF2-40B4-BE49-F238E27FC236}">
                <a16:creationId xmlns:a16="http://schemas.microsoft.com/office/drawing/2014/main" id="{AAE77372-04DA-43D4-8978-01D63EF34C02}"/>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13</a:t>
            </a:r>
          </a:p>
        </p:txBody>
      </p:sp>
      <p:graphicFrame>
        <p:nvGraphicFramePr>
          <p:cNvPr id="9" name=""/>
          <p:cNvGraphicFramePr/>
          <p:nvPr/>
        </p:nvGraphicFramePr>
        <p:xfrm>
          <a:off xmlns:a="http://schemas.openxmlformats.org/drawingml/2006/main" x="609600" y="1752600"/>
          <a:ext xmlns:a="http://schemas.openxmlformats.org/drawingml/2006/main" cx="10972800" cy="4000500"/>
        </p:xfrm>
        <a:graphic xmlns:a="http://schemas.openxmlformats.org/drawingml/2006/main">
          <a:graphicData uri="http://schemas.openxmlformats.org/drawingml/2006/table">
            <a:tbl>
              <a:tblPr/>
              <a:tblGrid>
                <a:gridCol w="4191000"/>
                <a:gridCol w="2238375"/>
                <a:gridCol w="2047875"/>
                <a:gridCol w="2495550"/>
              </a:tblGrid>
              <a:tr h="571500">
                <a:tc>
                  <a:txBody>
                    <a:bodyPr/>
                    <a:lstStyle/>
                    <a:p>
                      <a:r>
                        <a:rPr sz="1650" b="1">
                          <a:solidFill>
                            <a:srgbClr val="2BB8F2"/>
                          </a:solidFill>
                          <a:latin typeface="Noto Sans"/>
                          <a:ea typeface="Noto Sans"/>
                          <a:cs typeface="Noto Sans"/>
                        </a:rPr>
                        <a:t>Aktion</a:t>
                      </a:r>
                    </a:p>
                  </a:txBody>
                  <a:tcPr marL="152400" marR="133350" marT="114300" marB="95250" anchor="ctr">
                    <a:solidFill>
                      <a:srgbClr val="203A50"/>
                    </a:solidFill>
                  </a:tcPr>
                </a:tc>
                <a:tc>
                  <a:txBody>
                    <a:bodyPr/>
                    <a:lstStyle/>
                    <a:p>
                      <a:r>
                        <a:rPr sz="1650" b="1">
                          <a:solidFill>
                            <a:srgbClr val="2BB8F2"/>
                          </a:solidFill>
                          <a:latin typeface="Noto Sans"/>
                          <a:ea typeface="Noto Sans"/>
                          <a:cs typeface="Noto Sans"/>
                        </a:rPr>
                        <a:t>Mitarbeiter</a:t>
                      </a:r>
                    </a:p>
                  </a:txBody>
                  <a:tcPr marL="152400" marR="133350" marT="114300" marB="95250" anchor="ctr">
                    <a:solidFill>
                      <a:srgbClr val="203A50"/>
                    </a:solidFill>
                  </a:tcPr>
                </a:tc>
                <a:tc>
                  <a:txBody>
                    <a:bodyPr/>
                    <a:lstStyle/>
                    <a:p>
                      <a:r>
                        <a:rPr sz="1650" b="1">
                          <a:solidFill>
                            <a:srgbClr val="2BB8F2"/>
                          </a:solidFill>
                          <a:latin typeface="Noto Sans"/>
                          <a:ea typeface="Noto Sans"/>
                          <a:cs typeface="Noto Sans"/>
                        </a:rPr>
                        <a:t>Aufsicht</a:t>
                      </a:r>
                    </a:p>
                  </a:txBody>
                  <a:tcPr marL="152400" marR="133350" marT="114300" marB="95250" anchor="ctr">
                    <a:solidFill>
                      <a:srgbClr val="203A50"/>
                    </a:solidFill>
                  </a:tcPr>
                </a:tc>
                <a:tc>
                  <a:txBody>
                    <a:bodyPr/>
                    <a:lstStyle/>
                    <a:p>
                      <a:r>
                        <a:rPr sz="1650" b="1">
                          <a:solidFill>
                            <a:srgbClr val="2BB8F2"/>
                          </a:solidFill>
                          <a:latin typeface="Noto Sans"/>
                          <a:ea typeface="Noto Sans"/>
                          <a:cs typeface="Noto Sans"/>
                        </a:rPr>
                        <a:t>Administrator</a:t>
                      </a:r>
                    </a:p>
                  </a:txBody>
                  <a:tcPr marL="152400" marR="133350" marT="114300" marB="95250" anchor="ctr">
                    <a:solidFill>
                      <a:srgbClr val="203A50"/>
                    </a:solidFill>
                  </a:tcPr>
                </a:tc>
              </a:tr>
              <a:tr h="571500">
                <a:tc>
                  <a:txBody>
                    <a:bodyPr/>
                    <a:lstStyle/>
                    <a:p>
                      <a:r>
                        <a:rPr sz="1650" b="0">
                          <a:solidFill>
                            <a:srgbClr val="EEF4FA"/>
                          </a:solidFill>
                          <a:latin typeface="Noto Sans"/>
                          <a:ea typeface="Noto Sans"/>
                          <a:cs typeface="Noto Sans"/>
                        </a:rPr>
                        <a:t>Operative Aufgaben</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Eigener Bereich</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Alle Bereiche</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Alle Bereiche</a:t>
                      </a:r>
                    </a:p>
                  </a:txBody>
                  <a:tcPr marL="152400" marR="133350" marT="114300" marB="95250" anchor="ctr">
                    <a:solidFill>
                      <a:srgbClr val="12223A"/>
                    </a:solidFill>
                  </a:tcPr>
                </a:tc>
              </a:tr>
              <a:tr h="571500">
                <a:tc>
                  <a:txBody>
                    <a:bodyPr/>
                    <a:lstStyle/>
                    <a:p>
                      <a:r>
                        <a:rPr sz="1650" b="0">
                          <a:solidFill>
                            <a:srgbClr val="EEF4FA"/>
                          </a:solidFill>
                          <a:latin typeface="Noto Sans"/>
                          <a:ea typeface="Noto Sans"/>
                          <a:cs typeface="Noto Sans"/>
                        </a:rPr>
                        <a:t>Containerprofile anlegen</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Nein</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Während IN</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Ja*</a:t>
                      </a:r>
                    </a:p>
                  </a:txBody>
                  <a:tcPr marL="152400" marR="133350" marT="114300" marB="95250" anchor="ctr">
                    <a:solidFill>
                      <a:srgbClr val="0A1422"/>
                    </a:solidFill>
                  </a:tcPr>
                </a:tc>
              </a:tr>
              <a:tr h="571500">
                <a:tc>
                  <a:txBody>
                    <a:bodyPr/>
                    <a:lstStyle/>
                    <a:p>
                      <a:r>
                        <a:rPr sz="1650" b="0">
                          <a:solidFill>
                            <a:srgbClr val="EEF4FA"/>
                          </a:solidFill>
                          <a:latin typeface="Noto Sans"/>
                          <a:ea typeface="Noto Sans"/>
                          <a:cs typeface="Noto Sans"/>
                        </a:rPr>
                        <a:t>OUT-Sendung korrigieren</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Nein</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Nein</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Ja*</a:t>
                      </a:r>
                    </a:p>
                  </a:txBody>
                  <a:tcPr marL="152400" marR="133350" marT="114300" marB="95250" anchor="ctr">
                    <a:solidFill>
                      <a:srgbClr val="12223A"/>
                    </a:solidFill>
                  </a:tcPr>
                </a:tc>
              </a:tr>
              <a:tr h="571500">
                <a:tc>
                  <a:txBody>
                    <a:bodyPr/>
                    <a:lstStyle/>
                    <a:p>
                      <a:r>
                        <a:rPr sz="1650" b="0">
                          <a:solidFill>
                            <a:srgbClr val="EEF4FA"/>
                          </a:solidFill>
                          <a:latin typeface="Noto Sans"/>
                          <a:ea typeface="Noto Sans"/>
                          <a:cs typeface="Noto Sans"/>
                        </a:rPr>
                        <a:t>Mitarbeiterkonten anlegen</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Nein</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Ja</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Ja</a:t>
                      </a:r>
                    </a:p>
                  </a:txBody>
                  <a:tcPr marL="152400" marR="133350" marT="114300" marB="95250" anchor="ctr">
                    <a:solidFill>
                      <a:srgbClr val="0A1422"/>
                    </a:solidFill>
                  </a:tcPr>
                </a:tc>
              </a:tr>
              <a:tr h="571500">
                <a:tc>
                  <a:txBody>
                    <a:bodyPr/>
                    <a:lstStyle/>
                    <a:p>
                      <a:r>
                        <a:rPr sz="1650" b="0">
                          <a:solidFill>
                            <a:srgbClr val="EEF4FA"/>
                          </a:solidFill>
                          <a:latin typeface="Noto Sans"/>
                          <a:ea typeface="Noto Sans"/>
                          <a:cs typeface="Noto Sans"/>
                        </a:rPr>
                        <a:t>Konten / Stammdaten ändern</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Nein</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Nein</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Ja</a:t>
                      </a:r>
                    </a:p>
                  </a:txBody>
                  <a:tcPr marL="152400" marR="133350" marT="114300" marB="95250" anchor="ctr">
                    <a:solidFill>
                      <a:srgbClr val="12223A"/>
                    </a:solidFill>
                  </a:tcPr>
                </a:tc>
              </a:tr>
              <a:tr h="571500">
                <a:tc>
                  <a:txBody>
                    <a:bodyPr/>
                    <a:lstStyle/>
                    <a:p>
                      <a:r>
                        <a:rPr sz="1650" b="0">
                          <a:solidFill>
                            <a:srgbClr val="EEF4FA"/>
                          </a:solidFill>
                          <a:latin typeface="Noto Sans"/>
                          <a:ea typeface="Noto Sans"/>
                          <a:cs typeface="Noto Sans"/>
                        </a:rPr>
                        <a:t>Bestand prüfen / korrigieren</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Nein</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Prüfen</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Prüfen + korrigieren</a:t>
                      </a:r>
                    </a:p>
                  </a:txBody>
                  <a:tcPr marL="152400" marR="133350" marT="114300" marB="95250" anchor="ctr">
                    <a:solidFill>
                      <a:srgbClr val="0A1422"/>
                    </a:solidFill>
                  </a:tcPr>
                </a:tc>
              </a:tr>
            </a:tbl>
          </a:graphicData>
        </a:graphic>
      </p:graphicFrame>
      <p:sp>
        <p:nvSpPr>
          <p:cNvPr id="5" name="* Abhängig vom Datensatzstatus und weiteren Prüfungen. Zusammenfassung">
            <a:extLst xmlns:a="http://schemas.openxmlformats.org/drawingml/2006/main">
              <a:ext uri="{FF2B5EF4-FFF2-40B4-BE49-F238E27FC236}">
                <a16:creationId xmlns:a16="http://schemas.microsoft.com/office/drawing/2014/main" id="{7085359E-D007-44B4-8801-22012BC8BE28}"/>
              </a:ext>
            </a:extLst>
          </p:cNvPr>
          <p:cNvSpPr>
            <a:spLocks xmlns:a="http://schemas.openxmlformats.org/drawingml/2006/main" noGrp="1"/>
          </p:cNvSpPr>
          <p:nvPr/>
        </p:nvSpPr>
        <p:spPr>
          <a:xfrm xmlns:a="http://schemas.openxmlformats.org/drawingml/2006/main">
            <a:off x="609600" y="59531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B8C7D8"/>
                </a:solidFill>
                <a:latin typeface="Noto Sans"/>
                <a:ea typeface="Noto Sans"/>
                <a:cs typeface="Noto Sans"/>
              </a:defRPr>
            </a:pPr>
            <a:r>
              <a:rPr sz="1500" b="0">
                <a:solidFill>
                  <a:srgbClr val="B8C7D8"/>
                </a:solidFill>
                <a:latin typeface="Noto Sans"/>
                <a:ea typeface="Noto Sans"/>
                <a:cs typeface="Noto Sans"/>
              </a:rPr>
              <a:t>* Abhängig vom Datensatzstatus und weiteren Prüfungen. Zusammenfassung der aktuellen Anwendungsregeln.</a:t>
            </a:r>
          </a:p>
        </p:txBody>
      </p:sp>
    </p:spTree>
    <p:extLst>
      <p:ext uri="{BB962C8B-B14F-4D97-AF65-F5344CB8AC3E}">
        <p14:creationId xmlns:p14="http://schemas.microsoft.com/office/powerpoint/2010/main" val="1331254949"/>
      </p:ext>
    </p:extLst>
  </p:cSld>
</p:sld>
</file>

<file path=ppt/slides/slide14.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6" name="Demonstration: eine Sendung">
            <a:extLst xmlns:a="http://schemas.openxmlformats.org/drawingml/2006/main">
              <a:ext uri="{FF2B5EF4-FFF2-40B4-BE49-F238E27FC236}">
                <a16:creationId xmlns:a16="http://schemas.microsoft.com/office/drawing/2014/main" id="{308B9FA2-775C-4879-8F52-88E8D632058E}"/>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Demonstration: eine Sendung</a:t>
            </a:r>
          </a:p>
        </p:txBody>
      </p:sp>
      <p:sp>
        <p:nvSpPr>
          <p:cNvPr id="2" name="Anhang / NWTS">
            <a:extLst xmlns:a="http://schemas.openxmlformats.org/drawingml/2006/main">
              <a:ext uri="{FF2B5EF4-FFF2-40B4-BE49-F238E27FC236}">
                <a16:creationId xmlns:a16="http://schemas.microsoft.com/office/drawing/2014/main" id="{71B09A8A-AD60-42E1-B581-CC043F0C5743}"/>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Anhang / NWTS</a:t>
            </a:r>
          </a:p>
        </p:txBody>
      </p:sp>
      <p:sp>
        <p:nvSpPr>
          <p:cNvPr id="3" name="14">
            <a:extLst xmlns:a="http://schemas.openxmlformats.org/drawingml/2006/main">
              <a:ext uri="{FF2B5EF4-FFF2-40B4-BE49-F238E27FC236}">
                <a16:creationId xmlns:a16="http://schemas.microsoft.com/office/drawing/2014/main" id="{5479AE5F-0869-44B2-BB5E-E8CC316E3C35}"/>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14</a:t>
            </a:r>
          </a:p>
        </p:txBody>
      </p:sp>
      <p:graphicFrame>
        <p:nvGraphicFramePr>
          <p:cNvPr id="9" name=""/>
          <p:cNvGraphicFramePr/>
          <p:nvPr/>
        </p:nvGraphicFramePr>
        <p:xfrm>
          <a:off xmlns:a="http://schemas.openxmlformats.org/drawingml/2006/main" x="609600" y="1752600"/>
          <a:ext xmlns:a="http://schemas.openxmlformats.org/drawingml/2006/main" cx="10972800" cy="3714750"/>
        </p:xfrm>
        <a:graphic xmlns:a="http://schemas.openxmlformats.org/drawingml/2006/main">
          <a:graphicData uri="http://schemas.openxmlformats.org/drawingml/2006/table">
            <a:tbl>
              <a:tblPr/>
              <a:tblGrid>
                <a:gridCol w="2000250"/>
                <a:gridCol w="4762500"/>
                <a:gridCol w="4210050"/>
              </a:tblGrid>
              <a:tr h="619125">
                <a:tc>
                  <a:txBody>
                    <a:bodyPr/>
                    <a:lstStyle/>
                    <a:p>
                      <a:r>
                        <a:rPr sz="1725" b="1">
                          <a:solidFill>
                            <a:srgbClr val="2BB8F2"/>
                          </a:solidFill>
                          <a:latin typeface="Noto Sans"/>
                          <a:ea typeface="Noto Sans"/>
                          <a:cs typeface="Noto Sans"/>
                        </a:rPr>
                        <a:t>Phase</a:t>
                      </a:r>
                    </a:p>
                  </a:txBody>
                  <a:tcPr marL="152400" marR="133350" marT="114300" marB="95250" anchor="ctr">
                    <a:solidFill>
                      <a:srgbClr val="203A50"/>
                    </a:solidFill>
                  </a:tcPr>
                </a:tc>
                <a:tc>
                  <a:txBody>
                    <a:bodyPr/>
                    <a:lstStyle/>
                    <a:p>
                      <a:r>
                        <a:rPr sz="1725" b="1">
                          <a:solidFill>
                            <a:srgbClr val="2BB8F2"/>
                          </a:solidFill>
                          <a:latin typeface="Noto Sans"/>
                          <a:ea typeface="Noto Sans"/>
                          <a:cs typeface="Noto Sans"/>
                        </a:rPr>
                        <a:t>Beispielaktion</a:t>
                      </a:r>
                    </a:p>
                  </a:txBody>
                  <a:tcPr marL="152400" marR="133350" marT="114300" marB="95250" anchor="ctr">
                    <a:solidFill>
                      <a:srgbClr val="203A50"/>
                    </a:solidFill>
                  </a:tcPr>
                </a:tc>
                <a:tc>
                  <a:txBody>
                    <a:bodyPr/>
                    <a:lstStyle/>
                    <a:p>
                      <a:r>
                        <a:rPr sz="1725" b="1">
                          <a:solidFill>
                            <a:srgbClr val="2BB8F2"/>
                          </a:solidFill>
                          <a:latin typeface="Noto Sans"/>
                          <a:ea typeface="Noto Sans"/>
                          <a:cs typeface="Noto Sans"/>
                        </a:rPr>
                        <a:t>Sichtbares Ergebnis</a:t>
                      </a:r>
                    </a:p>
                  </a:txBody>
                  <a:tcPr marL="152400" marR="133350" marT="114300" marB="95250" anchor="ctr">
                    <a:solidFill>
                      <a:srgbClr val="203A50"/>
                    </a:solidFill>
                  </a:tcPr>
                </a:tc>
              </a:tr>
              <a:tr h="619125">
                <a:tc>
                  <a:txBody>
                    <a:bodyPr/>
                    <a:lstStyle/>
                    <a:p>
                      <a:r>
                        <a:rPr sz="1725" b="0">
                          <a:solidFill>
                            <a:srgbClr val="EEF4FA"/>
                          </a:solidFill>
                          <a:latin typeface="Noto Sans"/>
                          <a:ea typeface="Noto Sans"/>
                          <a:cs typeface="Noto Sans"/>
                        </a:rPr>
                        <a:t>Ankunft</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Einen Demo-LKW erfassen</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Sendung wartet auf Ladungsdaten</a:t>
                      </a:r>
                    </a:p>
                  </a:txBody>
                  <a:tcPr marL="152400" marR="133350" marT="114300" marB="95250" anchor="ctr">
                    <a:solidFill>
                      <a:srgbClr val="12223A"/>
                    </a:solidFill>
                  </a:tcPr>
                </a:tc>
              </a:tr>
              <a:tr h="619125">
                <a:tc>
                  <a:txBody>
                    <a:bodyPr/>
                    <a:lstStyle/>
                    <a:p>
                      <a:r>
                        <a:rPr sz="1725" b="0">
                          <a:solidFill>
                            <a:srgbClr val="EEF4FA"/>
                          </a:solidFill>
                          <a:latin typeface="Noto Sans"/>
                          <a:ea typeface="Noto Sans"/>
                          <a:cs typeface="Noto Sans"/>
                        </a:rPr>
                        <a:t>Ladung</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Profile mit 15 und 12 Containern anlegen</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27 Container in zwei Gruppen</a:t>
                      </a:r>
                    </a:p>
                  </a:txBody>
                  <a:tcPr marL="152400" marR="133350" marT="114300" marB="95250" anchor="ctr">
                    <a:solidFill>
                      <a:srgbClr val="0A1422"/>
                    </a:solidFill>
                  </a:tcPr>
                </a:tc>
              </a:tr>
              <a:tr h="619125">
                <a:tc>
                  <a:txBody>
                    <a:bodyPr/>
                    <a:lstStyle/>
                    <a:p>
                      <a:r>
                        <a:rPr sz="1725" b="0">
                          <a:solidFill>
                            <a:srgbClr val="EEF4FA"/>
                          </a:solidFill>
                          <a:latin typeface="Noto Sans"/>
                          <a:ea typeface="Noto Sans"/>
                          <a:cs typeface="Noto Sans"/>
                        </a:rPr>
                        <a:t>Annahme</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Beide Gruppen in passende Hallen aufnehmen</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Bestand mit Annahme verknüpft</a:t>
                      </a:r>
                    </a:p>
                  </a:txBody>
                  <a:tcPr marL="152400" marR="133350" marT="114300" marB="95250" anchor="ctr">
                    <a:solidFill>
                      <a:srgbClr val="12223A"/>
                    </a:solidFill>
                  </a:tcPr>
                </a:tc>
              </a:tr>
              <a:tr h="619125">
                <a:tc>
                  <a:txBody>
                    <a:bodyPr/>
                    <a:lstStyle/>
                    <a:p>
                      <a:r>
                        <a:rPr sz="1725" b="0">
                          <a:solidFill>
                            <a:srgbClr val="EEF4FA"/>
                          </a:solidFill>
                          <a:latin typeface="Noto Sans"/>
                          <a:ea typeface="Noto Sans"/>
                          <a:cs typeface="Noto Sans"/>
                        </a:rPr>
                        <a:t>Transfer</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5 aus der Gruppe mit 15 anfordern</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Anfrage- und Übergabestatus</a:t>
                      </a:r>
                    </a:p>
                  </a:txBody>
                  <a:tcPr marL="152400" marR="133350" marT="114300" marB="95250" anchor="ctr">
                    <a:solidFill>
                      <a:srgbClr val="0A1422"/>
                    </a:solidFill>
                  </a:tcPr>
                </a:tc>
              </a:tr>
              <a:tr h="619125">
                <a:tc>
                  <a:txBody>
                    <a:bodyPr/>
                    <a:lstStyle/>
                    <a:p>
                      <a:r>
                        <a:rPr sz="1725" b="0">
                          <a:solidFill>
                            <a:srgbClr val="EEF4FA"/>
                          </a:solidFill>
                          <a:latin typeface="Noto Sans"/>
                          <a:ea typeface="Noto Sans"/>
                          <a:cs typeface="Noto Sans"/>
                        </a:rPr>
                        <a:t>Bestätigung</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Annahme dieser 5 bestätigen</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22 im Zwischenlager, 5 im Endlager</a:t>
                      </a:r>
                    </a:p>
                  </a:txBody>
                  <a:tcPr marL="152400" marR="133350" marT="114300" marB="95250" anchor="ctr">
                    <a:solidFill>
                      <a:srgbClr val="12223A"/>
                    </a:solidFill>
                  </a:tcPr>
                </a:tc>
              </a:tr>
            </a:tbl>
          </a:graphicData>
        </a:graphic>
      </p:graphicFrame>
      <p:sp>
        <p:nvSpPr>
          <p:cNvPr id="5" name="Beispielszenario mit leerem Anfangsbestand und ohne weitere Bewegungen">
            <a:extLst xmlns:a="http://schemas.openxmlformats.org/drawingml/2006/main">
              <a:ext uri="{FF2B5EF4-FFF2-40B4-BE49-F238E27FC236}">
                <a16:creationId xmlns:a16="http://schemas.microsoft.com/office/drawing/2014/main" id="{121FAF20-0C68-4E48-B6D7-3AAC08ACB74F}"/>
              </a:ext>
            </a:extLst>
          </p:cNvPr>
          <p:cNvSpPr>
            <a:spLocks xmlns:a="http://schemas.openxmlformats.org/drawingml/2006/main" noGrp="1"/>
          </p:cNvSpPr>
          <p:nvPr/>
        </p:nvSpPr>
        <p:spPr>
          <a:xfrm xmlns:a="http://schemas.openxmlformats.org/drawingml/2006/main">
            <a:off x="609600" y="59531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B8C7D8"/>
                </a:solidFill>
                <a:latin typeface="Noto Sans"/>
                <a:ea typeface="Noto Sans"/>
                <a:cs typeface="Noto Sans"/>
              </a:defRPr>
            </a:pPr>
            <a:r>
              <a:rPr sz="1500" b="0">
                <a:solidFill>
                  <a:srgbClr val="B8C7D8"/>
                </a:solidFill>
                <a:latin typeface="Noto Sans"/>
                <a:ea typeface="Noto Sans"/>
                <a:cs typeface="Noto Sans"/>
              </a:rPr>
              <a:t>Beispielszenario mit leerem Anfangsbestand und ohne weitere Bewegungen.</a:t>
            </a:r>
          </a:p>
        </p:txBody>
      </p:sp>
    </p:spTree>
    <p:extLst>
      <p:ext uri="{BB962C8B-B14F-4D97-AF65-F5344CB8AC3E}">
        <p14:creationId xmlns:p14="http://schemas.microsoft.com/office/powerpoint/2010/main" val="19499751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2026-09-24T19:39:43.6740000Z</dcterms:created>
  <dcterms:modified xsi:type="dcterms:W3CDTF">2026-09-24T19:39:43.6740000Z</dcterms:modified>
</coreProperties>
</file>